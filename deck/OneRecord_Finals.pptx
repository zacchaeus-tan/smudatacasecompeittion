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Lst>
  <p:notesMasterIdLst>
    <p:notesMasterId r:id="rId3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The problem (Megan)" id="{a9d7cac0-4b04-35c4-bf99-45f3d50d909c}">
          <p14:sldIdLst>
            <p14:sldId id="256"/>
            <p14:sldId id="257"/>
            <p14:sldId id="258"/>
            <p14:sldId id="259"/>
            <p14:sldId id="260"/>
            <p14:sldId id="261"/>
          </p14:sldIdLst>
        </p14:section>
        <p14:section name="2 · OneRecord (Zacchaeus)" id="{1152b368-bbef-ce2c-81b2-e9d8dbb63524}">
          <p14:sldIdLst>
            <p14:sldId id="262"/>
            <p14:sldId id="263"/>
            <p14:sldId id="264"/>
            <p14:sldId id="265"/>
            <p14:sldId id="266"/>
            <p14:sldId id="267"/>
            <p14:sldId id="268"/>
          </p14:sldIdLst>
        </p14:section>
        <p14:section name="3 · Regional view (Darryl)" id="{c6890836-c933-5ddf-d1a1-6dba9cac0ad4}">
          <p14:sldIdLst>
            <p14:sldId id="269"/>
            <p14:sldId id="270"/>
            <p14:sldId id="271"/>
            <p14:sldId id="272"/>
            <p14:sldId id="273"/>
          </p14:sldIdLst>
        </p14:section>
        <p14:section name="4 · Making it real (Chloe)" id="{e01b3e21-2108-7e2e-39fe-b08e11ac0234}">
          <p14:sldIdLst>
            <p14:sldId id="274"/>
            <p14:sldId id="275"/>
            <p14:sldId id="276"/>
            <p14:sldId id="277"/>
            <p14:sldId id="278"/>
          </p14:sldIdLst>
        </p14:section>
        <p14:section name="Appendix (Q&amp;A backup)" id="{2b78ba29-5c6e-2208-5f2d-c9eb4a13ff75}">
          <p14:sldIdLst>
            <p14:sldId id="279"/>
            <p14:sldId id="280"/>
            <p14:sldId id="281"/>
            <p14:sldId id="282"/>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(0:15). Good afternoon. We're OneRecord. Our promise in one line: clean records in, better decisions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Hand-off line is not needed here, Megan continues straight into Amy's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(1:00). This is Amy from the brief. [click] Day 0 she copies an old email and leaves the QA field blank because she isn't sure. Day 2 MDM notices. Day 7 she replies from a trip. Then three approvers, one after another. Day 18 her sales order fails. [click] The brief asks us to fix exactly this, and to find growth. [click] And it's not a one-off: across 150 past requests the median is 18.8 days, 41% bounce back, and 62% of the time is just waiting for an approver to notice an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(1:15). [click] The brief lists five groups of pain points. Quick show of hands: how many emails hit your SMU Outlook today? 20, 30? Wei Jie's inbox is the same. His four-day delay isn't him being slow, it's email. [click] Our reading: these share one root cause. Bad data gets in at the setup request, the moment someone emails MDM. Duplicates then split one hospital into three customers, and the regional sales view is wrong. So we fix the front door first, then use the clean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(0:45). We looked at three options. [click] A better email template costs nothing but nothing enforces it. A custom portal fixes it but needs developers Lives Group doesn't have and takes months. [click] Our pick: build on Microsoft 365, which Lives Group already pays for. About S$58k in year one, around 10 weeks, and IT only needs about two days. [click] And the MDM team can change it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MEGAN (0:45). The brief asks what we would deliberately not build. [click] Six things. The two that matter most: no direct write into SAP yet, because an import file removes the retyping at almost no risk. And no automatic merging, because a merge touches open orders and invoices, so a person confirms. HAND-OFF: 'Zacchaeus will now show you OneRecord.'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Let's replay Amy's request through OneRecord.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(0:45). [click] OneRecord is one front door for all four kinds of setup request. [click] Six things happen behind it: a smart form, a duplicate check while you type, parallel approvals in Teams, reminders, an audit log with locked bank details, and an SAP import file so Priya stops retyping. [click] And the rules behind all of it are lists the MDM team edits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(1:30, LIVE). Switch to the browser (open it 5 minutes before, press Reset demo data, user = Amy). Go to New request. 1) Pick Item: only item fields appear. 2) Regulated? Not sure: QA/RA gets added. 3) Type 'Dengue NS1 rapid test 25T': the duplicate warning fires. Say: 'This is our web copy. The same form runs in Teams, as you'll see in the video.' If the live demo fails, click through this slide: each click shows the next screenshot, or jump to the next hidden slide and play the backup video.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Only use if the live demo fails: right-click in slideshow &gt; See all slides, or type the slide number and press Enter.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(0:45). [click] Amy submits. [click] Every approver gets their card at the same time, in Teams. [click] Priya approves last, and the flow writes the SAP import file. [click] And if someone doesn't answer: a reminder at 9 AM in their own time zone, then escalation after four days. Amy can see who it's waiting on. [click] And for audit: every approval, from submission to SAP, is logged with who and when. Bank details sit in a locked list, so they never appear on the approval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(1:00). Play the clip and talk over it. Click to reveal each point as it happens in the video: 1) the approval card in Teams, 2) demo clock skips 4 days and the escalation fires, 3) My requests shows who it's waiting on, 4) Priya downloads the SAP file and marks it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ZACCHAEUS (0:30). Marcus's team was just added to Lives Group. [click] In OneRecord his business unit is one row. [click] Fields and approvers are rows too, so a new regulatory step doesn't need IT. [click] And if nobody is set up yet, it goes to MDM rather than stalling. HAND-OFF: 'Now that the data coming in is clean, Darryl will show what it unlocks.'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DARRYL. One hospital is now one customer across SPD, QTS and QTG, so the regional view can be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DARRYL (1:00). This is Daniel's overview, the regional view the brief asks for. [click] Growth is year-on-year units ordered, April to September 2026 against 2025, customer orders only. Malaysia and Indonesia are growing fast; Singapore equipment is down 16%. [click] Each quarter it gives the top three actions with evidence. [click] And our forecast against today's 6-month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DARRYL (1:00). [click] For sales: 27 established customers are ordering much less, about S$431k a quarter at risk, ranked so account managers call the biggest first. Plus 98 cross-sell leads, like Vietnam customers who buy A but not B. [click] The brief asks us to separate real orders from enquiries and setup requests. Our email sorter does that, so only the 3,285 real orders count as growth.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DARRYL (1:15). Three pieces of data science, in plain words. [click] The duplicate check compares names the way a person would, so NUH and National University Hospital match. It found all 41 planted duplicates with no false matches. [click] The forecast knows the business calendar: dengue season, the December budget push, Lunar New Year. That cuts error from 13.7% to 11.1%. [click] The email sorter labels each email, so only real orders count. No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DARRYL (0:45). [click] To sum up the evidence: 4 to 6 days to SAP instead of 18.8. All 41 duplicates caught while typing. Forecast error down to 11.1%. S$431k a quarter at risk on one call list, and 98 cross-sell leads. [click] And only 3% of genuinely new customers get a false warning. HAND-OFF: 'Chloe will show how Lives Group can actually roll this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CHLOE. This isn't a mock-up: it already runs on Microsoft 365.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CHLOE (1:30). Is this feasible? [click] To build it: standard Microsoft 365 connectors only, so no premium licence. About ten weeks of one contractor. IT for about two days, once. After that, the MDM team edits the rules themselves. [click] Will people actually use it? Remember the 20-30 emails a day? Approvals come out of the inbox and into a Teams card. Emails sent to MDM out of habit get an auto-reply with the form link. Requestors see status without asking. And after go-live, MDM only actions requests from the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CHLOE (1:00). [click] Year one costs about S$58k. The benefit is about S$205k a year, so it pays back in about 3.4 months, and setup requests reach SAP in 4 to 6 days instead of 18.8. [click] To be upfront: staff time alone doesn't pay for the build. Most of the value comes from sales acting on clean data: keeping customers who are dropping off and cross-selling. Every assumption can be changed on our Business case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CHLOE (1:00). [click] Three phases. First, fix the front door in ten weeks. Second, use the clean data: the regional view in Power BI inside Teams. Third, a direct SAP link, but only if the first two hit their targets. [click] So our ask is small: a four-week pilot with SPD, owned by Priya's team. If setup requests reach SAP in five days or less and 90% go through the form, roll it out to QTS and QTG.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CHLOE. Close: Clean records in, better decisions out. Thank you, we'd love your questions, and we're happy to show any page live. (Keep the app open in a browser tab for Q&amp;A.)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matching.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forecasting.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the business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the whole process on one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Q&amp;A on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19088"/>
            <a:ext cx="3657600" cy="274320"/>
          </a:xfrm>
          <a:prstGeom prst="rect">
            <a:avLst/>
          </a:prstGeom>
          <a:noFill/>
          <a:ln/>
        </p:spPr>
        <p:txBody>
          <a:bodyPr wrap="square" lIns="0" tIns="0" rIns="0" bIns="0" rtlCol="0" anchor="ctr"/>
          <a:lstStyle/>
          <a:p>
            <a:pPr indent="0" marL="0">
              <a:buNone/>
            </a:pPr>
            <a:r>
              <a:rPr lang="en-US" sz="1000" dirty="0">
                <a:solidFill>
                  <a:schemeClr val="accent5"/>
                </a:solidFill>
              </a:rPr>
              <a:t>OneRecord · Lives Group</a:t>
            </a:r>
            <a:endParaRPr lang="en-US" sz="1000" dirty="0"/>
          </a:p>
        </p:txBody>
      </p:sp>
      <p:sp>
        <p:nvSpPr>
          <p:cNvPr id="4" name="Shape 1"/>
          <p:cNvSpPr/>
          <p:nvPr/>
        </p:nvSpPr>
        <p:spPr>
          <a:xfrm>
            <a:off x="11018520" y="256032"/>
            <a:ext cx="54864" cy="54864"/>
          </a:xfrm>
          <a:prstGeom prst="rect">
            <a:avLst/>
          </a:prstGeom>
          <a:solidFill>
            <a:srgbClr val="0C2F3B"/>
          </a:solidFill>
          <a:ln/>
        </p:spPr>
      </p:sp>
      <p:sp>
        <p:nvSpPr>
          <p:cNvPr id="5" name="Shape 2"/>
          <p:cNvSpPr/>
          <p:nvPr/>
        </p:nvSpPr>
        <p:spPr>
          <a:xfrm>
            <a:off x="11173968" y="256032"/>
            <a:ext cx="54864" cy="54864"/>
          </a:xfrm>
          <a:prstGeom prst="rect">
            <a:avLst/>
          </a:prstGeom>
          <a:solidFill>
            <a:srgbClr val="0C2F3B"/>
          </a:solidFill>
          <a:ln/>
        </p:spPr>
      </p:sp>
      <p:sp>
        <p:nvSpPr>
          <p:cNvPr id="6" name="Shape 3"/>
          <p:cNvSpPr/>
          <p:nvPr/>
        </p:nvSpPr>
        <p:spPr>
          <a:xfrm>
            <a:off x="11329416" y="256032"/>
            <a:ext cx="54864" cy="54864"/>
          </a:xfrm>
          <a:prstGeom prst="rect">
            <a:avLst/>
          </a:prstGeom>
          <a:solidFill>
            <a:srgbClr val="0C2F3B"/>
          </a:solidFill>
          <a:ln/>
        </p:spPr>
      </p:sp>
      <p:sp>
        <p:nvSpPr>
          <p:cNvPr id="7" name="Shape 4"/>
          <p:cNvSpPr/>
          <p:nvPr/>
        </p:nvSpPr>
        <p:spPr>
          <a:xfrm>
            <a:off x="11484864" y="256032"/>
            <a:ext cx="54864" cy="54864"/>
          </a:xfrm>
          <a:prstGeom prst="rect">
            <a:avLst/>
          </a:prstGeom>
          <a:solidFill>
            <a:srgbClr val="0C2F3B"/>
          </a:solidFill>
          <a:ln/>
        </p:spPr>
      </p:sp>
      <p:sp>
        <p:nvSpPr>
          <p:cNvPr id="8" name="Shape 5"/>
          <p:cNvSpPr/>
          <p:nvPr/>
        </p:nvSpPr>
        <p:spPr>
          <a:xfrm>
            <a:off x="11018520" y="411480"/>
            <a:ext cx="54864" cy="54864"/>
          </a:xfrm>
          <a:prstGeom prst="rect">
            <a:avLst/>
          </a:prstGeom>
          <a:solidFill>
            <a:srgbClr val="0C2F3B"/>
          </a:solidFill>
          <a:ln/>
        </p:spPr>
      </p:sp>
      <p:sp>
        <p:nvSpPr>
          <p:cNvPr id="9" name="Shape 6"/>
          <p:cNvSpPr/>
          <p:nvPr/>
        </p:nvSpPr>
        <p:spPr>
          <a:xfrm>
            <a:off x="11173968" y="411480"/>
            <a:ext cx="54864" cy="54864"/>
          </a:xfrm>
          <a:prstGeom prst="rect">
            <a:avLst/>
          </a:prstGeom>
          <a:solidFill>
            <a:srgbClr val="0C2F3B"/>
          </a:solidFill>
          <a:ln/>
        </p:spPr>
      </p:sp>
      <p:sp>
        <p:nvSpPr>
          <p:cNvPr id="10" name="Shape 7"/>
          <p:cNvSpPr/>
          <p:nvPr/>
        </p:nvSpPr>
        <p:spPr>
          <a:xfrm>
            <a:off x="11329416" y="411480"/>
            <a:ext cx="54864" cy="54864"/>
          </a:xfrm>
          <a:prstGeom prst="rect">
            <a:avLst/>
          </a:prstGeom>
          <a:solidFill>
            <a:srgbClr val="0C2F3B"/>
          </a:solidFill>
          <a:ln/>
        </p:spPr>
      </p:sp>
      <p:sp>
        <p:nvSpPr>
          <p:cNvPr id="11" name="Shape 8"/>
          <p:cNvSpPr/>
          <p:nvPr/>
        </p:nvSpPr>
        <p:spPr>
          <a:xfrm>
            <a:off x="11484864" y="411480"/>
            <a:ext cx="54864" cy="54864"/>
          </a:xfrm>
          <a:prstGeom prst="rect">
            <a:avLst/>
          </a:prstGeom>
          <a:solidFill>
            <a:srgbClr val="0C2F3B"/>
          </a:solidFill>
          <a:ln/>
        </p:spPr>
      </p:sp>
      <p:sp>
        <p:nvSpPr>
          <p:cNvPr id="12" name="Shape 9"/>
          <p:cNvSpPr/>
          <p:nvPr/>
        </p:nvSpPr>
        <p:spPr>
          <a:xfrm>
            <a:off x="11018520" y="566928"/>
            <a:ext cx="54864" cy="54864"/>
          </a:xfrm>
          <a:prstGeom prst="rect">
            <a:avLst/>
          </a:prstGeom>
          <a:solidFill>
            <a:srgbClr val="0C2F3B"/>
          </a:solidFill>
          <a:ln/>
        </p:spPr>
      </p:sp>
      <p:sp>
        <p:nvSpPr>
          <p:cNvPr id="13" name="Shape 10"/>
          <p:cNvSpPr/>
          <p:nvPr/>
        </p:nvSpPr>
        <p:spPr>
          <a:xfrm>
            <a:off x="11173968" y="566928"/>
            <a:ext cx="54864" cy="54864"/>
          </a:xfrm>
          <a:prstGeom prst="rect">
            <a:avLst/>
          </a:prstGeom>
          <a:solidFill>
            <a:srgbClr val="0C2F3B"/>
          </a:solidFill>
          <a:ln/>
        </p:spPr>
      </p:sp>
      <p:sp>
        <p:nvSpPr>
          <p:cNvPr id="14" name="Shape 11"/>
          <p:cNvSpPr/>
          <p:nvPr/>
        </p:nvSpPr>
        <p:spPr>
          <a:xfrm>
            <a:off x="11329416" y="566928"/>
            <a:ext cx="54864" cy="54864"/>
          </a:xfrm>
          <a:prstGeom prst="rect">
            <a:avLst/>
          </a:prstGeom>
          <a:solidFill>
            <a:srgbClr val="0C2F3B"/>
          </a:solidFill>
          <a:ln/>
        </p:spPr>
      </p:sp>
      <p:sp>
        <p:nvSpPr>
          <p:cNvPr id="15" name="Shape 12"/>
          <p:cNvSpPr/>
          <p:nvPr/>
        </p:nvSpPr>
        <p:spPr>
          <a:xfrm>
            <a:off x="11484864" y="566928"/>
            <a:ext cx="54864" cy="54864"/>
          </a:xfrm>
          <a:prstGeom prst="rect">
            <a:avLst/>
          </a:prstGeom>
          <a:solidFill>
            <a:srgbClr val="0C2F3B"/>
          </a:solidFill>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8138160" y="0"/>
            <a:ext cx="4053535" cy="6858000"/>
          </a:xfrm>
          <a:prstGeom prst="rect">
            <a:avLst/>
          </a:prstGeom>
          <a:solidFill>
            <a:srgbClr val="0C2F3B"/>
          </a:solidFill>
          <a:ln/>
        </p:spPr>
      </p:sp>
      <p:sp>
        <p:nvSpPr>
          <p:cNvPr id="3" name="Text 1"/>
          <p:cNvSpPr/>
          <p:nvPr>
            <p:ph idx="101" type="title" hasCustomPrompt="1"/>
          </p:nvPr>
        </p:nvSpPr>
        <p:spPr>
          <a:xfrm>
            <a:off x="822960" y="2880360"/>
            <a:ext cx="5394960" cy="91440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1"/>
          <p:cNvSpPr/>
          <p:nvPr>
            <p:ph idx="102" type="body" hasCustomPrompt="1"/>
          </p:nvPr>
        </p:nvSpPr>
        <p:spPr>
          <a:xfrm>
            <a:off x="822960" y="3886200"/>
            <a:ext cx="5394960" cy="1188720"/>
          </a:xfrm>
          <a:prstGeom prst="rect">
            <a:avLst/>
          </a:prstGeom>
          <a:noFill/>
          <a:ln/>
        </p:spPr>
        <p:txBody>
          <a:bodyPr wrap="square" rtlCol="0"/>
          <a:lstStyle>
            <a:lvl1pPr algn="l" indent="0" marL="0">
              <a:buNone/>
              <a:defRPr lang="en-US" sz="1600" dirty="0">
                <a:solidFill>
                  <a:schemeClr val="accent5"/>
                </a:solidFill>
              </a:defRPr>
            </a:lvl1pPr>
          </a:lstStyle>
          <a:p>
            <a:pPr algn="l"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WHIT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rgbClr val="0C2F3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1005840" y="-1005840"/>
            <a:ext cx="2194560" cy="2194560"/>
          </a:xfrm>
          <a:prstGeom prst="ellipse">
            <a:avLst/>
          </a:prstGeom>
          <a:solidFill>
            <a:srgbClr val="8ACFC4"/>
          </a:solidFill>
          <a:ln/>
        </p:spPr>
      </p:sp>
      <p:sp>
        <p:nvSpPr>
          <p:cNvPr id="3" name="Text 1"/>
          <p:cNvSpPr txBox="1"/>
          <p:nvPr/>
        </p:nvSpPr>
        <p:spPr>
          <a:xfrm>
            <a:off x="777240" y="960120"/>
            <a:ext cx="548640" cy="548640"/>
          </a:xfrm>
          <a:prstGeom prst="rect">
            <a:avLst/>
          </a:prstGeom>
          <a:noFill/>
          <a:ln/>
        </p:spPr>
        <p:txBody>
          <a:bodyPr wrap="square" lIns="0" tIns="0" rIns="0" bIns="0" rtlCol="0" anchor="ctr"/>
          <a:lstStyle/>
          <a:p>
            <a:pPr indent="0" marL="0">
              <a:buNone/>
            </a:pPr>
            <a:r>
              <a:rPr lang="en-US" sz="4000" b="1" dirty="0">
                <a:solidFill>
                  <a:schemeClr val="tx2"/>
                </a:solidFill>
              </a:rPr>
              <a:t>+</a:t>
            </a:r>
            <a:endParaRPr lang="en-US" sz="4000" dirty="0"/>
          </a:p>
        </p:txBody>
      </p:sp>
      <p:sp>
        <p:nvSpPr>
          <p:cNvPr id="4" name="Text 2"/>
          <p:cNvSpPr txBox="1"/>
          <p:nvPr/>
        </p:nvSpPr>
        <p:spPr>
          <a:xfrm>
            <a:off x="777240" y="1691640"/>
            <a:ext cx="6217920" cy="1005840"/>
          </a:xfrm>
          <a:prstGeom prst="rect">
            <a:avLst/>
          </a:prstGeom>
          <a:noFill/>
          <a:ln/>
        </p:spPr>
        <p:txBody>
          <a:bodyPr wrap="square" lIns="0" tIns="0" rIns="0" bIns="0" rtlCol="0" anchor="t"/>
          <a:lstStyle/>
          <a:p>
            <a:pPr indent="0" marL="0">
              <a:buNone/>
            </a:pPr>
            <a:r>
              <a:rPr lang="en-US" sz="5400" b="1" dirty="0">
                <a:solidFill>
                  <a:schemeClr val="tx2"/>
                </a:solidFill>
                <a:latin typeface="Poppins" pitchFamily="34" charset="0"/>
                <a:ea typeface="Poppins" pitchFamily="34" charset="-122"/>
                <a:cs typeface="Poppins" pitchFamily="34" charset="-120"/>
              </a:rPr>
              <a:t>OneRecord</a:t>
            </a:r>
            <a:endParaRPr lang="en-US" sz="5400" dirty="0"/>
          </a:p>
        </p:txBody>
      </p:sp>
      <p:sp>
        <p:nvSpPr>
          <p:cNvPr id="5" name="Text 3"/>
          <p:cNvSpPr txBox="1"/>
          <p:nvPr/>
        </p:nvSpPr>
        <p:spPr>
          <a:xfrm>
            <a:off x="777240" y="2697480"/>
            <a:ext cx="6217920" cy="548640"/>
          </a:xfrm>
          <a:prstGeom prst="rect">
            <a:avLst/>
          </a:prstGeom>
          <a:noFill/>
          <a:ln/>
        </p:spPr>
        <p:txBody>
          <a:bodyPr wrap="square" lIns="0" tIns="0" rIns="0" bIns="0" rtlCol="0" anchor="t"/>
          <a:lstStyle/>
          <a:p>
            <a:pPr indent="0" marL="0">
              <a:buNone/>
            </a:pPr>
            <a:r>
              <a:rPr lang="en-US" sz="2400" b="1" dirty="0">
                <a:solidFill>
                  <a:schemeClr val="accent1"/>
                </a:solidFill>
              </a:rPr>
              <a:t>Clean records in. Better decisions out.</a:t>
            </a:r>
            <a:endParaRPr lang="en-US" sz="2400" dirty="0"/>
          </a:p>
        </p:txBody>
      </p:sp>
      <p:sp>
        <p:nvSpPr>
          <p:cNvPr id="6" name="Text 4"/>
          <p:cNvSpPr txBox="1"/>
          <p:nvPr/>
        </p:nvSpPr>
        <p:spPr>
          <a:xfrm>
            <a:off x="777240" y="3337560"/>
            <a:ext cx="6217920" cy="457200"/>
          </a:xfrm>
          <a:prstGeom prst="rect">
            <a:avLst/>
          </a:prstGeom>
          <a:noFill/>
          <a:ln/>
        </p:spPr>
        <p:txBody>
          <a:bodyPr wrap="square" lIns="0" tIns="0" rIns="0" bIns="0" rtlCol="0" anchor="t"/>
          <a:lstStyle/>
          <a:p>
            <a:pPr indent="0" marL="0">
              <a:buNone/>
            </a:pPr>
            <a:r>
              <a:rPr lang="en-US" sz="1800" dirty="0">
                <a:solidFill>
                  <a:schemeClr val="tx1"/>
                </a:solidFill>
              </a:rPr>
              <a:t>Modernising Master Data Management at Lives Group</a:t>
            </a:r>
            <a:endParaRPr lang="en-US" sz="1800" dirty="0"/>
          </a:p>
        </p:txBody>
      </p:sp>
      <p:sp>
        <p:nvSpPr>
          <p:cNvPr id="7" name="Text 5"/>
          <p:cNvSpPr txBox="1"/>
          <p:nvPr/>
        </p:nvSpPr>
        <p:spPr>
          <a:xfrm>
            <a:off x="777240" y="4754880"/>
            <a:ext cx="6217920" cy="365760"/>
          </a:xfrm>
          <a:prstGeom prst="rect">
            <a:avLst/>
          </a:prstGeom>
          <a:noFill/>
          <a:ln/>
        </p:spPr>
        <p:txBody>
          <a:bodyPr wrap="square" lIns="0" tIns="0" rIns="0" bIns="0" rtlCol="0" anchor="t"/>
          <a:lstStyle/>
          <a:p>
            <a:pPr indent="0" marL="0">
              <a:buNone/>
            </a:pPr>
            <a:r>
              <a:rPr lang="en-US" sz="1400" spc="200" kern="0" dirty="0">
                <a:solidFill>
                  <a:schemeClr val="accent5"/>
                </a:solidFill>
              </a:rPr>
              <a:t>Megan · Zacchaeus · Darryl · Chloe</a:t>
            </a:r>
            <a:endParaRPr lang="en-US" sz="1400" dirty="0"/>
          </a:p>
        </p:txBody>
      </p:sp>
      <p:sp>
        <p:nvSpPr>
          <p:cNvPr id="8" name="Text 6"/>
          <p:cNvSpPr txBox="1"/>
          <p:nvPr/>
        </p:nvSpPr>
        <p:spPr>
          <a:xfrm>
            <a:off x="777240" y="5120640"/>
            <a:ext cx="6217920" cy="365760"/>
          </a:xfrm>
          <a:prstGeom prst="rect">
            <a:avLst/>
          </a:prstGeom>
          <a:noFill/>
          <a:ln/>
        </p:spPr>
        <p:txBody>
          <a:bodyPr wrap="square" lIns="0" tIns="0" rIns="0" bIns="0" rtlCol="0" anchor="t"/>
          <a:lstStyle/>
          <a:p>
            <a:pPr indent="0" marL="0">
              <a:buNone/>
            </a:pPr>
            <a:r>
              <a:rPr lang="en-US" sz="1200" dirty="0">
                <a:solidFill>
                  <a:schemeClr val="accent5"/>
                </a:solidFill>
              </a:rPr>
              <a:t>SMU DSA Data Case Competition 2026 · Finals</a:t>
            </a:r>
            <a:endParaRPr lang="en-US" sz="1200" dirty="0"/>
          </a:p>
        </p:txBody>
      </p:sp>
      <p:sp>
        <p:nvSpPr>
          <p:cNvPr id="9" name="ring_0"/>
          <p:cNvSpPr/>
          <p:nvPr/>
        </p:nvSpPr>
        <p:spPr>
          <a:xfrm>
            <a:off x="7379208" y="1069848"/>
            <a:ext cx="4535424" cy="4535424"/>
          </a:xfrm>
          <a:prstGeom prst="blockArc">
            <a:avLst>
              <a:gd name="adj1" fmla="val 5400000"/>
              <a:gd name="adj2" fmla="val 16200000"/>
              <a:gd name="adj3" fmla="val 4500"/>
            </a:avLst>
          </a:prstGeom>
          <a:solidFill>
            <a:srgbClr val="0C2F3B"/>
          </a:solidFill>
          <a:ln/>
        </p:spPr>
      </p:sp>
      <p:sp>
        <p:nvSpPr>
          <p:cNvPr id="10" name="ring_1"/>
          <p:cNvSpPr/>
          <p:nvPr/>
        </p:nvSpPr>
        <p:spPr>
          <a:xfrm>
            <a:off x="7148779" y="839419"/>
            <a:ext cx="4996282" cy="4996282"/>
          </a:xfrm>
          <a:prstGeom prst="blockArc">
            <a:avLst>
              <a:gd name="adj1" fmla="val 16200000"/>
              <a:gd name="adj2" fmla="val 5400000"/>
              <a:gd name="adj3" fmla="val 5500"/>
            </a:avLst>
          </a:prstGeom>
          <a:solidFill>
            <a:srgbClr val="8ACFC4"/>
          </a:solidFill>
          <a:ln/>
        </p:spPr>
      </p:sp>
      <p:pic>
        <p:nvPicPr>
          <p:cNvPr id="11" name="circleimg_2" descr="OneRecord overview page">    </p:cNvPr>
          <p:cNvPicPr>
            <a:picLocks noChangeAspect="1"/>
          </p:cNvPicPr>
          <p:nvPr/>
        </p:nvPicPr>
        <p:blipFill>
          <a:blip r:embed="rId1"/>
          <a:stretch>
            <a:fillRect/>
          </a:stretch>
        </p:blipFill>
        <p:spPr>
          <a:xfrm>
            <a:off x="7635240" y="1325880"/>
            <a:ext cx="4023360" cy="4023360"/>
          </a:xfrm>
          <a:prstGeom prst="ellipse">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dot_3"/>
          <p:cNvSpPr/>
          <p:nvPr/>
        </p:nvSpPr>
        <p:spPr>
          <a:xfrm>
            <a:off x="822960" y="1828800"/>
            <a:ext cx="868680" cy="868680"/>
          </a:xfrm>
          <a:prstGeom prst="ellipse">
            <a:avLst/>
          </a:prstGeom>
          <a:solidFill>
            <a:schemeClr val="accent1"/>
          </a:solid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3" name="Text 1"/>
          <p:cNvSpPr/>
          <p:nvPr>
            <p:ph idx="101" type="title" hasCustomPrompt="1"/>
          </p:nvPr>
        </p:nvSpPr>
        <p:spPr>
          <a:xfrm>
            <a:off x="822960" y="2880360"/>
            <a:ext cx="5394960" cy="914400"/>
          </a:xfrm>
          <a:prstGeom prst="rect">
            <a:avLst/>
          </a:prstGeom>
          <a:noFill/>
          <a:ln/>
        </p:spPr>
        <p:txBody>
          <a:bodyPr wrap="square" lIns="0" tIns="0" rIns="0" bIns="0" rtlCol="0" anchor="ctr"/>
          <a:lstStyle/>
          <a:p>
            <a:pPr algn="l" indent="0" marL="0">
              <a:buNone/>
            </a:pPr>
            <a:r>
              <a:rPr lang="en-US" sz="3600" b="1" dirty="0">
                <a:solidFill>
                  <a:schemeClr val="tx2"/>
                </a:solidFill>
              </a:rPr>
              <a:t>The problem</a:t>
            </a:r>
            <a:endParaRPr lang="en-US" sz="3600" dirty="0"/>
          </a:p>
        </p:txBody>
      </p:sp>
      <p:sp>
        <p:nvSpPr>
          <p:cNvPr id="4" name="Text 1"/>
          <p:cNvSpPr/>
          <p:nvPr>
            <p:ph idx="102" type="body" hasCustomPrompt="1"/>
          </p:nvPr>
        </p:nvSpPr>
        <p:spPr>
          <a:xfrm>
            <a:off x="822960" y="3886200"/>
            <a:ext cx="5394960" cy="1188720"/>
          </a:xfrm>
          <a:prstGeom prst="rect">
            <a:avLst/>
          </a:prstGeom>
          <a:noFill/>
          <a:ln/>
        </p:spPr>
        <p:txBody>
          <a:bodyPr wrap="square" lIns="0" tIns="0" rIns="0" bIns="0" rtlCol="0" anchor="t"/>
          <a:lstStyle/>
          <a:p>
            <a:pPr algn="l" indent="0" marL="0">
              <a:buNone/>
            </a:pPr>
            <a:r>
              <a:rPr lang="en-US" sz="1600" b="1" dirty="0">
                <a:solidFill>
                  <a:schemeClr val="accent1"/>
                </a:solidFill>
              </a:rPr>
              <a:t>Megan</a:t>
            </a:r>
            <a:endParaRPr lang="en-US" sz="1600" dirty="0"/>
          </a:p>
          <a:p>
            <a:pPr algn="l" indent="0" marL="0">
              <a:buNone/>
            </a:pPr>
            <a:r>
              <a:rPr lang="en-US" sz="1600" dirty="0">
                <a:solidFill>
                  <a:schemeClr val="accent5"/>
                </a:solidFill>
              </a:rPr>
              <a:t>Why a new record takes 18.8 days, and why the sales view can't be trusted</a:t>
            </a:r>
            <a:endParaRPr lang="en-US" sz="1600" dirty="0"/>
          </a:p>
        </p:txBody>
      </p:sp>
      <p:sp>
        <p:nvSpPr>
          <p:cNvPr id="5" name="ring_4"/>
          <p:cNvSpPr/>
          <p:nvPr/>
        </p:nvSpPr>
        <p:spPr>
          <a:xfrm>
            <a:off x="6144768" y="1161288"/>
            <a:ext cx="4535424" cy="4535424"/>
          </a:xfrm>
          <a:prstGeom prst="blockArc">
            <a:avLst>
              <a:gd name="adj1" fmla="val 5400000"/>
              <a:gd name="adj2" fmla="val 16200000"/>
              <a:gd name="adj3" fmla="val 4500"/>
            </a:avLst>
          </a:prstGeom>
          <a:solidFill>
            <a:srgbClr val="0C2F3B"/>
          </a:solidFill>
          <a:ln/>
        </p:spPr>
      </p:sp>
      <p:sp>
        <p:nvSpPr>
          <p:cNvPr id="6" name="ring_5"/>
          <p:cNvSpPr/>
          <p:nvPr/>
        </p:nvSpPr>
        <p:spPr>
          <a:xfrm>
            <a:off x="5914339" y="930859"/>
            <a:ext cx="4996282" cy="4996282"/>
          </a:xfrm>
          <a:prstGeom prst="blockArc">
            <a:avLst>
              <a:gd name="adj1" fmla="val 16200000"/>
              <a:gd name="adj2" fmla="val 5400000"/>
              <a:gd name="adj3" fmla="val 5500"/>
            </a:avLst>
          </a:prstGeom>
          <a:solidFill>
            <a:srgbClr val="8ACFC4"/>
          </a:solidFill>
          <a:ln/>
        </p:spPr>
      </p:sp>
      <p:pic>
        <p:nvPicPr>
          <p:cNvPr id="7" name="circleimg_6" descr="Process flow">    </p:cNvPr>
          <p:cNvPicPr>
            <a:picLocks noChangeAspect="1"/>
          </p:cNvPicPr>
          <p:nvPr/>
        </p:nvPicPr>
        <p:blipFill>
          <a:blip r:embed="rId1"/>
          <a:stretch>
            <a:fillRect/>
          </a:stretch>
        </p:blipFill>
        <p:spPr>
          <a:xfrm>
            <a:off x="6400800" y="1417320"/>
            <a:ext cx="4023360" cy="4023360"/>
          </a:xfrm>
          <a:prstGeom prst="ellipse">
            <a:avLst/>
          </a:prstGeom>
        </p:spPr>
      </p:pic>
      <p:sp>
        <p:nvSpPr>
          <p:cNvPr id="8" name="Shape 5"/>
          <p:cNvSpPr/>
          <p:nvPr/>
        </p:nvSpPr>
        <p:spPr>
          <a:xfrm>
            <a:off x="822960" y="5669280"/>
            <a:ext cx="64008" cy="64008"/>
          </a:xfrm>
          <a:prstGeom prst="ellipse">
            <a:avLst/>
          </a:prstGeom>
          <a:solidFill>
            <a:srgbClr val="0C2F3B"/>
          </a:solidFill>
          <a:ln/>
        </p:spPr>
      </p:sp>
      <p:sp>
        <p:nvSpPr>
          <p:cNvPr id="9" name="Shape 6"/>
          <p:cNvSpPr/>
          <p:nvPr/>
        </p:nvSpPr>
        <p:spPr>
          <a:xfrm>
            <a:off x="822960" y="5852160"/>
            <a:ext cx="64008" cy="64008"/>
          </a:xfrm>
          <a:prstGeom prst="ellipse">
            <a:avLst/>
          </a:prstGeom>
          <a:solidFill>
            <a:srgbClr val="0C2F3B"/>
          </a:solidFill>
          <a:ln/>
        </p:spPr>
      </p:sp>
      <p:sp>
        <p:nvSpPr>
          <p:cNvPr id="10" name="Shape 7"/>
          <p:cNvSpPr/>
          <p:nvPr/>
        </p:nvSpPr>
        <p:spPr>
          <a:xfrm>
            <a:off x="822960" y="6035040"/>
            <a:ext cx="64008" cy="64008"/>
          </a:xfrm>
          <a:prstGeom prst="ellipse">
            <a:avLst/>
          </a:prstGeom>
          <a:solidFill>
            <a:srgbClr val="0C2F3B"/>
          </a:solidFill>
          <a:ln/>
        </p:spPr>
      </p:sp>
      <p:sp>
        <p:nvSpPr>
          <p:cNvPr id="11" name="Shape 8"/>
          <p:cNvSpPr/>
          <p:nvPr/>
        </p:nvSpPr>
        <p:spPr>
          <a:xfrm>
            <a:off x="822960" y="6217920"/>
            <a:ext cx="64008" cy="64008"/>
          </a:xfrm>
          <a:prstGeom prst="ellipse">
            <a:avLst/>
          </a:prstGeom>
          <a:solidFill>
            <a:srgbClr val="0C2F3B"/>
          </a:solidFill>
          <a:ln/>
        </p:spPr>
      </p:sp>
      <p:sp>
        <p:nvSpPr>
          <p:cNvPr id="12" name="Shape 9"/>
          <p:cNvSpPr/>
          <p:nvPr/>
        </p:nvSpPr>
        <p:spPr>
          <a:xfrm>
            <a:off x="1005840" y="5669280"/>
            <a:ext cx="64008" cy="64008"/>
          </a:xfrm>
          <a:prstGeom prst="ellipse">
            <a:avLst/>
          </a:prstGeom>
          <a:solidFill>
            <a:srgbClr val="0C2F3B"/>
          </a:solidFill>
          <a:ln/>
        </p:spPr>
      </p:sp>
      <p:sp>
        <p:nvSpPr>
          <p:cNvPr id="13" name="Shape 10"/>
          <p:cNvSpPr/>
          <p:nvPr/>
        </p:nvSpPr>
        <p:spPr>
          <a:xfrm>
            <a:off x="1005840" y="5852160"/>
            <a:ext cx="64008" cy="64008"/>
          </a:xfrm>
          <a:prstGeom prst="ellipse">
            <a:avLst/>
          </a:prstGeom>
          <a:solidFill>
            <a:srgbClr val="0C2F3B"/>
          </a:solidFill>
          <a:ln/>
        </p:spPr>
      </p:sp>
      <p:sp>
        <p:nvSpPr>
          <p:cNvPr id="14" name="Shape 11"/>
          <p:cNvSpPr/>
          <p:nvPr/>
        </p:nvSpPr>
        <p:spPr>
          <a:xfrm>
            <a:off x="1005840" y="6035040"/>
            <a:ext cx="64008" cy="64008"/>
          </a:xfrm>
          <a:prstGeom prst="ellipse">
            <a:avLst/>
          </a:prstGeom>
          <a:solidFill>
            <a:srgbClr val="0C2F3B"/>
          </a:solidFill>
          <a:ln/>
        </p:spPr>
      </p:sp>
      <p:sp>
        <p:nvSpPr>
          <p:cNvPr id="15" name="Shape 12"/>
          <p:cNvSpPr/>
          <p:nvPr/>
        </p:nvSpPr>
        <p:spPr>
          <a:xfrm>
            <a:off x="1005840" y="6217920"/>
            <a:ext cx="64008" cy="64008"/>
          </a:xfrm>
          <a:prstGeom prst="ellipse">
            <a:avLst/>
          </a:prstGeom>
          <a:solidFill>
            <a:srgbClr val="0C2F3B"/>
          </a:solidFill>
          <a:ln/>
        </p:spPr>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Amy needs one item code. It takes 18 days</a:t>
            </a:r>
            <a:endParaRPr lang="en-US" sz="3000" dirty="0"/>
          </a:p>
        </p:txBody>
      </p:sp>
      <p:sp>
        <p:nvSpPr>
          <p:cNvPr id="3" name="tl_7"/>
          <p:cNvSpPr/>
          <p:nvPr/>
        </p:nvSpPr>
        <p:spPr>
          <a:xfrm>
            <a:off x="1325880" y="1920240"/>
            <a:ext cx="9509760" cy="0"/>
          </a:xfrm>
          <a:prstGeom prst="line">
            <a:avLst/>
          </a:prstGeom>
          <a:noFill/>
          <a:ln w="38100">
            <a:solidFill>
              <a:srgbClr val="8ACFC4"/>
            </a:solidFill>
            <a:prstDash val="solid"/>
          </a:ln>
        </p:spPr>
      </p:sp>
      <p:sp>
        <p:nvSpPr>
          <p:cNvPr id="4" name="anim1_0_8"/>
          <p:cNvSpPr/>
          <p:nvPr/>
        </p:nvSpPr>
        <p:spPr>
          <a:xfrm>
            <a:off x="685800" y="1280160"/>
            <a:ext cx="1280160" cy="1280160"/>
          </a:xfrm>
          <a:prstGeom prst="ellipse">
            <a:avLst/>
          </a:prstGeom>
          <a:solidFill>
            <a:srgbClr val="0C2F3B"/>
          </a:solidFill>
          <a:ln/>
        </p:spPr>
        <p:txBody>
          <a:bodyPr wrap="square" lIns="0" tIns="0" rIns="0" bIns="0" rtlCol="0" anchor="ctr"/>
          <a:lstStyle/>
          <a:p>
            <a:pPr algn="ctr" indent="0" marL="0">
              <a:buNone/>
            </a:pPr>
            <a:r>
              <a:rPr lang="en-US" sz="1800" b="1" dirty="0">
                <a:solidFill>
                  <a:srgbClr val="FFFFFF"/>
                </a:solidFill>
              </a:rPr>
              <a:t>Day 0</a:t>
            </a:r>
            <a:endParaRPr lang="en-US" sz="1800" dirty="0"/>
          </a:p>
        </p:txBody>
      </p:sp>
      <p:sp>
        <p:nvSpPr>
          <p:cNvPr id="5" name="anim1_0_8"/>
          <p:cNvSpPr txBox="1"/>
          <p:nvPr/>
        </p:nvSpPr>
        <p:spPr>
          <a:xfrm>
            <a:off x="274320" y="2697480"/>
            <a:ext cx="2103120" cy="868680"/>
          </a:xfrm>
          <a:prstGeom prst="rect">
            <a:avLst/>
          </a:prstGeom>
          <a:noFill/>
          <a:ln/>
        </p:spPr>
        <p:txBody>
          <a:bodyPr wrap="square" lIns="0" tIns="0" rIns="0" bIns="0" rtlCol="0" anchor="t"/>
          <a:lstStyle/>
          <a:p>
            <a:pPr algn="ctr" indent="0" marL="0">
              <a:buNone/>
            </a:pPr>
            <a:r>
              <a:rPr lang="en-US" sz="1400" dirty="0">
                <a:solidFill>
                  <a:schemeClr val="tx1"/>
                </a:solidFill>
              </a:rPr>
              <a:t>Copies an old email, leaves the QA field blank</a:t>
            </a:r>
            <a:endParaRPr lang="en-US" sz="1400" dirty="0"/>
          </a:p>
        </p:txBody>
      </p:sp>
      <p:sp>
        <p:nvSpPr>
          <p:cNvPr id="6" name="anim1_1_9"/>
          <p:cNvSpPr/>
          <p:nvPr/>
        </p:nvSpPr>
        <p:spPr>
          <a:xfrm>
            <a:off x="3063240" y="1280160"/>
            <a:ext cx="1280160" cy="1280160"/>
          </a:xfrm>
          <a:prstGeom prst="ellipse">
            <a:avLst/>
          </a:prstGeom>
          <a:solidFill>
            <a:srgbClr val="0C2F3B"/>
          </a:solidFill>
          <a:ln/>
        </p:spPr>
        <p:txBody>
          <a:bodyPr wrap="square" lIns="0" tIns="0" rIns="0" bIns="0" rtlCol="0" anchor="ctr"/>
          <a:lstStyle/>
          <a:p>
            <a:pPr algn="ctr" indent="0" marL="0">
              <a:buNone/>
            </a:pPr>
            <a:r>
              <a:rPr lang="en-US" sz="1800" b="1" dirty="0">
                <a:solidFill>
                  <a:srgbClr val="FFFFFF"/>
                </a:solidFill>
              </a:rPr>
              <a:t>Day 2</a:t>
            </a:r>
            <a:endParaRPr lang="en-US" sz="1800" dirty="0"/>
          </a:p>
        </p:txBody>
      </p:sp>
      <p:sp>
        <p:nvSpPr>
          <p:cNvPr id="7" name="anim1_1_9"/>
          <p:cNvSpPr txBox="1"/>
          <p:nvPr/>
        </p:nvSpPr>
        <p:spPr>
          <a:xfrm>
            <a:off x="2651760" y="2697480"/>
            <a:ext cx="2103120" cy="868680"/>
          </a:xfrm>
          <a:prstGeom prst="rect">
            <a:avLst/>
          </a:prstGeom>
          <a:noFill/>
          <a:ln/>
        </p:spPr>
        <p:txBody>
          <a:bodyPr wrap="square" lIns="0" tIns="0" rIns="0" bIns="0" rtlCol="0" anchor="t"/>
          <a:lstStyle/>
          <a:p>
            <a:pPr algn="ctr" indent="0" marL="0">
              <a:buNone/>
            </a:pPr>
            <a:r>
              <a:rPr lang="en-US" sz="1400" dirty="0">
                <a:solidFill>
                  <a:schemeClr val="tx1"/>
                </a:solidFill>
              </a:rPr>
              <a:t>MDM spots the gap and emails Amy</a:t>
            </a:r>
            <a:endParaRPr lang="en-US" sz="1400" dirty="0"/>
          </a:p>
        </p:txBody>
      </p:sp>
      <p:sp>
        <p:nvSpPr>
          <p:cNvPr id="8" name="anim1_2_10"/>
          <p:cNvSpPr/>
          <p:nvPr/>
        </p:nvSpPr>
        <p:spPr>
          <a:xfrm>
            <a:off x="5440680" y="1280160"/>
            <a:ext cx="1280160" cy="1280160"/>
          </a:xfrm>
          <a:prstGeom prst="ellipse">
            <a:avLst/>
          </a:prstGeom>
          <a:solidFill>
            <a:srgbClr val="0C2F3B"/>
          </a:solidFill>
          <a:ln/>
        </p:spPr>
        <p:txBody>
          <a:bodyPr wrap="square" lIns="0" tIns="0" rIns="0" bIns="0" rtlCol="0" anchor="ctr"/>
          <a:lstStyle/>
          <a:p>
            <a:pPr algn="ctr" indent="0" marL="0">
              <a:buNone/>
            </a:pPr>
            <a:r>
              <a:rPr lang="en-US" sz="1800" b="1" dirty="0">
                <a:solidFill>
                  <a:srgbClr val="FFFFFF"/>
                </a:solidFill>
              </a:rPr>
              <a:t>Day 7</a:t>
            </a:r>
            <a:endParaRPr lang="en-US" sz="1800" dirty="0"/>
          </a:p>
        </p:txBody>
      </p:sp>
      <p:sp>
        <p:nvSpPr>
          <p:cNvPr id="9" name="anim1_2_10"/>
          <p:cNvSpPr txBox="1"/>
          <p:nvPr/>
        </p:nvSpPr>
        <p:spPr>
          <a:xfrm>
            <a:off x="5029200" y="2697480"/>
            <a:ext cx="2103120" cy="868680"/>
          </a:xfrm>
          <a:prstGeom prst="rect">
            <a:avLst/>
          </a:prstGeom>
          <a:noFill/>
          <a:ln/>
        </p:spPr>
        <p:txBody>
          <a:bodyPr wrap="square" lIns="0" tIns="0" rIns="0" bIns="0" rtlCol="0" anchor="t"/>
          <a:lstStyle/>
          <a:p>
            <a:pPr algn="ctr" indent="0" marL="0">
              <a:buNone/>
            </a:pPr>
            <a:r>
              <a:rPr lang="en-US" sz="1400" dirty="0">
                <a:solidFill>
                  <a:schemeClr val="tx1"/>
                </a:solidFill>
              </a:rPr>
              <a:t>Amy replies from her trip</a:t>
            </a:r>
            <a:endParaRPr lang="en-US" sz="1400" dirty="0"/>
          </a:p>
        </p:txBody>
      </p:sp>
      <p:sp>
        <p:nvSpPr>
          <p:cNvPr id="10" name="anim1_3_11"/>
          <p:cNvSpPr/>
          <p:nvPr/>
        </p:nvSpPr>
        <p:spPr>
          <a:xfrm>
            <a:off x="7818120" y="1280160"/>
            <a:ext cx="1280160" cy="1280160"/>
          </a:xfrm>
          <a:prstGeom prst="ellipse">
            <a:avLst/>
          </a:prstGeom>
          <a:solidFill>
            <a:srgbClr val="0C2F3B"/>
          </a:solidFill>
          <a:ln/>
        </p:spPr>
        <p:txBody>
          <a:bodyPr wrap="square" lIns="0" tIns="0" rIns="0" bIns="0" rtlCol="0" anchor="ctr"/>
          <a:lstStyle/>
          <a:p>
            <a:pPr algn="ctr" indent="0" marL="0">
              <a:buNone/>
            </a:pPr>
            <a:r>
              <a:rPr lang="en-US" sz="1500" b="1" dirty="0">
                <a:solidFill>
                  <a:srgbClr val="FFFFFF"/>
                </a:solidFill>
              </a:rPr>
              <a:t>Day 8–17</a:t>
            </a:r>
            <a:endParaRPr lang="en-US" sz="1500" dirty="0"/>
          </a:p>
        </p:txBody>
      </p:sp>
      <p:sp>
        <p:nvSpPr>
          <p:cNvPr id="11" name="anim1_3_11"/>
          <p:cNvSpPr txBox="1"/>
          <p:nvPr/>
        </p:nvSpPr>
        <p:spPr>
          <a:xfrm>
            <a:off x="7406640" y="2697480"/>
            <a:ext cx="2103120" cy="868680"/>
          </a:xfrm>
          <a:prstGeom prst="rect">
            <a:avLst/>
          </a:prstGeom>
          <a:noFill/>
          <a:ln/>
        </p:spPr>
        <p:txBody>
          <a:bodyPr wrap="square" lIns="0" tIns="0" rIns="0" bIns="0" rtlCol="0" anchor="t"/>
          <a:lstStyle/>
          <a:p>
            <a:pPr algn="ctr" indent="0" marL="0">
              <a:buNone/>
            </a:pPr>
            <a:r>
              <a:rPr lang="en-US" sz="1400" dirty="0">
                <a:solidFill>
                  <a:schemeClr val="tx1"/>
                </a:solidFill>
              </a:rPr>
              <a:t>QA, then BU Head, then Business Support, one at a time</a:t>
            </a:r>
            <a:endParaRPr lang="en-US" sz="1400" dirty="0"/>
          </a:p>
        </p:txBody>
      </p:sp>
      <p:sp>
        <p:nvSpPr>
          <p:cNvPr id="12" name="anim1_4_12"/>
          <p:cNvSpPr/>
          <p:nvPr/>
        </p:nvSpPr>
        <p:spPr>
          <a:xfrm>
            <a:off x="10195560" y="1280160"/>
            <a:ext cx="1280160" cy="1280160"/>
          </a:xfrm>
          <a:prstGeom prst="ellipse">
            <a:avLst/>
          </a:prstGeom>
          <a:solidFill>
            <a:srgbClr val="E4572E"/>
          </a:solidFill>
          <a:ln/>
        </p:spPr>
        <p:txBody>
          <a:bodyPr wrap="square" lIns="0" tIns="0" rIns="0" bIns="0" rtlCol="0" anchor="ctr"/>
          <a:lstStyle/>
          <a:p>
            <a:pPr algn="ctr" indent="0" marL="0">
              <a:buNone/>
            </a:pPr>
            <a:r>
              <a:rPr lang="en-US" sz="1800" b="1" dirty="0">
                <a:solidFill>
                  <a:srgbClr val="FFFFFF"/>
                </a:solidFill>
              </a:rPr>
              <a:t>Day 18</a:t>
            </a:r>
            <a:endParaRPr lang="en-US" sz="1800" dirty="0"/>
          </a:p>
        </p:txBody>
      </p:sp>
      <p:sp>
        <p:nvSpPr>
          <p:cNvPr id="13" name="anim1_4_12"/>
          <p:cNvSpPr txBox="1"/>
          <p:nvPr/>
        </p:nvSpPr>
        <p:spPr>
          <a:xfrm>
            <a:off x="9784080" y="2697480"/>
            <a:ext cx="2103120" cy="868680"/>
          </a:xfrm>
          <a:prstGeom prst="rect">
            <a:avLst/>
          </a:prstGeom>
          <a:noFill/>
          <a:ln/>
        </p:spPr>
        <p:txBody>
          <a:bodyPr wrap="square" lIns="0" tIns="0" rIns="0" bIns="0" rtlCol="0" anchor="t"/>
          <a:lstStyle/>
          <a:p>
            <a:pPr algn="ctr" indent="0" marL="0">
              <a:buNone/>
            </a:pPr>
            <a:r>
              <a:rPr lang="en-US" sz="1400" dirty="0">
                <a:solidFill>
                  <a:schemeClr val="tx1"/>
                </a:solidFill>
              </a:rPr>
              <a:t>Her sales order fails. The item still isn't in SAP</a:t>
            </a:r>
            <a:endParaRPr lang="en-US" sz="1400" dirty="0"/>
          </a:p>
        </p:txBody>
      </p:sp>
      <p:sp>
        <p:nvSpPr>
          <p:cNvPr id="14" name="anim2_0_13"/>
          <p:cNvSpPr/>
          <p:nvPr/>
        </p:nvSpPr>
        <p:spPr>
          <a:xfrm>
            <a:off x="548640" y="3840480"/>
            <a:ext cx="11064240" cy="640080"/>
          </a:xfrm>
          <a:prstGeom prst="roundRect">
            <a:avLst>
              <a:gd name="adj" fmla="val 50000"/>
            </a:avLst>
          </a:prstGeom>
          <a:solidFill>
            <a:srgbClr val="0C2F3B"/>
          </a:solidFill>
          <a:ln/>
        </p:spPr>
        <p:txBody>
          <a:bodyPr wrap="square" lIns="0" tIns="228600" rIns="228600" bIns="0" rtlCol="0" anchor="ctr"/>
          <a:lstStyle/>
          <a:p>
            <a:pPr indent="0" marL="0">
              <a:buNone/>
            </a:pPr>
            <a:r>
              <a:rPr lang="en-US" sz="1500" b="1" dirty="0">
                <a:solidFill>
                  <a:srgbClr val="8ACFC4"/>
                </a:solidFill>
              </a:rPr>
              <a:t>The brief asks  ➜  </a:t>
            </a:r>
            <a:pPr indent="0" marL="0">
              <a:buNone/>
            </a:pPr>
            <a:r>
              <a:rPr lang="en-US" sz="1500" dirty="0">
                <a:solidFill>
                  <a:srgbClr val="FFFFFF"/>
                </a:solidFill>
              </a:rPr>
              <a:t>faster record creation, clean master data, sales growth in 5 countries</a:t>
            </a:r>
            <a:endParaRPr lang="en-US" sz="1500" dirty="0"/>
          </a:p>
        </p:txBody>
      </p:sp>
      <p:sp>
        <p:nvSpPr>
          <p:cNvPr id="15" name="anim3_0_14"/>
          <p:cNvSpPr/>
          <p:nvPr/>
        </p:nvSpPr>
        <p:spPr>
          <a:xfrm>
            <a:off x="3566160" y="4663440"/>
            <a:ext cx="5029200" cy="384048"/>
          </a:xfrm>
          <a:prstGeom prst="roundRect">
            <a:avLst>
              <a:gd name="adj" fmla="val 71429"/>
            </a:avLst>
          </a:prstGeom>
          <a:solidFill>
            <a:srgbClr val="8ACFC4"/>
          </a:solidFill>
          <a:ln/>
        </p:spPr>
        <p:txBody>
          <a:bodyPr wrap="square" lIns="1016" tIns="1016" rIns="1016" bIns="1016" rtlCol="0" anchor="ctr"/>
          <a:lstStyle/>
          <a:p>
            <a:pPr algn="ctr" indent="0" marL="0">
              <a:buNone/>
            </a:pPr>
            <a:r>
              <a:rPr lang="en-US" sz="1300" b="1" dirty="0">
                <a:solidFill>
                  <a:schemeClr val="tx2"/>
                </a:solidFill>
              </a:rPr>
              <a:t>Where the time goes today (150 past setup requests)</a:t>
            </a:r>
            <a:endParaRPr lang="en-US" sz="1300" dirty="0"/>
          </a:p>
        </p:txBody>
      </p:sp>
      <p:sp>
        <p:nvSpPr>
          <p:cNvPr id="16" name="anim3_1_15"/>
          <p:cNvSpPr/>
          <p:nvPr/>
        </p:nvSpPr>
        <p:spPr>
          <a:xfrm>
            <a:off x="548640" y="5193792"/>
            <a:ext cx="2606040" cy="1051560"/>
          </a:xfrm>
          <a:prstGeom prst="roundRect">
            <a:avLst>
              <a:gd name="adj" fmla="val 13043"/>
            </a:avLst>
          </a:prstGeom>
          <a:solidFill>
            <a:srgbClr val="FFFFFF"/>
          </a:solidFill>
          <a:ln w="15875">
            <a:solidFill>
              <a:srgbClr val="8ACFC4"/>
            </a:solidFill>
          </a:ln>
        </p:spPr>
        <p:txBody>
          <a:bodyPr wrap="square" lIns="635" tIns="635" rIns="635" bIns="635" rtlCol="0" anchor="ctr"/>
          <a:lstStyle/>
          <a:p>
            <a:pPr algn="ctr" indent="0" marL="0">
              <a:buNone/>
            </a:pPr>
            <a:r>
              <a:rPr lang="en-US" sz="2400" b="1" dirty="0">
                <a:solidFill>
                  <a:srgbClr val="E4572E"/>
                </a:solidFill>
              </a:rPr>
              <a:t>18.8 days</a:t>
            </a:r>
            <a:endParaRPr lang="en-US" sz="2400" dirty="0"/>
          </a:p>
          <a:p>
            <a:pPr algn="ctr" indent="0" marL="0">
              <a:buNone/>
            </a:pPr>
            <a:r>
              <a:rPr lang="en-US" sz="1300" dirty="0">
                <a:solidFill>
                  <a:schemeClr val="accent5"/>
                </a:solidFill>
              </a:rPr>
              <a:t>median time to SAP</a:t>
            </a:r>
            <a:endParaRPr lang="en-US" sz="2400" dirty="0"/>
          </a:p>
        </p:txBody>
      </p:sp>
      <p:sp>
        <p:nvSpPr>
          <p:cNvPr id="17" name="anim3_1_16"/>
          <p:cNvSpPr/>
          <p:nvPr/>
        </p:nvSpPr>
        <p:spPr>
          <a:xfrm>
            <a:off x="3364992" y="5193792"/>
            <a:ext cx="2606040" cy="1051560"/>
          </a:xfrm>
          <a:prstGeom prst="roundRect">
            <a:avLst>
              <a:gd name="adj" fmla="val 13043"/>
            </a:avLst>
          </a:prstGeom>
          <a:solidFill>
            <a:srgbClr val="FFFFFF"/>
          </a:solidFill>
          <a:ln w="15875">
            <a:solidFill>
              <a:srgbClr val="8ACFC4"/>
            </a:solidFill>
          </a:ln>
        </p:spPr>
        <p:txBody>
          <a:bodyPr wrap="square" lIns="635" tIns="635" rIns="635" bIns="635" rtlCol="0" anchor="ctr"/>
          <a:lstStyle/>
          <a:p>
            <a:pPr algn="ctr" indent="0" marL="0">
              <a:buNone/>
            </a:pPr>
            <a:r>
              <a:rPr lang="en-US" sz="2400" b="1" dirty="0">
                <a:solidFill>
                  <a:schemeClr val="tx2"/>
                </a:solidFill>
              </a:rPr>
              <a:t>28+ days</a:t>
            </a:r>
            <a:endParaRPr lang="en-US" sz="2400" dirty="0"/>
          </a:p>
          <a:p>
            <a:pPr algn="ctr" indent="0" marL="0">
              <a:buNone/>
            </a:pPr>
            <a:r>
              <a:rPr lang="en-US" sz="1300" dirty="0">
                <a:solidFill>
                  <a:schemeClr val="accent5"/>
                </a:solidFill>
              </a:rPr>
              <a:t>for the slowest 10%</a:t>
            </a:r>
            <a:endParaRPr lang="en-US" sz="2400" dirty="0"/>
          </a:p>
        </p:txBody>
      </p:sp>
      <p:sp>
        <p:nvSpPr>
          <p:cNvPr id="18" name="anim3_1_17"/>
          <p:cNvSpPr/>
          <p:nvPr/>
        </p:nvSpPr>
        <p:spPr>
          <a:xfrm>
            <a:off x="6181344" y="5193792"/>
            <a:ext cx="2606040" cy="1051560"/>
          </a:xfrm>
          <a:prstGeom prst="roundRect">
            <a:avLst>
              <a:gd name="adj" fmla="val 13043"/>
            </a:avLst>
          </a:prstGeom>
          <a:solidFill>
            <a:srgbClr val="FFFFFF"/>
          </a:solidFill>
          <a:ln w="15875">
            <a:solidFill>
              <a:srgbClr val="8ACFC4"/>
            </a:solidFill>
          </a:ln>
        </p:spPr>
        <p:txBody>
          <a:bodyPr wrap="square" lIns="635" tIns="635" rIns="635" bIns="635" rtlCol="0" anchor="ctr"/>
          <a:lstStyle/>
          <a:p>
            <a:pPr algn="ctr" indent="0" marL="0">
              <a:buNone/>
            </a:pPr>
            <a:r>
              <a:rPr lang="en-US" sz="2400" b="1" dirty="0">
                <a:solidFill>
                  <a:schemeClr val="tx2"/>
                </a:solidFill>
              </a:rPr>
              <a:t>41%</a:t>
            </a:r>
            <a:endParaRPr lang="en-US" sz="2400" dirty="0"/>
          </a:p>
          <a:p>
            <a:pPr algn="ctr" indent="0" marL="0">
              <a:buNone/>
            </a:pPr>
            <a:r>
              <a:rPr lang="en-US" sz="1300" dirty="0">
                <a:solidFill>
                  <a:schemeClr val="accent5"/>
                </a:solidFill>
              </a:rPr>
              <a:t>bounced back at least once</a:t>
            </a:r>
            <a:endParaRPr lang="en-US" sz="2400" dirty="0"/>
          </a:p>
        </p:txBody>
      </p:sp>
      <p:sp>
        <p:nvSpPr>
          <p:cNvPr id="19" name="anim3_1_18"/>
          <p:cNvSpPr/>
          <p:nvPr/>
        </p:nvSpPr>
        <p:spPr>
          <a:xfrm>
            <a:off x="8997696" y="5193792"/>
            <a:ext cx="2606040" cy="1051560"/>
          </a:xfrm>
          <a:prstGeom prst="roundRect">
            <a:avLst>
              <a:gd name="adj" fmla="val 13043"/>
            </a:avLst>
          </a:prstGeom>
          <a:solidFill>
            <a:srgbClr val="FFFFFF"/>
          </a:solidFill>
          <a:ln w="15875">
            <a:solidFill>
              <a:srgbClr val="8ACFC4"/>
            </a:solidFill>
          </a:ln>
        </p:spPr>
        <p:txBody>
          <a:bodyPr wrap="square" lIns="635" tIns="635" rIns="635" bIns="635" rtlCol="0" anchor="ctr"/>
          <a:lstStyle/>
          <a:p>
            <a:pPr algn="ctr" indent="0" marL="0">
              <a:buNone/>
            </a:pPr>
            <a:r>
              <a:rPr lang="en-US" sz="2400" b="1" dirty="0">
                <a:solidFill>
                  <a:schemeClr val="tx2"/>
                </a:solidFill>
              </a:rPr>
              <a:t>62%</a:t>
            </a:r>
            <a:endParaRPr lang="en-US" sz="2400" dirty="0"/>
          </a:p>
          <a:p>
            <a:pPr algn="ctr" indent="0" marL="0">
              <a:buNone/>
            </a:pPr>
            <a:r>
              <a:rPr lang="en-US" sz="1300" dirty="0">
                <a:solidFill>
                  <a:schemeClr val="accent5"/>
                </a:solidFill>
              </a:rPr>
              <a:t>of the time is waiting for approvers</a:t>
            </a:r>
            <a:endParaRPr lang="en-US" sz="2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par>
                          <p:cTn id="30"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par>
                          <p:cTn id="37" fill="hold">
                            <p:stCondLst>
                              <p:cond delay="16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childTnLst>
                          </p:cTn>
                        </p:par>
                      </p:childTnLst>
                    </p:cTn>
                  </p:par>
                  <p:par>
                    <p:cTn id="43" fill="hold">
                      <p:stCondLst>
                        <p:cond delay="indefinite"/>
                      </p:stCondLst>
                      <p:childTnLst>
                        <p:par>
                          <p:cTn id="42"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childTnLst>
                          </p:cTn>
                        </p:par>
                      </p:childTnLst>
                    </p:cTn>
                  </p:par>
                  <p:par>
                    <p:cTn id="61" fill="hold">
                      <p:stCondLst>
                        <p:cond delay="indefinite"/>
                      </p:stCondLst>
                      <p:childTnLst>
                        <p:par>
                          <p:cTn id="47"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00"/>
                                        <p:tgtEl>
                                          <p:spTgt spid="15"/>
                                        </p:tgtEl>
                                      </p:cBhvr>
                                    </p:animEffect>
                                  </p:childTnLst>
                                </p:cTn>
                              </p:par>
                            </p:childTnLst>
                          </p:cTn>
                        </p:par>
                        <p:par>
                          <p:cTn id="60" fill="hold">
                            <p:stCondLst>
                              <p:cond delay="400"/>
                            </p:stCondLst>
                            <p:childTnLst>
                              <p:par>
                                <p:cTn id="48" presetID="10" presetClass="entr" presetSubtype="0"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19"/>
                                        </p:tgtEl>
                                        <p:attrNameLst>
                                          <p:attrName>style.visibility</p:attrName>
                                        </p:attrNameLst>
                                      </p:cBhvr>
                                      <p:to>
                                        <p:strVal val="visible"/>
                                      </p:to>
                                    </p:set>
                                    <p:animEffect transition="in" filter="fade">
                                      <p:cBhvr>
                                        <p:cTn id="5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Five pain points, one root cause</a:t>
            </a:r>
            <a:endParaRPr lang="en-US" sz="3000" dirty="0"/>
          </a:p>
        </p:txBody>
      </p:sp>
      <p:sp>
        <p:nvSpPr>
          <p:cNvPr id="3" name="axis_19"/>
          <p:cNvSpPr/>
          <p:nvPr/>
        </p:nvSpPr>
        <p:spPr>
          <a:xfrm>
            <a:off x="822960" y="3429000"/>
            <a:ext cx="10515600" cy="0"/>
          </a:xfrm>
          <a:prstGeom prst="line">
            <a:avLst/>
          </a:prstGeom>
          <a:noFill/>
          <a:ln w="15875">
            <a:solidFill>
              <a:srgbClr val="64748B"/>
            </a:solidFill>
            <a:prstDash val="solid"/>
          </a:ln>
        </p:spPr>
      </p:sp>
      <p:sp>
        <p:nvSpPr>
          <p:cNvPr id="4" name="anim1_0_20"/>
          <p:cNvSpPr/>
          <p:nvPr/>
        </p:nvSpPr>
        <p:spPr>
          <a:xfrm>
            <a:off x="704088" y="2715768"/>
            <a:ext cx="1426464" cy="1426464"/>
          </a:xfrm>
          <a:prstGeom prst="ellipse">
            <a:avLst/>
          </a:prstGeom>
          <a:solidFill>
            <a:srgbClr val="0C2F3B"/>
          </a:solidFill>
          <a:ln/>
        </p:spPr>
        <p:txBody>
          <a:bodyPr wrap="square" lIns="0" tIns="0" rIns="0" bIns="0" rtlCol="0" anchor="ctr"/>
          <a:lstStyle/>
          <a:p>
            <a:pPr algn="ctr" indent="0" marL="0">
              <a:buNone/>
            </a:pPr>
            <a:r>
              <a:rPr lang="en-US" sz="1200" b="1" dirty="0">
                <a:solidFill>
                  <a:srgbClr val="FFFFFF"/>
                </a:solidFill>
              </a:rPr>
              <a:t>Data quality</a:t>
            </a:r>
            <a:endParaRPr lang="en-US" sz="1200" dirty="0"/>
          </a:p>
        </p:txBody>
      </p:sp>
      <p:sp>
        <p:nvSpPr>
          <p:cNvPr id="5" name="anim1_0_20"/>
          <p:cNvSpPr txBox="1"/>
          <p:nvPr/>
        </p:nvSpPr>
        <p:spPr>
          <a:xfrm>
            <a:off x="320040" y="1417320"/>
            <a:ext cx="2194560" cy="1188720"/>
          </a:xfrm>
          <a:prstGeom prst="rect">
            <a:avLst/>
          </a:prstGeom>
          <a:noFill/>
          <a:ln/>
        </p:spPr>
        <p:txBody>
          <a:bodyPr wrap="square" lIns="0" tIns="0" rIns="0" bIns="0" rtlCol="0" anchor="b"/>
          <a:lstStyle/>
          <a:p>
            <a:pPr algn="ctr" indent="0" marL="0">
              <a:buNone/>
            </a:pPr>
            <a:r>
              <a:rPr lang="en-US" sz="1400" dirty="0">
                <a:solidFill>
                  <a:schemeClr val="tx1"/>
                </a:solidFill>
              </a:rPr>
              <a:t>No standard form. Duplicates like 'NUH' slip through</a:t>
            </a:r>
            <a:endParaRPr lang="en-US" sz="1400" dirty="0"/>
          </a:p>
        </p:txBody>
      </p:sp>
      <p:sp>
        <p:nvSpPr>
          <p:cNvPr id="6" name="anim1_1_21"/>
          <p:cNvSpPr/>
          <p:nvPr/>
        </p:nvSpPr>
        <p:spPr>
          <a:xfrm>
            <a:off x="3035808" y="2715768"/>
            <a:ext cx="1426464" cy="1426464"/>
          </a:xfrm>
          <a:prstGeom prst="ellipse">
            <a:avLst/>
          </a:prstGeom>
          <a:solidFill>
            <a:srgbClr val="8ACFC4"/>
          </a:solidFill>
          <a:ln/>
        </p:spPr>
        <p:txBody>
          <a:bodyPr wrap="square" lIns="0" tIns="0" rIns="0" bIns="0" rtlCol="0" anchor="ctr"/>
          <a:lstStyle/>
          <a:p>
            <a:pPr algn="ctr" indent="0" marL="0">
              <a:buNone/>
            </a:pPr>
            <a:r>
              <a:rPr lang="en-US" sz="1200" b="1" dirty="0">
                <a:solidFill>
                  <a:schemeClr val="tx2"/>
                </a:solidFill>
              </a:rPr>
              <a:t>Speed</a:t>
            </a:r>
            <a:endParaRPr lang="en-US" sz="1200" dirty="0"/>
          </a:p>
        </p:txBody>
      </p:sp>
      <p:sp>
        <p:nvSpPr>
          <p:cNvPr id="7" name="anim1_1_21"/>
          <p:cNvSpPr txBox="1"/>
          <p:nvPr/>
        </p:nvSpPr>
        <p:spPr>
          <a:xfrm>
            <a:off x="2651760" y="4251960"/>
            <a:ext cx="2194560" cy="1188720"/>
          </a:xfrm>
          <a:prstGeom prst="rect">
            <a:avLst/>
          </a:prstGeom>
          <a:noFill/>
          <a:ln/>
        </p:spPr>
        <p:txBody>
          <a:bodyPr wrap="square" lIns="0" tIns="0" rIns="0" bIns="0" rtlCol="0" anchor="t"/>
          <a:lstStyle/>
          <a:p>
            <a:pPr algn="ctr" indent="0" marL="0">
              <a:buNone/>
            </a:pPr>
            <a:r>
              <a:rPr lang="en-US" sz="1400" dirty="0">
                <a:solidFill>
                  <a:schemeClr val="tx1"/>
                </a:solidFill>
              </a:rPr>
              <a:t>Approvers miss emails: 20–30 a day, like your SMU Outlook</a:t>
            </a:r>
            <a:endParaRPr lang="en-US" sz="1400" dirty="0"/>
          </a:p>
        </p:txBody>
      </p:sp>
      <p:sp>
        <p:nvSpPr>
          <p:cNvPr id="8" name="anim1_2_22"/>
          <p:cNvSpPr/>
          <p:nvPr/>
        </p:nvSpPr>
        <p:spPr>
          <a:xfrm>
            <a:off x="5367528" y="2715768"/>
            <a:ext cx="1426464" cy="1426464"/>
          </a:xfrm>
          <a:prstGeom prst="ellipse">
            <a:avLst/>
          </a:prstGeom>
          <a:solidFill>
            <a:srgbClr val="0C2F3B"/>
          </a:solidFill>
          <a:ln/>
        </p:spPr>
        <p:txBody>
          <a:bodyPr wrap="square" lIns="0" tIns="0" rIns="0" bIns="0" rtlCol="0" anchor="ctr"/>
          <a:lstStyle/>
          <a:p>
            <a:pPr algn="ctr" indent="0" marL="0">
              <a:buNone/>
            </a:pPr>
            <a:r>
              <a:rPr lang="en-US" sz="1200" b="1" dirty="0">
                <a:solidFill>
                  <a:srgbClr val="FFFFFF"/>
                </a:solidFill>
              </a:rPr>
              <a:t>Audit &amp; security</a:t>
            </a:r>
            <a:endParaRPr lang="en-US" sz="1200" dirty="0"/>
          </a:p>
        </p:txBody>
      </p:sp>
      <p:sp>
        <p:nvSpPr>
          <p:cNvPr id="9" name="anim1_2_22"/>
          <p:cNvSpPr txBox="1"/>
          <p:nvPr/>
        </p:nvSpPr>
        <p:spPr>
          <a:xfrm>
            <a:off x="4983480" y="1417320"/>
            <a:ext cx="2194560" cy="1188720"/>
          </a:xfrm>
          <a:prstGeom prst="rect">
            <a:avLst/>
          </a:prstGeom>
          <a:noFill/>
          <a:ln/>
        </p:spPr>
        <p:txBody>
          <a:bodyPr wrap="square" lIns="0" tIns="0" rIns="0" bIns="0" rtlCol="0" anchor="b"/>
          <a:lstStyle/>
          <a:p>
            <a:pPr algn="ctr" indent="0" marL="0">
              <a:buNone/>
            </a:pPr>
            <a:r>
              <a:rPr lang="en-US" sz="1400" dirty="0">
                <a:solidFill>
                  <a:schemeClr val="tx1"/>
                </a:solidFill>
              </a:rPr>
              <a:t>Approvals scattered in email. Bank details sent in plain email</a:t>
            </a:r>
            <a:endParaRPr lang="en-US" sz="1400" dirty="0"/>
          </a:p>
        </p:txBody>
      </p:sp>
      <p:sp>
        <p:nvSpPr>
          <p:cNvPr id="10" name="anim1_3_23"/>
          <p:cNvSpPr/>
          <p:nvPr/>
        </p:nvSpPr>
        <p:spPr>
          <a:xfrm>
            <a:off x="7699248" y="2715768"/>
            <a:ext cx="1426464" cy="1426464"/>
          </a:xfrm>
          <a:prstGeom prst="ellipse">
            <a:avLst/>
          </a:prstGeom>
          <a:solidFill>
            <a:srgbClr val="8ACFC4"/>
          </a:solidFill>
          <a:ln/>
        </p:spPr>
        <p:txBody>
          <a:bodyPr wrap="square" lIns="0" tIns="0" rIns="0" bIns="0" rtlCol="0" anchor="ctr"/>
          <a:lstStyle/>
          <a:p>
            <a:pPr algn="ctr" indent="0" marL="0">
              <a:buNone/>
            </a:pPr>
            <a:r>
              <a:rPr lang="en-US" sz="1200" b="1" dirty="0">
                <a:solidFill>
                  <a:schemeClr val="tx2"/>
                </a:solidFill>
              </a:rPr>
              <a:t>Flexibility</a:t>
            </a:r>
            <a:endParaRPr lang="en-US" sz="1200" dirty="0"/>
          </a:p>
        </p:txBody>
      </p:sp>
      <p:sp>
        <p:nvSpPr>
          <p:cNvPr id="11" name="anim1_3_23"/>
          <p:cNvSpPr txBox="1"/>
          <p:nvPr/>
        </p:nvSpPr>
        <p:spPr>
          <a:xfrm>
            <a:off x="7315200" y="4251960"/>
            <a:ext cx="2194560" cy="1188720"/>
          </a:xfrm>
          <a:prstGeom prst="rect">
            <a:avLst/>
          </a:prstGeom>
          <a:noFill/>
          <a:ln/>
        </p:spPr>
        <p:txBody>
          <a:bodyPr wrap="square" lIns="0" tIns="0" rIns="0" bIns="0" rtlCol="0" anchor="t"/>
          <a:lstStyle/>
          <a:p>
            <a:pPr algn="ctr" indent="0" marL="0">
              <a:buNone/>
            </a:pPr>
            <a:r>
              <a:rPr lang="en-US" sz="1400" dirty="0">
                <a:solidFill>
                  <a:schemeClr val="tx1"/>
                </a:solidFill>
              </a:rPr>
              <a:t>A new business unit means rewriting templates and lists</a:t>
            </a:r>
            <a:endParaRPr lang="en-US" sz="1400" dirty="0"/>
          </a:p>
        </p:txBody>
      </p:sp>
      <p:sp>
        <p:nvSpPr>
          <p:cNvPr id="12" name="anim1_4_24"/>
          <p:cNvSpPr/>
          <p:nvPr/>
        </p:nvSpPr>
        <p:spPr>
          <a:xfrm>
            <a:off x="10030968" y="2715768"/>
            <a:ext cx="1426464" cy="1426464"/>
          </a:xfrm>
          <a:prstGeom prst="ellipse">
            <a:avLst/>
          </a:prstGeom>
          <a:solidFill>
            <a:srgbClr val="0C2F3B"/>
          </a:solidFill>
          <a:ln/>
        </p:spPr>
        <p:txBody>
          <a:bodyPr wrap="square" lIns="0" tIns="0" rIns="0" bIns="0" rtlCol="0" anchor="ctr"/>
          <a:lstStyle/>
          <a:p>
            <a:pPr algn="ctr" indent="0" marL="0">
              <a:buNone/>
            </a:pPr>
            <a:r>
              <a:rPr lang="en-US" sz="1200" b="1" dirty="0">
                <a:solidFill>
                  <a:srgbClr val="FFFFFF"/>
                </a:solidFill>
              </a:rPr>
              <a:t>Forecasting</a:t>
            </a:r>
            <a:endParaRPr lang="en-US" sz="1200" dirty="0"/>
          </a:p>
        </p:txBody>
      </p:sp>
      <p:sp>
        <p:nvSpPr>
          <p:cNvPr id="13" name="anim1_4_24"/>
          <p:cNvSpPr txBox="1"/>
          <p:nvPr/>
        </p:nvSpPr>
        <p:spPr>
          <a:xfrm>
            <a:off x="9646920" y="1417320"/>
            <a:ext cx="2194560" cy="1188720"/>
          </a:xfrm>
          <a:prstGeom prst="rect">
            <a:avLst/>
          </a:prstGeom>
          <a:noFill/>
          <a:ln/>
        </p:spPr>
        <p:txBody>
          <a:bodyPr wrap="square" lIns="0" tIns="0" rIns="0" bIns="0" rtlCol="0" anchor="b"/>
          <a:lstStyle/>
          <a:p>
            <a:pPr algn="ctr" indent="0" marL="0">
              <a:buNone/>
            </a:pPr>
            <a:r>
              <a:rPr lang="en-US" sz="1400" dirty="0">
                <a:solidFill>
                  <a:schemeClr val="tx1"/>
                </a:solidFill>
              </a:rPr>
              <a:t>A 6-month average misses seasons, drop-offs, cross-sell</a:t>
            </a:r>
            <a:endParaRPr lang="en-US" sz="1400" dirty="0"/>
          </a:p>
        </p:txBody>
      </p:sp>
      <p:sp>
        <p:nvSpPr>
          <p:cNvPr id="14" name="anim2_0_25"/>
          <p:cNvSpPr/>
          <p:nvPr/>
        </p:nvSpPr>
        <p:spPr>
          <a:xfrm>
            <a:off x="548640" y="5577840"/>
            <a:ext cx="11064240" cy="658368"/>
          </a:xfrm>
          <a:prstGeom prst="roundRect">
            <a:avLst>
              <a:gd name="adj" fmla="val 50000"/>
            </a:avLst>
          </a:prstGeom>
          <a:solidFill>
            <a:srgbClr val="0C2F3B"/>
          </a:solidFill>
          <a:ln/>
        </p:spPr>
        <p:txBody>
          <a:bodyPr wrap="square" lIns="0" tIns="0" rIns="0" bIns="0" rtlCol="0" anchor="ctr"/>
          <a:lstStyle/>
          <a:p>
            <a:pPr algn="ctr" indent="0" marL="0">
              <a:buNone/>
            </a:pPr>
            <a:r>
              <a:rPr lang="en-US" sz="1600" b="1" dirty="0">
                <a:solidFill>
                  <a:srgbClr val="8ACFC4"/>
                </a:solidFill>
              </a:rPr>
              <a:t>Root cause:  </a:t>
            </a:r>
            <a:pPr algn="ctr" indent="0" marL="0">
              <a:buNone/>
            </a:pPr>
            <a:r>
              <a:rPr lang="en-US" sz="1600" dirty="0">
                <a:solidFill>
                  <a:srgbClr val="FFFFFF"/>
                </a:solidFill>
              </a:rPr>
              <a:t>bad data gets in at the setup request, and ends up as wrong sales decisions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par>
                          <p:cTn id="30"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par>
                          <p:cTn id="37" fill="hold">
                            <p:stCondLst>
                              <p:cond delay="1600"/>
                            </p:stCondLst>
                            <p:childTnLst>
                              <p:par>
                                <p:cTn id="31" presetID="10" presetClass="entr" presetSubtype="0" fill="hold" grpId="0" nodeType="after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childTnLst>
                          </p:cTn>
                        </p:par>
                      </p:childTnLst>
                    </p:cTn>
                  </p:par>
                  <p:par>
                    <p:cTn id="43" fill="hold">
                      <p:stCondLst>
                        <p:cond delay="indefinite"/>
                      </p:stCondLst>
                      <p:childTnLst>
                        <p:par>
                          <p:cTn id="42"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fade">
                                      <p:cBhvr>
                                        <p:cTn id="41"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Why OneRecord on Microsoft 365</a:t>
            </a:r>
            <a:endParaRPr lang="en-US" sz="3000" dirty="0"/>
          </a:p>
        </p:txBody>
      </p:sp>
      <p:sp>
        <p:nvSpPr>
          <p:cNvPr id="3" name="Text 1"/>
          <p:cNvSpPr txBox="1"/>
          <p:nvPr/>
        </p:nvSpPr>
        <p:spPr>
          <a:xfrm>
            <a:off x="3429000" y="1371600"/>
            <a:ext cx="1920240" cy="365760"/>
          </a:xfrm>
          <a:prstGeom prst="rect">
            <a:avLst/>
          </a:prstGeom>
          <a:noFill/>
          <a:ln/>
        </p:spPr>
        <p:txBody>
          <a:bodyPr wrap="square" lIns="0" tIns="0" rIns="0" bIns="0" rtlCol="0" anchor="t"/>
          <a:lstStyle/>
          <a:p>
            <a:pPr algn="ctr" indent="0" marL="0">
              <a:buNone/>
            </a:pPr>
            <a:r>
              <a:rPr lang="en-US" sz="1400" b="1" dirty="0">
                <a:solidFill>
                  <a:schemeClr val="accent1"/>
                </a:solidFill>
              </a:rPr>
              <a:t>Year-1 cost</a:t>
            </a:r>
            <a:endParaRPr lang="en-US" sz="1400" dirty="0"/>
          </a:p>
        </p:txBody>
      </p:sp>
      <p:sp>
        <p:nvSpPr>
          <p:cNvPr id="4" name="Text 2"/>
          <p:cNvSpPr txBox="1"/>
          <p:nvPr/>
        </p:nvSpPr>
        <p:spPr>
          <a:xfrm>
            <a:off x="5486400" y="1371600"/>
            <a:ext cx="1920240" cy="365760"/>
          </a:xfrm>
          <a:prstGeom prst="rect">
            <a:avLst/>
          </a:prstGeom>
          <a:noFill/>
          <a:ln/>
        </p:spPr>
        <p:txBody>
          <a:bodyPr wrap="square" lIns="0" tIns="0" rIns="0" bIns="0" rtlCol="0" anchor="t"/>
          <a:lstStyle/>
          <a:p>
            <a:pPr algn="ctr" indent="0" marL="0">
              <a:buNone/>
            </a:pPr>
            <a:r>
              <a:rPr lang="en-US" sz="1400" b="1" dirty="0">
                <a:solidFill>
                  <a:schemeClr val="accent1"/>
                </a:solidFill>
              </a:rPr>
              <a:t>Time to build</a:t>
            </a:r>
            <a:endParaRPr lang="en-US" sz="1400" dirty="0"/>
          </a:p>
        </p:txBody>
      </p:sp>
      <p:sp>
        <p:nvSpPr>
          <p:cNvPr id="5" name="Text 3"/>
          <p:cNvSpPr txBox="1"/>
          <p:nvPr/>
        </p:nvSpPr>
        <p:spPr>
          <a:xfrm>
            <a:off x="7543800" y="1371600"/>
            <a:ext cx="1920240" cy="365760"/>
          </a:xfrm>
          <a:prstGeom prst="rect">
            <a:avLst/>
          </a:prstGeom>
          <a:noFill/>
          <a:ln/>
        </p:spPr>
        <p:txBody>
          <a:bodyPr wrap="square" lIns="0" tIns="0" rIns="0" bIns="0" rtlCol="0" anchor="t"/>
          <a:lstStyle/>
          <a:p>
            <a:pPr algn="ctr" indent="0" marL="0">
              <a:buNone/>
            </a:pPr>
            <a:r>
              <a:rPr lang="en-US" sz="1400" b="1" dirty="0">
                <a:solidFill>
                  <a:schemeClr val="accent1"/>
                </a:solidFill>
              </a:rPr>
              <a:t>Needs developers?</a:t>
            </a:r>
            <a:endParaRPr lang="en-US" sz="1400" dirty="0"/>
          </a:p>
        </p:txBody>
      </p:sp>
      <p:sp>
        <p:nvSpPr>
          <p:cNvPr id="6" name="Text 4"/>
          <p:cNvSpPr txBox="1"/>
          <p:nvPr/>
        </p:nvSpPr>
        <p:spPr>
          <a:xfrm>
            <a:off x="9601200" y="1371600"/>
            <a:ext cx="1920240" cy="365760"/>
          </a:xfrm>
          <a:prstGeom prst="rect">
            <a:avLst/>
          </a:prstGeom>
          <a:noFill/>
          <a:ln/>
        </p:spPr>
        <p:txBody>
          <a:bodyPr wrap="square" lIns="0" tIns="0" rIns="0" bIns="0" rtlCol="0" anchor="t"/>
          <a:lstStyle/>
          <a:p>
            <a:pPr algn="ctr" indent="0" marL="0">
              <a:buNone/>
            </a:pPr>
            <a:r>
              <a:rPr lang="en-US" sz="1400" b="1" dirty="0">
                <a:solidFill>
                  <a:schemeClr val="accent1"/>
                </a:solidFill>
              </a:rPr>
              <a:t>Stops bad data at entry?</a:t>
            </a:r>
            <a:endParaRPr lang="en-US" sz="1400" dirty="0"/>
          </a:p>
        </p:txBody>
      </p:sp>
      <p:sp>
        <p:nvSpPr>
          <p:cNvPr id="7" name="anim1_0_26"/>
          <p:cNvSpPr/>
          <p:nvPr/>
        </p:nvSpPr>
        <p:spPr>
          <a:xfrm>
            <a:off x="548640" y="1874520"/>
            <a:ext cx="2697480" cy="914400"/>
          </a:xfrm>
          <a:prstGeom prst="roundRect">
            <a:avLst>
              <a:gd name="adj" fmla="val 50000"/>
            </a:avLst>
          </a:prstGeom>
          <a:solidFill>
            <a:srgbClr val="8ACFC4"/>
          </a:solidFill>
          <a:ln/>
        </p:spPr>
        <p:txBody>
          <a:bodyPr wrap="square" lIns="1270" tIns="1270" rIns="1270" bIns="1270" rtlCol="0" anchor="ctr"/>
          <a:lstStyle/>
          <a:p>
            <a:pPr algn="ctr" indent="0" marL="0">
              <a:buNone/>
            </a:pPr>
            <a:r>
              <a:rPr lang="en-US" sz="1400" b="1" dirty="0">
                <a:solidFill>
                  <a:schemeClr val="tx2"/>
                </a:solidFill>
              </a:rPr>
              <a:t>Better email template</a:t>
            </a:r>
            <a:endParaRPr lang="en-US" sz="1400" dirty="0"/>
          </a:p>
        </p:txBody>
      </p:sp>
      <p:sp>
        <p:nvSpPr>
          <p:cNvPr id="8" name="anim1_0_26"/>
          <p:cNvSpPr/>
          <p:nvPr/>
        </p:nvSpPr>
        <p:spPr>
          <a:xfrm>
            <a:off x="3429000" y="187452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Almost nil</a:t>
            </a:r>
            <a:endParaRPr lang="en-US" sz="1300" dirty="0"/>
          </a:p>
        </p:txBody>
      </p:sp>
      <p:sp>
        <p:nvSpPr>
          <p:cNvPr id="9" name="anim1_0_26"/>
          <p:cNvSpPr/>
          <p:nvPr/>
        </p:nvSpPr>
        <p:spPr>
          <a:xfrm>
            <a:off x="5486400" y="187452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Days</a:t>
            </a:r>
            <a:endParaRPr lang="en-US" sz="1300" dirty="0"/>
          </a:p>
        </p:txBody>
      </p:sp>
      <p:sp>
        <p:nvSpPr>
          <p:cNvPr id="10" name="anim1_0_26"/>
          <p:cNvSpPr/>
          <p:nvPr/>
        </p:nvSpPr>
        <p:spPr>
          <a:xfrm>
            <a:off x="7543800" y="187452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No</a:t>
            </a:r>
            <a:endParaRPr lang="en-US" sz="1300" dirty="0"/>
          </a:p>
        </p:txBody>
      </p:sp>
      <p:sp>
        <p:nvSpPr>
          <p:cNvPr id="11" name="anim1_0_26"/>
          <p:cNvSpPr/>
          <p:nvPr/>
        </p:nvSpPr>
        <p:spPr>
          <a:xfrm>
            <a:off x="9601200" y="187452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No: nothing enforces it</a:t>
            </a:r>
            <a:endParaRPr lang="en-US" sz="1300" dirty="0"/>
          </a:p>
        </p:txBody>
      </p:sp>
      <p:sp>
        <p:nvSpPr>
          <p:cNvPr id="12" name="anim1_1_27"/>
          <p:cNvSpPr/>
          <p:nvPr/>
        </p:nvSpPr>
        <p:spPr>
          <a:xfrm>
            <a:off x="548640" y="3063240"/>
            <a:ext cx="2697480" cy="914400"/>
          </a:xfrm>
          <a:prstGeom prst="roundRect">
            <a:avLst>
              <a:gd name="adj" fmla="val 50000"/>
            </a:avLst>
          </a:prstGeom>
          <a:solidFill>
            <a:srgbClr val="8ACFC4"/>
          </a:solidFill>
          <a:ln/>
        </p:spPr>
        <p:txBody>
          <a:bodyPr wrap="square" lIns="1270" tIns="1270" rIns="1270" bIns="1270" rtlCol="0" anchor="ctr"/>
          <a:lstStyle/>
          <a:p>
            <a:pPr algn="ctr" indent="0" marL="0">
              <a:buNone/>
            </a:pPr>
            <a:r>
              <a:rPr lang="en-US" sz="1400" b="1" dirty="0">
                <a:solidFill>
                  <a:schemeClr val="tx2"/>
                </a:solidFill>
              </a:rPr>
              <a:t>Custom portal</a:t>
            </a:r>
            <a:endParaRPr lang="en-US" sz="1400" dirty="0"/>
          </a:p>
        </p:txBody>
      </p:sp>
      <p:sp>
        <p:nvSpPr>
          <p:cNvPr id="13" name="anim1_1_27"/>
          <p:cNvSpPr/>
          <p:nvPr/>
        </p:nvSpPr>
        <p:spPr>
          <a:xfrm>
            <a:off x="3429000" y="306324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High</a:t>
            </a:r>
            <a:endParaRPr lang="en-US" sz="1300" dirty="0"/>
          </a:p>
        </p:txBody>
      </p:sp>
      <p:sp>
        <p:nvSpPr>
          <p:cNvPr id="14" name="anim1_1_27"/>
          <p:cNvSpPr/>
          <p:nvPr/>
        </p:nvSpPr>
        <p:spPr>
          <a:xfrm>
            <a:off x="5486400" y="306324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Months</a:t>
            </a:r>
            <a:endParaRPr lang="en-US" sz="1300" dirty="0"/>
          </a:p>
        </p:txBody>
      </p:sp>
      <p:sp>
        <p:nvSpPr>
          <p:cNvPr id="15" name="anim1_1_27"/>
          <p:cNvSpPr/>
          <p:nvPr/>
        </p:nvSpPr>
        <p:spPr>
          <a:xfrm>
            <a:off x="7543800" y="306324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Yes, which Lives Group doesn't have</a:t>
            </a:r>
            <a:endParaRPr lang="en-US" sz="1300" dirty="0"/>
          </a:p>
        </p:txBody>
      </p:sp>
      <p:sp>
        <p:nvSpPr>
          <p:cNvPr id="16" name="anim1_1_27"/>
          <p:cNvSpPr/>
          <p:nvPr/>
        </p:nvSpPr>
        <p:spPr>
          <a:xfrm>
            <a:off x="9601200" y="3063240"/>
            <a:ext cx="1920240" cy="914400"/>
          </a:xfrm>
          <a:prstGeom prst="roundRect">
            <a:avLst>
              <a:gd name="adj" fmla="val 50000"/>
            </a:avLst>
          </a:prstGeom>
          <a:solidFill>
            <a:srgbClr val="FFFFFF"/>
          </a:solidFill>
          <a:ln w="15875">
            <a:solidFill>
              <a:srgbClr val="8ACFC4"/>
            </a:solidFill>
          </a:ln>
        </p:spPr>
        <p:txBody>
          <a:bodyPr wrap="square" lIns="1016" tIns="1016" rIns="1016" bIns="1016" rtlCol="0" anchor="ctr"/>
          <a:lstStyle/>
          <a:p>
            <a:pPr algn="ctr" indent="0" marL="0">
              <a:buNone/>
            </a:pPr>
            <a:r>
              <a:rPr lang="en-US" sz="1300" dirty="0">
                <a:solidFill>
                  <a:schemeClr val="tx1"/>
                </a:solidFill>
              </a:rPr>
              <a:t>Yes</a:t>
            </a:r>
            <a:endParaRPr lang="en-US" sz="1300" dirty="0"/>
          </a:p>
        </p:txBody>
      </p:sp>
      <p:sp>
        <p:nvSpPr>
          <p:cNvPr id="17" name="anim2_0_28"/>
          <p:cNvSpPr/>
          <p:nvPr/>
        </p:nvSpPr>
        <p:spPr>
          <a:xfrm>
            <a:off x="548640" y="4251960"/>
            <a:ext cx="2697480" cy="914400"/>
          </a:xfrm>
          <a:prstGeom prst="roundRect">
            <a:avLst>
              <a:gd name="adj" fmla="val 50000"/>
            </a:avLst>
          </a:prstGeom>
          <a:solidFill>
            <a:srgbClr val="0F766E"/>
          </a:solidFill>
          <a:ln/>
        </p:spPr>
        <p:txBody>
          <a:bodyPr wrap="square" lIns="1270" tIns="1270" rIns="1270" bIns="1270" rtlCol="0" anchor="ctr"/>
          <a:lstStyle/>
          <a:p>
            <a:pPr algn="ctr" indent="0" marL="0">
              <a:buNone/>
            </a:pPr>
            <a:r>
              <a:rPr lang="en-US" sz="1400" b="1" dirty="0">
                <a:solidFill>
                  <a:srgbClr val="FFFFFF"/>
                </a:solidFill>
              </a:rPr>
              <a:t>OneRecord on M365 (our pick)</a:t>
            </a:r>
            <a:endParaRPr lang="en-US" sz="1400" dirty="0"/>
          </a:p>
        </p:txBody>
      </p:sp>
      <p:sp>
        <p:nvSpPr>
          <p:cNvPr id="18" name="anim2_0_28"/>
          <p:cNvSpPr/>
          <p:nvPr/>
        </p:nvSpPr>
        <p:spPr>
          <a:xfrm>
            <a:off x="3429000" y="4251960"/>
            <a:ext cx="1920240" cy="914400"/>
          </a:xfrm>
          <a:prstGeom prst="roundRect">
            <a:avLst>
              <a:gd name="adj" fmla="val 50000"/>
            </a:avLst>
          </a:prstGeom>
          <a:solidFill>
            <a:srgbClr val="0C2F3B"/>
          </a:solidFill>
          <a:ln w="15875">
            <a:solidFill>
              <a:srgbClr val="0C2F3B"/>
            </a:solidFill>
          </a:ln>
        </p:spPr>
        <p:txBody>
          <a:bodyPr wrap="square" lIns="1016" tIns="1016" rIns="1016" bIns="1016" rtlCol="0" anchor="ctr"/>
          <a:lstStyle/>
          <a:p>
            <a:pPr algn="ctr" indent="0" marL="0">
              <a:buNone/>
            </a:pPr>
            <a:r>
              <a:rPr lang="en-US" sz="1300" b="1" dirty="0">
                <a:solidFill>
                  <a:srgbClr val="FFFFFF"/>
                </a:solidFill>
              </a:rPr>
              <a:t>S$58k</a:t>
            </a:r>
            <a:endParaRPr lang="en-US" sz="1300" dirty="0"/>
          </a:p>
        </p:txBody>
      </p:sp>
      <p:sp>
        <p:nvSpPr>
          <p:cNvPr id="19" name="anim2_0_28"/>
          <p:cNvSpPr/>
          <p:nvPr/>
        </p:nvSpPr>
        <p:spPr>
          <a:xfrm>
            <a:off x="5486400" y="4251960"/>
            <a:ext cx="1920240" cy="914400"/>
          </a:xfrm>
          <a:prstGeom prst="roundRect">
            <a:avLst>
              <a:gd name="adj" fmla="val 50000"/>
            </a:avLst>
          </a:prstGeom>
          <a:solidFill>
            <a:srgbClr val="0C2F3B"/>
          </a:solidFill>
          <a:ln w="15875">
            <a:solidFill>
              <a:srgbClr val="0C2F3B"/>
            </a:solidFill>
          </a:ln>
        </p:spPr>
        <p:txBody>
          <a:bodyPr wrap="square" lIns="1016" tIns="1016" rIns="1016" bIns="1016" rtlCol="0" anchor="ctr"/>
          <a:lstStyle/>
          <a:p>
            <a:pPr algn="ctr" indent="0" marL="0">
              <a:buNone/>
            </a:pPr>
            <a:r>
              <a:rPr lang="en-US" sz="1300" b="1" dirty="0">
                <a:solidFill>
                  <a:srgbClr val="FFFFFF"/>
                </a:solidFill>
              </a:rPr>
              <a:t>~10 weeks</a:t>
            </a:r>
            <a:endParaRPr lang="en-US" sz="1300" dirty="0"/>
          </a:p>
        </p:txBody>
      </p:sp>
      <p:sp>
        <p:nvSpPr>
          <p:cNvPr id="20" name="anim2_0_28"/>
          <p:cNvSpPr/>
          <p:nvPr/>
        </p:nvSpPr>
        <p:spPr>
          <a:xfrm>
            <a:off x="7543800" y="4251960"/>
            <a:ext cx="1920240" cy="914400"/>
          </a:xfrm>
          <a:prstGeom prst="roundRect">
            <a:avLst>
              <a:gd name="adj" fmla="val 50000"/>
            </a:avLst>
          </a:prstGeom>
          <a:solidFill>
            <a:srgbClr val="0C2F3B"/>
          </a:solidFill>
          <a:ln w="15875">
            <a:solidFill>
              <a:srgbClr val="0C2F3B"/>
            </a:solidFill>
          </a:ln>
        </p:spPr>
        <p:txBody>
          <a:bodyPr wrap="square" lIns="1016" tIns="1016" rIns="1016" bIns="1016" rtlCol="0" anchor="ctr"/>
          <a:lstStyle/>
          <a:p>
            <a:pPr algn="ctr" indent="0" marL="0">
              <a:buNone/>
            </a:pPr>
            <a:r>
              <a:rPr lang="en-US" sz="1300" b="1" dirty="0">
                <a:solidFill>
                  <a:srgbClr val="FFFFFF"/>
                </a:solidFill>
              </a:rPr>
              <a:t>No: IT 2 days, one-off</a:t>
            </a:r>
            <a:endParaRPr lang="en-US" sz="1300" dirty="0"/>
          </a:p>
        </p:txBody>
      </p:sp>
      <p:sp>
        <p:nvSpPr>
          <p:cNvPr id="21" name="anim2_0_28"/>
          <p:cNvSpPr/>
          <p:nvPr/>
        </p:nvSpPr>
        <p:spPr>
          <a:xfrm>
            <a:off x="9601200" y="4251960"/>
            <a:ext cx="1920240" cy="914400"/>
          </a:xfrm>
          <a:prstGeom prst="roundRect">
            <a:avLst>
              <a:gd name="adj" fmla="val 50000"/>
            </a:avLst>
          </a:prstGeom>
          <a:solidFill>
            <a:srgbClr val="0C2F3B"/>
          </a:solidFill>
          <a:ln w="15875">
            <a:solidFill>
              <a:srgbClr val="0C2F3B"/>
            </a:solidFill>
          </a:ln>
        </p:spPr>
        <p:txBody>
          <a:bodyPr wrap="square" lIns="1016" tIns="1016" rIns="1016" bIns="1016" rtlCol="0" anchor="ctr"/>
          <a:lstStyle/>
          <a:p>
            <a:pPr algn="ctr" indent="0" marL="0">
              <a:buNone/>
            </a:pPr>
            <a:r>
              <a:rPr lang="en-US" sz="1300" b="1" dirty="0">
                <a:solidFill>
                  <a:srgbClr val="FFFFFF"/>
                </a:solidFill>
              </a:rPr>
              <a:t>Yes, while typing</a:t>
            </a:r>
            <a:endParaRPr lang="en-US" sz="1300" dirty="0"/>
          </a:p>
        </p:txBody>
      </p:sp>
      <p:sp>
        <p:nvSpPr>
          <p:cNvPr id="22" name="anim3_0_29"/>
          <p:cNvSpPr txBox="1"/>
          <p:nvPr/>
        </p:nvSpPr>
        <p:spPr>
          <a:xfrm>
            <a:off x="548640" y="5532120"/>
            <a:ext cx="11064240" cy="548640"/>
          </a:xfrm>
          <a:prstGeom prst="rect">
            <a:avLst/>
          </a:prstGeom>
          <a:noFill/>
          <a:ln/>
        </p:spPr>
        <p:txBody>
          <a:bodyPr wrap="square" lIns="0" tIns="0" rIns="0" bIns="0" rtlCol="0" anchor="ctr"/>
          <a:lstStyle/>
          <a:p>
            <a:pPr algn="ctr" indent="0" marL="0">
              <a:buNone/>
            </a:pPr>
            <a:r>
              <a:rPr lang="en-US" sz="1600" i="1" dirty="0">
                <a:solidFill>
                  <a:schemeClr val="accent1"/>
                </a:solidFill>
              </a:rPr>
              <a:t>Already licensed, the MDM team can change it themselves, and it fixes data where it enters.</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5" fill="hold">
                      <p:stCondLst>
                        <p:cond delay="indefinite"/>
                      </p:stCondLst>
                      <p:childTnLst>
                        <p:par>
                          <p:cTn id="18"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7"/>
                                        </p:tgtEl>
                                        <p:attrNameLst>
                                          <p:attrName>style.visibility</p:attrName>
                                        </p:attrNameLst>
                                      </p:cBhvr>
                                      <p:to>
                                        <p:strVal val="visible"/>
                                      </p:to>
                                    </p:set>
                                    <p:animEffect transition="in" filter="fade">
                                      <p:cBhvr>
                                        <p:cTn id="5" dur="400"/>
                                        <p:tgtEl>
                                          <p:spTgt spid="7"/>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fade">
                                      <p:cBhvr>
                                        <p:cTn id="8" dur="4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par>
                                <p:cTn id="12" presetID="10" presetClass="entr" presetSubtype="0"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fade">
                                      <p:cBhvr>
                                        <p:cTn id="14" dur="400"/>
                                        <p:tgtEl>
                                          <p:spTgt spid="1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400"/>
                                        <p:tgtEl>
                                          <p:spTgt spid="11"/>
                                        </p:tgtEl>
                                      </p:cBhvr>
                                    </p:animEffect>
                                  </p:childTnLst>
                                </p:cTn>
                              </p:par>
                            </p:childTnLst>
                          </p:cTn>
                        </p:par>
                        <p:par>
                          <p:cTn id="34" fill="hold">
                            <p:stCondLst>
                              <p:cond delay="400"/>
                            </p:stCondLst>
                            <p:childTnLst>
                              <p:par>
                                <p:cTn id="19" presetID="10" presetClass="entr" presetSubtype="0" fill="hold" grpId="0" nodeType="after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fade">
                                      <p:cBhvr>
                                        <p:cTn id="21" dur="400"/>
                                        <p:tgtEl>
                                          <p:spTgt spid="12"/>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400"/>
                                        <p:tgtEl>
                                          <p:spTgt spid="13"/>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animEffect transition="in" filter="fade">
                                      <p:cBhvr>
                                        <p:cTn id="27" dur="400"/>
                                        <p:tgtEl>
                                          <p:spTgt spid="14"/>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5"/>
                                        </p:tgtEl>
                                        <p:attrNameLst>
                                          <p:attrName>style.visibility</p:attrName>
                                        </p:attrNameLst>
                                      </p:cBhvr>
                                      <p:to>
                                        <p:strVal val="visible"/>
                                      </p:to>
                                    </p:set>
                                    <p:animEffect transition="in" filter="fade">
                                      <p:cBhvr>
                                        <p:cTn id="30" dur="400"/>
                                        <p:tgtEl>
                                          <p:spTgt spid="15"/>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400"/>
                                        <p:tgtEl>
                                          <p:spTgt spid="16"/>
                                        </p:tgtEl>
                                      </p:cBhvr>
                                    </p:animEffect>
                                  </p:childTnLst>
                                </p:cTn>
                              </p:par>
                            </p:childTnLst>
                          </p:cTn>
                        </p:par>
                      </p:childTnLst>
                    </p:cTn>
                  </p:par>
                  <p:par>
                    <p:cTn id="52" fill="hold">
                      <p:stCondLst>
                        <p:cond delay="indefinite"/>
                      </p:stCondLst>
                      <p:childTnLst>
                        <p:par>
                          <p:cTn id="51"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7"/>
                                        </p:tgtEl>
                                        <p:attrNameLst>
                                          <p:attrName>style.visibility</p:attrName>
                                        </p:attrNameLst>
                                      </p:cBhvr>
                                      <p:to>
                                        <p:strVal val="visible"/>
                                      </p:to>
                                    </p:set>
                                    <p:animEffect transition="in" filter="fade">
                                      <p:cBhvr>
                                        <p:cTn id="38" dur="400"/>
                                        <p:tgtEl>
                                          <p:spTgt spid="17"/>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animEffect transition="in" filter="fade">
                                      <p:cBhvr>
                                        <p:cTn id="41" dur="400"/>
                                        <p:tgtEl>
                                          <p:spTgt spid="18"/>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9"/>
                                        </p:tgtEl>
                                        <p:attrNameLst>
                                          <p:attrName>style.visibility</p:attrName>
                                        </p:attrNameLst>
                                      </p:cBhvr>
                                      <p:to>
                                        <p:strVal val="visible"/>
                                      </p:to>
                                    </p:set>
                                    <p:animEffect transition="in" filter="fade">
                                      <p:cBhvr>
                                        <p:cTn id="44" dur="400"/>
                                        <p:tgtEl>
                                          <p:spTgt spid="19"/>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fade">
                                      <p:cBhvr>
                                        <p:cTn id="47" dur="400"/>
                                        <p:tgtEl>
                                          <p:spTgt spid="20"/>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400"/>
                                        <p:tgtEl>
                                          <p:spTgt spid="21"/>
                                        </p:tgtEl>
                                      </p:cBhvr>
                                    </p:animEffect>
                                  </p:childTnLst>
                                </p:cTn>
                              </p:par>
                            </p:childTnLst>
                          </p:cTn>
                        </p:par>
                      </p:childTnLst>
                    </p:cTn>
                  </p:par>
                  <p:par>
                    <p:cTn id="57" fill="hold">
                      <p:stCondLst>
                        <p:cond delay="indefinite"/>
                      </p:stCondLst>
                      <p:childTnLst>
                        <p:par>
                          <p:cTn id="56" fill="hold">
                            <p:stCondLst>
                              <p:cond delay="0"/>
                            </p:stCondLst>
                            <p:childTnLst>
                              <p:par>
                                <p:cTn id="53" presetID="10" presetClass="entr" presetSubtype="0" fill="hold" grpId="0" nodeType="clickEffect">
                                  <p:stCondLst>
                                    <p:cond delay="0"/>
                                  </p:stCondLst>
                                  <p:childTnLst>
                                    <p:set>
                                      <p:cBhvr>
                                        <p:cTn id="54" dur="1" fill="hold">
                                          <p:stCondLst>
                                            <p:cond delay="0"/>
                                          </p:stCondLst>
                                        </p:cTn>
                                        <p:tgtEl>
                                          <p:spTgt spid="22"/>
                                        </p:tgtEl>
                                        <p:attrNameLst>
                                          <p:attrName>style.visibility</p:attrName>
                                        </p:attrNameLst>
                                      </p:cBhvr>
                                      <p:to>
                                        <p:strVal val="visible"/>
                                      </p:to>
                                    </p:set>
                                    <p:animEffect transition="in" filter="fade">
                                      <p:cBhvr>
                                        <p:cTn id="55"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What we deliberately left out of version 1</a:t>
            </a:r>
            <a:endParaRPr lang="en-US" sz="3000" dirty="0"/>
          </a:p>
        </p:txBody>
      </p:sp>
      <p:sp>
        <p:nvSpPr>
          <p:cNvPr id="3" name="Text 1"/>
          <p:cNvSpPr/>
          <p:nvPr/>
        </p:nvSpPr>
        <p:spPr>
          <a:xfrm>
            <a:off x="548640" y="1280160"/>
            <a:ext cx="3383280" cy="457200"/>
          </a:xfrm>
          <a:prstGeom prst="roundRect">
            <a:avLst>
              <a:gd name="adj" fmla="val 60000"/>
            </a:avLst>
          </a:prstGeom>
          <a:solidFill>
            <a:srgbClr val="0C2F3B"/>
          </a:solidFill>
          <a:ln/>
        </p:spPr>
        <p:txBody>
          <a:bodyPr wrap="square" lIns="1016" tIns="1016" rIns="1016" bIns="1016" rtlCol="0" anchor="ctr"/>
          <a:lstStyle/>
          <a:p>
            <a:pPr algn="ctr" indent="0" marL="0">
              <a:buNone/>
            </a:pPr>
            <a:r>
              <a:rPr lang="en-US" sz="1400" b="1" dirty="0">
                <a:solidFill>
                  <a:srgbClr val="FFFFFF"/>
                </a:solidFill>
              </a:rPr>
              <a:t>Not in V1</a:t>
            </a:r>
            <a:endParaRPr lang="en-US" sz="1400" dirty="0"/>
          </a:p>
        </p:txBody>
      </p:sp>
      <p:sp>
        <p:nvSpPr>
          <p:cNvPr id="4" name="Text 2"/>
          <p:cNvSpPr/>
          <p:nvPr/>
        </p:nvSpPr>
        <p:spPr>
          <a:xfrm>
            <a:off x="4114800" y="1280160"/>
            <a:ext cx="7498080" cy="457200"/>
          </a:xfrm>
          <a:prstGeom prst="roundRect">
            <a:avLst>
              <a:gd name="adj" fmla="val 60000"/>
            </a:avLst>
          </a:prstGeom>
          <a:solidFill>
            <a:srgbClr val="0C2F3B"/>
          </a:solidFill>
          <a:ln/>
        </p:spPr>
        <p:txBody>
          <a:bodyPr wrap="square" lIns="1016" tIns="1016" rIns="1016" bIns="1016" rtlCol="0" anchor="ctr"/>
          <a:lstStyle/>
          <a:p>
            <a:pPr algn="ctr" indent="0" marL="0">
              <a:buNone/>
            </a:pPr>
            <a:r>
              <a:rPr lang="en-US" sz="1400" b="1" dirty="0">
                <a:solidFill>
                  <a:srgbClr val="FFFFFF"/>
                </a:solidFill>
              </a:rPr>
              <a:t>Why</a:t>
            </a:r>
            <a:endParaRPr lang="en-US" sz="1400" dirty="0"/>
          </a:p>
        </p:txBody>
      </p:sp>
      <p:sp>
        <p:nvSpPr>
          <p:cNvPr id="5" name="anim1_0_30"/>
          <p:cNvSpPr/>
          <p:nvPr/>
        </p:nvSpPr>
        <p:spPr>
          <a:xfrm>
            <a:off x="548640" y="187452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Direct write into SAP B1</a:t>
            </a:r>
            <a:endParaRPr lang="en-US" sz="1400" dirty="0"/>
          </a:p>
        </p:txBody>
      </p:sp>
      <p:sp>
        <p:nvSpPr>
          <p:cNvPr id="6" name="anim1_0_30"/>
          <p:cNvSpPr/>
          <p:nvPr/>
        </p:nvSpPr>
        <p:spPr>
          <a:xfrm>
            <a:off x="4114800" y="187452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An import file removes retyping at almost no risk. A live link needs an SAP partner, so Phase 3</a:t>
            </a:r>
            <a:endParaRPr lang="en-US" sz="1300" dirty="0"/>
          </a:p>
        </p:txBody>
      </p:sp>
      <p:sp>
        <p:nvSpPr>
          <p:cNvPr id="7" name="anim1_1_31"/>
          <p:cNvSpPr/>
          <p:nvPr/>
        </p:nvSpPr>
        <p:spPr>
          <a:xfrm>
            <a:off x="548640" y="260604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Auto-merging duplicates</a:t>
            </a:r>
            <a:endParaRPr lang="en-US" sz="1400" dirty="0"/>
          </a:p>
        </p:txBody>
      </p:sp>
      <p:sp>
        <p:nvSpPr>
          <p:cNvPr id="8" name="anim1_1_31"/>
          <p:cNvSpPr/>
          <p:nvPr/>
        </p:nvSpPr>
        <p:spPr>
          <a:xfrm>
            <a:off x="4114800" y="260604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Merges touch open orders and invoices. The matcher proposes, a person confirms</a:t>
            </a:r>
            <a:endParaRPr lang="en-US" sz="1300" dirty="0"/>
          </a:p>
        </p:txBody>
      </p:sp>
      <p:sp>
        <p:nvSpPr>
          <p:cNvPr id="9" name="anim1_2_32"/>
          <p:cNvSpPr/>
          <p:nvPr/>
        </p:nvSpPr>
        <p:spPr>
          <a:xfrm>
            <a:off x="548640" y="333756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Custom-trained AI models</a:t>
            </a:r>
            <a:endParaRPr lang="en-US" sz="1400" dirty="0"/>
          </a:p>
        </p:txBody>
      </p:sp>
      <p:sp>
        <p:nvSpPr>
          <p:cNvPr id="10" name="anim1_2_32"/>
          <p:cNvSpPr/>
          <p:nvPr/>
        </p:nvSpPr>
        <p:spPr>
          <a:xfrm>
            <a:off x="4114800" y="333756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12–18 months of history is too short to train. A calendar-based forecast needs no upkeep</a:t>
            </a:r>
            <a:endParaRPr lang="en-US" sz="1300" dirty="0"/>
          </a:p>
        </p:txBody>
      </p:sp>
      <p:sp>
        <p:nvSpPr>
          <p:cNvPr id="11" name="anim1_3_33"/>
          <p:cNvSpPr/>
          <p:nvPr/>
        </p:nvSpPr>
        <p:spPr>
          <a:xfrm>
            <a:off x="548640" y="406908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A custom web portal</a:t>
            </a:r>
            <a:endParaRPr lang="en-US" sz="1400" dirty="0"/>
          </a:p>
        </p:txBody>
      </p:sp>
      <p:sp>
        <p:nvSpPr>
          <p:cNvPr id="12" name="anim1_3_33"/>
          <p:cNvSpPr/>
          <p:nvPr/>
        </p:nvSpPr>
        <p:spPr>
          <a:xfrm>
            <a:off x="4114800" y="406908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Needs developers Lives Group doesn't have. Power Apps is already licensed</a:t>
            </a:r>
            <a:endParaRPr lang="en-US" sz="1300" dirty="0"/>
          </a:p>
        </p:txBody>
      </p:sp>
      <p:sp>
        <p:nvSpPr>
          <p:cNvPr id="13" name="anim1_4_34"/>
          <p:cNvSpPr/>
          <p:nvPr/>
        </p:nvSpPr>
        <p:spPr>
          <a:xfrm>
            <a:off x="548640" y="480060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Premium connectors</a:t>
            </a:r>
            <a:endParaRPr lang="en-US" sz="1400" dirty="0"/>
          </a:p>
        </p:txBody>
      </p:sp>
      <p:sp>
        <p:nvSpPr>
          <p:cNvPr id="14" name="anim1_4_34"/>
          <p:cNvSpPr/>
          <p:nvPr/>
        </p:nvSpPr>
        <p:spPr>
          <a:xfrm>
            <a:off x="4114800" y="480060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Standard licences keep cost and IT approval small</a:t>
            </a:r>
            <a:endParaRPr lang="en-US" sz="1300" dirty="0"/>
          </a:p>
        </p:txBody>
      </p:sp>
      <p:sp>
        <p:nvSpPr>
          <p:cNvPr id="15" name="anim1_5_35"/>
          <p:cNvSpPr/>
          <p:nvPr/>
        </p:nvSpPr>
        <p:spPr>
          <a:xfrm>
            <a:off x="548640" y="5532120"/>
            <a:ext cx="3383280" cy="603504"/>
          </a:xfrm>
          <a:prstGeom prst="roundRect">
            <a:avLst>
              <a:gd name="adj" fmla="val 50000"/>
            </a:avLst>
          </a:prstGeom>
          <a:solidFill>
            <a:srgbClr val="8ACFC4"/>
          </a:solidFill>
          <a:ln/>
        </p:spPr>
        <p:txBody>
          <a:bodyPr wrap="square" lIns="635" tIns="635" rIns="635" bIns="635" rtlCol="0" anchor="ctr"/>
          <a:lstStyle/>
          <a:p>
            <a:pPr algn="ctr" indent="0" marL="0">
              <a:buNone/>
            </a:pPr>
            <a:r>
              <a:rPr lang="en-US" sz="1400" b="1" dirty="0">
                <a:solidFill>
                  <a:schemeClr val="tx2"/>
                </a:solidFill>
              </a:rPr>
              <a:t>Full security redesign</a:t>
            </a:r>
            <a:endParaRPr lang="en-US" sz="1400" dirty="0"/>
          </a:p>
        </p:txBody>
      </p:sp>
      <p:sp>
        <p:nvSpPr>
          <p:cNvPr id="16" name="anim1_5_35"/>
          <p:cNvSpPr/>
          <p:nvPr/>
        </p:nvSpPr>
        <p:spPr>
          <a:xfrm>
            <a:off x="4114800" y="5532120"/>
            <a:ext cx="7498080" cy="603504"/>
          </a:xfrm>
          <a:prstGeom prst="roundRect">
            <a:avLst>
              <a:gd name="adj" fmla="val 15152"/>
            </a:avLst>
          </a:prstGeom>
          <a:solidFill>
            <a:srgbClr val="FFFFFF"/>
          </a:solidFill>
          <a:ln w="15875">
            <a:solidFill>
              <a:srgbClr val="D5EEE9"/>
            </a:solidFill>
          </a:ln>
        </p:spPr>
        <p:txBody>
          <a:bodyPr wrap="square" lIns="0" tIns="152400" rIns="152400" bIns="0" rtlCol="0" anchor="ctr"/>
          <a:lstStyle/>
          <a:p>
            <a:pPr indent="0" marL="0">
              <a:buNone/>
            </a:pPr>
            <a:r>
              <a:rPr lang="en-US" sz="1300" dirty="0">
                <a:solidFill>
                  <a:schemeClr val="tx1"/>
                </a:solidFill>
              </a:rPr>
              <a:t>First: bank details in a locked list with an audit trail. More only if audit asks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45"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par>
                          <p:cTn id="30"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par>
                          <p:cTn id="37" fill="hold">
                            <p:stCondLst>
                              <p:cond delay="16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par>
                          <p:cTn id="44" fill="hold">
                            <p:stCondLst>
                              <p:cond delay="200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0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dot_36"/>
          <p:cNvSpPr/>
          <p:nvPr/>
        </p:nvSpPr>
        <p:spPr>
          <a:xfrm>
            <a:off x="822960" y="1828800"/>
            <a:ext cx="868680" cy="868680"/>
          </a:xfrm>
          <a:prstGeom prst="ellipse">
            <a:avLst/>
          </a:prstGeom>
          <a:solidFill>
            <a:schemeClr val="accent1"/>
          </a:solid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3" name="Text 1"/>
          <p:cNvSpPr/>
          <p:nvPr>
            <p:ph idx="101" type="title" hasCustomPrompt="1"/>
          </p:nvPr>
        </p:nvSpPr>
        <p:spPr>
          <a:xfrm>
            <a:off x="822960" y="2880360"/>
            <a:ext cx="5394960" cy="914400"/>
          </a:xfrm>
          <a:prstGeom prst="rect">
            <a:avLst/>
          </a:prstGeom>
          <a:noFill/>
          <a:ln/>
        </p:spPr>
        <p:txBody>
          <a:bodyPr wrap="square" lIns="0" tIns="0" rIns="0" bIns="0" rtlCol="0" anchor="ctr"/>
          <a:lstStyle/>
          <a:p>
            <a:pPr algn="l" indent="0" marL="0">
              <a:buNone/>
            </a:pPr>
            <a:r>
              <a:rPr lang="en-US" sz="3600" b="1" dirty="0">
                <a:solidFill>
                  <a:schemeClr val="tx2"/>
                </a:solidFill>
              </a:rPr>
              <a:t>OneRecord</a:t>
            </a:r>
            <a:endParaRPr lang="en-US" sz="3600" dirty="0"/>
          </a:p>
        </p:txBody>
      </p:sp>
      <p:sp>
        <p:nvSpPr>
          <p:cNvPr id="4" name="Text 1"/>
          <p:cNvSpPr/>
          <p:nvPr>
            <p:ph idx="102" type="body" hasCustomPrompt="1"/>
          </p:nvPr>
        </p:nvSpPr>
        <p:spPr>
          <a:xfrm>
            <a:off x="822960" y="3886200"/>
            <a:ext cx="5394960" cy="1188720"/>
          </a:xfrm>
          <a:prstGeom prst="rect">
            <a:avLst/>
          </a:prstGeom>
          <a:noFill/>
          <a:ln/>
        </p:spPr>
        <p:txBody>
          <a:bodyPr wrap="square" lIns="0" tIns="0" rIns="0" bIns="0" rtlCol="0" anchor="t"/>
          <a:lstStyle/>
          <a:p>
            <a:pPr algn="l" indent="0" marL="0">
              <a:buNone/>
            </a:pPr>
            <a:r>
              <a:rPr lang="en-US" sz="1600" b="1" dirty="0">
                <a:solidFill>
                  <a:schemeClr val="accent1"/>
                </a:solidFill>
              </a:rPr>
              <a:t>Zacchaeus</a:t>
            </a:r>
            <a:endParaRPr lang="en-US" sz="1600" dirty="0"/>
          </a:p>
          <a:p>
            <a:pPr algn="l" indent="0" marL="0">
              <a:buNone/>
            </a:pPr>
            <a:r>
              <a:rPr lang="en-US" sz="1600" dirty="0">
                <a:solidFill>
                  <a:schemeClr val="accent5"/>
                </a:solidFill>
              </a:rPr>
              <a:t>Amy's same request, through the new front door</a:t>
            </a:r>
            <a:endParaRPr lang="en-US" sz="1600" dirty="0"/>
          </a:p>
        </p:txBody>
      </p:sp>
      <p:sp>
        <p:nvSpPr>
          <p:cNvPr id="5" name="ring_37"/>
          <p:cNvSpPr/>
          <p:nvPr/>
        </p:nvSpPr>
        <p:spPr>
          <a:xfrm>
            <a:off x="6144768" y="1161288"/>
            <a:ext cx="4535424" cy="4535424"/>
          </a:xfrm>
          <a:prstGeom prst="blockArc">
            <a:avLst>
              <a:gd name="adj1" fmla="val 5400000"/>
              <a:gd name="adj2" fmla="val 16200000"/>
              <a:gd name="adj3" fmla="val 4500"/>
            </a:avLst>
          </a:prstGeom>
          <a:solidFill>
            <a:srgbClr val="0C2F3B"/>
          </a:solidFill>
          <a:ln/>
        </p:spPr>
      </p:sp>
      <p:sp>
        <p:nvSpPr>
          <p:cNvPr id="6" name="ring_38"/>
          <p:cNvSpPr/>
          <p:nvPr/>
        </p:nvSpPr>
        <p:spPr>
          <a:xfrm>
            <a:off x="5914339" y="930859"/>
            <a:ext cx="4996282" cy="4996282"/>
          </a:xfrm>
          <a:prstGeom prst="blockArc">
            <a:avLst>
              <a:gd name="adj1" fmla="val 16200000"/>
              <a:gd name="adj2" fmla="val 5400000"/>
              <a:gd name="adj3" fmla="val 5500"/>
            </a:avLst>
          </a:prstGeom>
          <a:solidFill>
            <a:srgbClr val="8ACFC4"/>
          </a:solidFill>
          <a:ln/>
        </p:spPr>
      </p:sp>
      <p:sp>
        <p:nvSpPr>
          <p:cNvPr id="7" name="SHOT-01_39"/>
          <p:cNvSpPr/>
          <p:nvPr/>
        </p:nvSpPr>
        <p:spPr>
          <a:xfrm>
            <a:off x="6400800" y="1417320"/>
            <a:ext cx="4023360" cy="4023360"/>
          </a:xfrm>
          <a:prstGeom prst="ellipse">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SHOT-01</a:t>
            </a:r>
            <a:endParaRPr lang="en-US" sz="1600" dirty="0"/>
          </a:p>
          <a:p>
            <a:pPr algn="ctr" indent="0" marL="0">
              <a:buNone/>
            </a:pPr>
            <a:r>
              <a:rPr lang="en-US" sz="1200" dirty="0">
                <a:solidFill>
                  <a:schemeClr val="accent5"/>
                </a:solidFill>
              </a:rPr>
              <a:t>New request form (Amy)</a:t>
            </a:r>
            <a:endParaRPr lang="en-US" sz="1600" dirty="0"/>
          </a:p>
        </p:txBody>
      </p:sp>
      <p:sp>
        <p:nvSpPr>
          <p:cNvPr id="8" name="Shape 6"/>
          <p:cNvSpPr/>
          <p:nvPr/>
        </p:nvSpPr>
        <p:spPr>
          <a:xfrm>
            <a:off x="822960" y="5669280"/>
            <a:ext cx="64008" cy="64008"/>
          </a:xfrm>
          <a:prstGeom prst="ellipse">
            <a:avLst/>
          </a:prstGeom>
          <a:solidFill>
            <a:srgbClr val="0C2F3B"/>
          </a:solidFill>
          <a:ln/>
        </p:spPr>
      </p:sp>
      <p:sp>
        <p:nvSpPr>
          <p:cNvPr id="9" name="Shape 7"/>
          <p:cNvSpPr/>
          <p:nvPr/>
        </p:nvSpPr>
        <p:spPr>
          <a:xfrm>
            <a:off x="822960" y="5852160"/>
            <a:ext cx="64008" cy="64008"/>
          </a:xfrm>
          <a:prstGeom prst="ellipse">
            <a:avLst/>
          </a:prstGeom>
          <a:solidFill>
            <a:srgbClr val="0C2F3B"/>
          </a:solidFill>
          <a:ln/>
        </p:spPr>
      </p:sp>
      <p:sp>
        <p:nvSpPr>
          <p:cNvPr id="10" name="Shape 8"/>
          <p:cNvSpPr/>
          <p:nvPr/>
        </p:nvSpPr>
        <p:spPr>
          <a:xfrm>
            <a:off x="822960" y="6035040"/>
            <a:ext cx="64008" cy="64008"/>
          </a:xfrm>
          <a:prstGeom prst="ellipse">
            <a:avLst/>
          </a:prstGeom>
          <a:solidFill>
            <a:srgbClr val="0C2F3B"/>
          </a:solidFill>
          <a:ln/>
        </p:spPr>
      </p:sp>
      <p:sp>
        <p:nvSpPr>
          <p:cNvPr id="11" name="Shape 9"/>
          <p:cNvSpPr/>
          <p:nvPr/>
        </p:nvSpPr>
        <p:spPr>
          <a:xfrm>
            <a:off x="822960" y="6217920"/>
            <a:ext cx="64008" cy="64008"/>
          </a:xfrm>
          <a:prstGeom prst="ellipse">
            <a:avLst/>
          </a:prstGeom>
          <a:solidFill>
            <a:srgbClr val="0C2F3B"/>
          </a:solidFill>
          <a:ln/>
        </p:spPr>
      </p:sp>
      <p:sp>
        <p:nvSpPr>
          <p:cNvPr id="12" name="Shape 10"/>
          <p:cNvSpPr/>
          <p:nvPr/>
        </p:nvSpPr>
        <p:spPr>
          <a:xfrm>
            <a:off x="1005840" y="5669280"/>
            <a:ext cx="64008" cy="64008"/>
          </a:xfrm>
          <a:prstGeom prst="ellipse">
            <a:avLst/>
          </a:prstGeom>
          <a:solidFill>
            <a:srgbClr val="0C2F3B"/>
          </a:solidFill>
          <a:ln/>
        </p:spPr>
      </p:sp>
      <p:sp>
        <p:nvSpPr>
          <p:cNvPr id="13" name="Shape 11"/>
          <p:cNvSpPr/>
          <p:nvPr/>
        </p:nvSpPr>
        <p:spPr>
          <a:xfrm>
            <a:off x="1005840" y="5852160"/>
            <a:ext cx="64008" cy="64008"/>
          </a:xfrm>
          <a:prstGeom prst="ellipse">
            <a:avLst/>
          </a:prstGeom>
          <a:solidFill>
            <a:srgbClr val="0C2F3B"/>
          </a:solidFill>
          <a:ln/>
        </p:spPr>
      </p:sp>
      <p:sp>
        <p:nvSpPr>
          <p:cNvPr id="14" name="Shape 12"/>
          <p:cNvSpPr/>
          <p:nvPr/>
        </p:nvSpPr>
        <p:spPr>
          <a:xfrm>
            <a:off x="1005840" y="6035040"/>
            <a:ext cx="64008" cy="64008"/>
          </a:xfrm>
          <a:prstGeom prst="ellipse">
            <a:avLst/>
          </a:prstGeom>
          <a:solidFill>
            <a:srgbClr val="0C2F3B"/>
          </a:solidFill>
          <a:ln/>
        </p:spPr>
      </p:sp>
      <p:sp>
        <p:nvSpPr>
          <p:cNvPr id="15" name="Shape 13"/>
          <p:cNvSpPr/>
          <p:nvPr/>
        </p:nvSpPr>
        <p:spPr>
          <a:xfrm>
            <a:off x="1005840" y="6217920"/>
            <a:ext cx="64008" cy="64008"/>
          </a:xfrm>
          <a:prstGeom prst="ellipse">
            <a:avLst/>
          </a:prstGeom>
          <a:solidFill>
            <a:srgbClr val="0C2F3B"/>
          </a:solidFill>
          <a:ln/>
        </p:spPr>
      </p:sp>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One front door for every setup request</a:t>
            </a:r>
            <a:endParaRPr lang="en-US" sz="3000" dirty="0"/>
          </a:p>
        </p:txBody>
      </p:sp>
      <p:sp>
        <p:nvSpPr>
          <p:cNvPr id="3" name="anim1_0_40"/>
          <p:cNvSpPr/>
          <p:nvPr/>
        </p:nvSpPr>
        <p:spPr>
          <a:xfrm>
            <a:off x="4818888" y="2286000"/>
            <a:ext cx="2560320" cy="2560320"/>
          </a:xfrm>
          <a:prstGeom prst="ellipse">
            <a:avLst/>
          </a:prstGeom>
          <a:solidFill>
            <a:srgbClr val="0C2F3B"/>
          </a:solidFill>
          <a:ln/>
        </p:spPr>
        <p:txBody>
          <a:bodyPr wrap="square" lIns="1270" tIns="1270" rIns="1270" bIns="1270" rtlCol="0" anchor="ctr"/>
          <a:lstStyle/>
          <a:p>
            <a:pPr algn="ctr" indent="0" marL="0">
              <a:buNone/>
            </a:pPr>
            <a:r>
              <a:rPr lang="en-US" sz="2400" b="1" dirty="0">
                <a:solidFill>
                  <a:srgbClr val="FFFFFF"/>
                </a:solidFill>
              </a:rPr>
              <a:t>OneRecord</a:t>
            </a:r>
            <a:endParaRPr lang="en-US" sz="2400" dirty="0"/>
          </a:p>
          <a:p>
            <a:pPr algn="ctr" indent="0" marL="0">
              <a:buNone/>
            </a:pPr>
            <a:r>
              <a:rPr lang="en-US" sz="1200" dirty="0">
                <a:solidFill>
                  <a:srgbClr val="8ACFC4"/>
                </a:solidFill>
              </a:rPr>
              <a:t>Customer · Item · Vendor · Cost centre</a:t>
            </a:r>
            <a:endParaRPr lang="en-US" sz="2400" dirty="0"/>
          </a:p>
        </p:txBody>
      </p:sp>
      <p:sp>
        <p:nvSpPr>
          <p:cNvPr id="4" name="anim2_0_41"/>
          <p:cNvSpPr/>
          <p:nvPr/>
        </p:nvSpPr>
        <p:spPr>
          <a:xfrm>
            <a:off x="868680" y="1920240"/>
            <a:ext cx="3657600" cy="713232"/>
          </a:xfrm>
          <a:prstGeom prst="roundRect">
            <a:avLst>
              <a:gd name="adj" fmla="val 50000"/>
            </a:avLst>
          </a:prstGeom>
          <a:solidFill>
            <a:srgbClr val="FFFFFF"/>
          </a:solidFill>
          <a:ln w="19050">
            <a:solidFill>
              <a:srgbClr val="8ACFC4"/>
            </a:solidFill>
            <a:prstDash val="solid"/>
          </a:ln>
        </p:spPr>
      </p:sp>
      <p:sp>
        <p:nvSpPr>
          <p:cNvPr id="5" name="anim2_0_41"/>
          <p:cNvSpPr txBox="1"/>
          <p:nvPr/>
        </p:nvSpPr>
        <p:spPr>
          <a:xfrm>
            <a:off x="1097280" y="1920240"/>
            <a:ext cx="2651760" cy="713232"/>
          </a:xfrm>
          <a:prstGeom prst="rect">
            <a:avLst/>
          </a:prstGeom>
          <a:noFill/>
          <a:ln/>
        </p:spPr>
        <p:txBody>
          <a:bodyPr wrap="square" lIns="0" tIns="0" rIns="0" bIns="0" rtlCol="0" anchor="ctr"/>
          <a:lstStyle/>
          <a:p>
            <a:pPr algn="r" indent="0" marL="0">
              <a:buNone/>
            </a:pPr>
            <a:r>
              <a:rPr lang="en-US" sz="1400" dirty="0">
                <a:solidFill>
                  <a:schemeClr val="tx1"/>
                </a:solidFill>
              </a:rPr>
              <a:t>Smart form: only the fields that apply</a:t>
            </a:r>
            <a:endParaRPr lang="en-US" sz="1400" dirty="0"/>
          </a:p>
        </p:txBody>
      </p:sp>
      <p:sp>
        <p:nvSpPr>
          <p:cNvPr id="6" name="anim2_0_41"/>
          <p:cNvSpPr/>
          <p:nvPr/>
        </p:nvSpPr>
        <p:spPr>
          <a:xfrm>
            <a:off x="3886200" y="1993392"/>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7" name="anim2_1_42"/>
          <p:cNvSpPr/>
          <p:nvPr/>
        </p:nvSpPr>
        <p:spPr>
          <a:xfrm>
            <a:off x="548640" y="3200400"/>
            <a:ext cx="3657600" cy="713232"/>
          </a:xfrm>
          <a:prstGeom prst="roundRect">
            <a:avLst>
              <a:gd name="adj" fmla="val 50000"/>
            </a:avLst>
          </a:prstGeom>
          <a:solidFill>
            <a:srgbClr val="FFFFFF"/>
          </a:solidFill>
          <a:ln w="19050">
            <a:solidFill>
              <a:srgbClr val="8ACFC4"/>
            </a:solidFill>
            <a:prstDash val="solid"/>
          </a:ln>
        </p:spPr>
      </p:sp>
      <p:sp>
        <p:nvSpPr>
          <p:cNvPr id="8" name="anim2_1_42"/>
          <p:cNvSpPr txBox="1"/>
          <p:nvPr/>
        </p:nvSpPr>
        <p:spPr>
          <a:xfrm>
            <a:off x="777240" y="3200400"/>
            <a:ext cx="2651760" cy="713232"/>
          </a:xfrm>
          <a:prstGeom prst="rect">
            <a:avLst/>
          </a:prstGeom>
          <a:noFill/>
          <a:ln/>
        </p:spPr>
        <p:txBody>
          <a:bodyPr wrap="square" lIns="0" tIns="0" rIns="0" bIns="0" rtlCol="0" anchor="ctr"/>
          <a:lstStyle/>
          <a:p>
            <a:pPr algn="r" indent="0" marL="0">
              <a:buNone/>
            </a:pPr>
            <a:r>
              <a:rPr lang="en-US" sz="1400" dirty="0">
                <a:solidFill>
                  <a:schemeClr val="tx1"/>
                </a:solidFill>
              </a:rPr>
              <a:t>Duplicate check while typing</a:t>
            </a:r>
            <a:endParaRPr lang="en-US" sz="1400" dirty="0"/>
          </a:p>
        </p:txBody>
      </p:sp>
      <p:sp>
        <p:nvSpPr>
          <p:cNvPr id="9" name="anim2_1_42"/>
          <p:cNvSpPr/>
          <p:nvPr/>
        </p:nvSpPr>
        <p:spPr>
          <a:xfrm>
            <a:off x="3566160" y="3273552"/>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0" name="anim2_2_43"/>
          <p:cNvSpPr/>
          <p:nvPr/>
        </p:nvSpPr>
        <p:spPr>
          <a:xfrm>
            <a:off x="868680" y="4480560"/>
            <a:ext cx="3657600" cy="713232"/>
          </a:xfrm>
          <a:prstGeom prst="roundRect">
            <a:avLst>
              <a:gd name="adj" fmla="val 50000"/>
            </a:avLst>
          </a:prstGeom>
          <a:solidFill>
            <a:srgbClr val="FFFFFF"/>
          </a:solidFill>
          <a:ln w="19050">
            <a:solidFill>
              <a:srgbClr val="8ACFC4"/>
            </a:solidFill>
            <a:prstDash val="solid"/>
          </a:ln>
        </p:spPr>
      </p:sp>
      <p:sp>
        <p:nvSpPr>
          <p:cNvPr id="11" name="anim2_2_43"/>
          <p:cNvSpPr txBox="1"/>
          <p:nvPr/>
        </p:nvSpPr>
        <p:spPr>
          <a:xfrm>
            <a:off x="1097280" y="4480560"/>
            <a:ext cx="2651760" cy="713232"/>
          </a:xfrm>
          <a:prstGeom prst="rect">
            <a:avLst/>
          </a:prstGeom>
          <a:noFill/>
          <a:ln/>
        </p:spPr>
        <p:txBody>
          <a:bodyPr wrap="square" lIns="0" tIns="0" rIns="0" bIns="0" rtlCol="0" anchor="ctr"/>
          <a:lstStyle/>
          <a:p>
            <a:pPr algn="r" indent="0" marL="0">
              <a:buNone/>
            </a:pPr>
            <a:r>
              <a:rPr lang="en-US" sz="1400" dirty="0">
                <a:solidFill>
                  <a:schemeClr val="tx1"/>
                </a:solidFill>
              </a:rPr>
              <a:t>Parallel approvals in Teams</a:t>
            </a:r>
            <a:endParaRPr lang="en-US" sz="1400" dirty="0"/>
          </a:p>
        </p:txBody>
      </p:sp>
      <p:sp>
        <p:nvSpPr>
          <p:cNvPr id="12" name="anim2_2_43"/>
          <p:cNvSpPr/>
          <p:nvPr/>
        </p:nvSpPr>
        <p:spPr>
          <a:xfrm>
            <a:off x="3886200" y="4553712"/>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3" name="anim2_3_44"/>
          <p:cNvSpPr/>
          <p:nvPr/>
        </p:nvSpPr>
        <p:spPr>
          <a:xfrm>
            <a:off x="7360920" y="1920240"/>
            <a:ext cx="3657600" cy="713232"/>
          </a:xfrm>
          <a:prstGeom prst="roundRect">
            <a:avLst>
              <a:gd name="adj" fmla="val 50000"/>
            </a:avLst>
          </a:prstGeom>
          <a:solidFill>
            <a:srgbClr val="FFFFFF"/>
          </a:solidFill>
          <a:ln w="19050">
            <a:solidFill>
              <a:srgbClr val="8ACFC4"/>
            </a:solidFill>
            <a:prstDash val="solid"/>
          </a:ln>
        </p:spPr>
      </p:sp>
      <p:sp>
        <p:nvSpPr>
          <p:cNvPr id="14" name="anim2_3_44"/>
          <p:cNvSpPr txBox="1"/>
          <p:nvPr/>
        </p:nvSpPr>
        <p:spPr>
          <a:xfrm>
            <a:off x="8138160" y="1920240"/>
            <a:ext cx="2651760" cy="713232"/>
          </a:xfrm>
          <a:prstGeom prst="rect">
            <a:avLst/>
          </a:prstGeom>
          <a:noFill/>
          <a:ln/>
        </p:spPr>
        <p:txBody>
          <a:bodyPr wrap="square" lIns="0" tIns="0" rIns="0" bIns="0" rtlCol="0" anchor="ctr"/>
          <a:lstStyle/>
          <a:p>
            <a:pPr algn="l" indent="0" marL="0">
              <a:buNone/>
            </a:pPr>
            <a:r>
              <a:rPr lang="en-US" sz="1400" dirty="0">
                <a:solidFill>
                  <a:schemeClr val="tx1"/>
                </a:solidFill>
              </a:rPr>
              <a:t>Reminders at 9 AM local, then escalation</a:t>
            </a:r>
            <a:endParaRPr lang="en-US" sz="1400" dirty="0"/>
          </a:p>
        </p:txBody>
      </p:sp>
      <p:sp>
        <p:nvSpPr>
          <p:cNvPr id="15" name="anim2_3_44"/>
          <p:cNvSpPr/>
          <p:nvPr/>
        </p:nvSpPr>
        <p:spPr>
          <a:xfrm>
            <a:off x="7434072" y="1993392"/>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16" name="anim2_4_45"/>
          <p:cNvSpPr/>
          <p:nvPr/>
        </p:nvSpPr>
        <p:spPr>
          <a:xfrm>
            <a:off x="7680960" y="3200400"/>
            <a:ext cx="3657600" cy="713232"/>
          </a:xfrm>
          <a:prstGeom prst="roundRect">
            <a:avLst>
              <a:gd name="adj" fmla="val 50000"/>
            </a:avLst>
          </a:prstGeom>
          <a:solidFill>
            <a:srgbClr val="FFFFFF"/>
          </a:solidFill>
          <a:ln w="19050">
            <a:solidFill>
              <a:srgbClr val="8ACFC4"/>
            </a:solidFill>
            <a:prstDash val="solid"/>
          </a:ln>
        </p:spPr>
      </p:sp>
      <p:sp>
        <p:nvSpPr>
          <p:cNvPr id="17" name="anim2_4_45"/>
          <p:cNvSpPr txBox="1"/>
          <p:nvPr/>
        </p:nvSpPr>
        <p:spPr>
          <a:xfrm>
            <a:off x="8458200" y="3200400"/>
            <a:ext cx="2651760" cy="713232"/>
          </a:xfrm>
          <a:prstGeom prst="rect">
            <a:avLst/>
          </a:prstGeom>
          <a:noFill/>
          <a:ln/>
        </p:spPr>
        <p:txBody>
          <a:bodyPr wrap="square" lIns="0" tIns="0" rIns="0" bIns="0" rtlCol="0" anchor="ctr"/>
          <a:lstStyle/>
          <a:p>
            <a:pPr algn="l" indent="0" marL="0">
              <a:buNone/>
            </a:pPr>
            <a:r>
              <a:rPr lang="en-US" sz="1400" dirty="0">
                <a:solidFill>
                  <a:schemeClr val="tx1"/>
                </a:solidFill>
              </a:rPr>
              <a:t>Audit log + locked bank details</a:t>
            </a:r>
            <a:endParaRPr lang="en-US" sz="1400" dirty="0"/>
          </a:p>
        </p:txBody>
      </p:sp>
      <p:sp>
        <p:nvSpPr>
          <p:cNvPr id="18" name="anim2_4_45"/>
          <p:cNvSpPr/>
          <p:nvPr/>
        </p:nvSpPr>
        <p:spPr>
          <a:xfrm>
            <a:off x="7754112" y="3273552"/>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19" name="anim2_5_46"/>
          <p:cNvSpPr/>
          <p:nvPr/>
        </p:nvSpPr>
        <p:spPr>
          <a:xfrm>
            <a:off x="7360920" y="4480560"/>
            <a:ext cx="3657600" cy="713232"/>
          </a:xfrm>
          <a:prstGeom prst="roundRect">
            <a:avLst>
              <a:gd name="adj" fmla="val 50000"/>
            </a:avLst>
          </a:prstGeom>
          <a:solidFill>
            <a:srgbClr val="FFFFFF"/>
          </a:solidFill>
          <a:ln w="19050">
            <a:solidFill>
              <a:srgbClr val="8ACFC4"/>
            </a:solidFill>
            <a:prstDash val="solid"/>
          </a:ln>
        </p:spPr>
      </p:sp>
      <p:sp>
        <p:nvSpPr>
          <p:cNvPr id="20" name="anim2_5_46"/>
          <p:cNvSpPr txBox="1"/>
          <p:nvPr/>
        </p:nvSpPr>
        <p:spPr>
          <a:xfrm>
            <a:off x="8138160" y="4480560"/>
            <a:ext cx="2651760" cy="713232"/>
          </a:xfrm>
          <a:prstGeom prst="rect">
            <a:avLst/>
          </a:prstGeom>
          <a:noFill/>
          <a:ln/>
        </p:spPr>
        <p:txBody>
          <a:bodyPr wrap="square" lIns="0" tIns="0" rIns="0" bIns="0" rtlCol="0" anchor="ctr"/>
          <a:lstStyle/>
          <a:p>
            <a:pPr algn="l" indent="0" marL="0">
              <a:buNone/>
            </a:pPr>
            <a:r>
              <a:rPr lang="en-US" sz="1400" dirty="0">
                <a:solidFill>
                  <a:schemeClr val="tx1"/>
                </a:solidFill>
              </a:rPr>
              <a:t>SAP B1 import file: no retyping</a:t>
            </a:r>
            <a:endParaRPr lang="en-US" sz="1400" dirty="0"/>
          </a:p>
        </p:txBody>
      </p:sp>
      <p:sp>
        <p:nvSpPr>
          <p:cNvPr id="21" name="anim2_5_46"/>
          <p:cNvSpPr/>
          <p:nvPr/>
        </p:nvSpPr>
        <p:spPr>
          <a:xfrm>
            <a:off x="7434072" y="4553712"/>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22" name="anim3_0_47"/>
          <p:cNvSpPr/>
          <p:nvPr/>
        </p:nvSpPr>
        <p:spPr>
          <a:xfrm>
            <a:off x="2194560" y="5760720"/>
            <a:ext cx="7772400" cy="548640"/>
          </a:xfrm>
          <a:prstGeom prst="roundRect">
            <a:avLst>
              <a:gd name="adj" fmla="val 50000"/>
            </a:avLst>
          </a:prstGeom>
          <a:solidFill>
            <a:srgbClr val="8ACFC4"/>
          </a:solidFill>
          <a:ln/>
        </p:spPr>
        <p:txBody>
          <a:bodyPr wrap="square" lIns="1016" tIns="1016" rIns="1016" bIns="1016" rtlCol="0" anchor="ctr"/>
          <a:lstStyle/>
          <a:p>
            <a:pPr algn="ctr" indent="0" marL="0">
              <a:buNone/>
            </a:pPr>
            <a:r>
              <a:rPr lang="en-US" sz="1400" b="1" dirty="0">
                <a:solidFill>
                  <a:schemeClr val="tx2"/>
                </a:solidFill>
              </a:rPr>
              <a:t>Rules the MDM team edits itself: add a business unit, field or approver without 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68" fill="hold">
                      <p:stCondLst>
                        <p:cond delay="indefinite"/>
                      </p:stCondLst>
                      <p:childTnLst>
                        <p:par>
                          <p:cTn id="17"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childTnLst>
                          </p:cTn>
                        </p:par>
                        <p:par>
                          <p:cTn id="27" fill="hold">
                            <p:stCondLst>
                              <p:cond delay="400"/>
                            </p:stCondLst>
                            <p:childTnLst>
                              <p:par>
                                <p:cTn id="18" presetID="10" presetClass="entr" presetSubtype="0" fill="hold" grpId="0"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400"/>
                                        <p:tgtEl>
                                          <p:spTgt spid="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400"/>
                                        <p:tgtEl>
                                          <p:spTgt spid="9"/>
                                        </p:tgtEl>
                                      </p:cBhvr>
                                    </p:animEffect>
                                  </p:childTnLst>
                                </p:cTn>
                              </p:par>
                            </p:childTnLst>
                          </p:cTn>
                        </p:par>
                        <p:par>
                          <p:cTn id="37" fill="hold">
                            <p:stCondLst>
                              <p:cond delay="800"/>
                            </p:stCondLst>
                            <p:childTnLst>
                              <p:par>
                                <p:cTn id="28" presetID="10" presetClass="entr" presetSubtype="0" fill="hold" grpId="0" nodeType="after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0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00"/>
                                        <p:tgtEl>
                                          <p:spTgt spid="1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childTnLst>
                          </p:cTn>
                        </p:par>
                        <p:par>
                          <p:cTn id="47" fill="hold">
                            <p:stCondLst>
                              <p:cond delay="1200"/>
                            </p:stCondLst>
                            <p:childTnLst>
                              <p:par>
                                <p:cTn id="38" presetID="10" presetClass="entr" presetSubtype="0" fill="hold" grpId="0" nodeType="after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400"/>
                                        <p:tgtEl>
                                          <p:spTgt spid="13"/>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400"/>
                                        <p:tgtEl>
                                          <p:spTgt spid="14"/>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400"/>
                                        <p:tgtEl>
                                          <p:spTgt spid="15"/>
                                        </p:tgtEl>
                                      </p:cBhvr>
                                    </p:animEffect>
                                  </p:childTnLst>
                                </p:cTn>
                              </p:par>
                            </p:childTnLst>
                          </p:cTn>
                        </p:par>
                        <p:par>
                          <p:cTn id="57" fill="hold">
                            <p:stCondLst>
                              <p:cond delay="1600"/>
                            </p:stCondLst>
                            <p:childTnLst>
                              <p:par>
                                <p:cTn id="48" presetID="10" presetClass="entr" presetSubtype="0" fill="hold" grpId="0" nodeType="after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400"/>
                                        <p:tgtEl>
                                          <p:spTgt spid="16"/>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7"/>
                                        </p:tgtEl>
                                        <p:attrNameLst>
                                          <p:attrName>style.visibility</p:attrName>
                                        </p:attrNameLst>
                                      </p:cBhvr>
                                      <p:to>
                                        <p:strVal val="visible"/>
                                      </p:to>
                                    </p:set>
                                    <p:animEffect transition="in" filter="fade">
                                      <p:cBhvr>
                                        <p:cTn id="53" dur="400"/>
                                        <p:tgtEl>
                                          <p:spTgt spid="17"/>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fade">
                                      <p:cBhvr>
                                        <p:cTn id="56" dur="400"/>
                                        <p:tgtEl>
                                          <p:spTgt spid="18"/>
                                        </p:tgtEl>
                                      </p:cBhvr>
                                    </p:animEffect>
                                  </p:childTnLst>
                                </p:cTn>
                              </p:par>
                            </p:childTnLst>
                          </p:cTn>
                        </p:par>
                        <p:par>
                          <p:cTn id="67" fill="hold">
                            <p:stCondLst>
                              <p:cond delay="2000"/>
                            </p:stCondLst>
                            <p:childTnLst>
                              <p:par>
                                <p:cTn id="58" presetID="10" presetClass="entr" presetSubtype="0" fill="hold" grpId="0" nodeType="afterEffect">
                                  <p:stCondLst>
                                    <p:cond delay="0"/>
                                  </p:stCondLst>
                                  <p:childTnLst>
                                    <p:set>
                                      <p:cBhvr>
                                        <p:cTn id="59" dur="1" fill="hold">
                                          <p:stCondLst>
                                            <p:cond delay="0"/>
                                          </p:stCondLst>
                                        </p:cTn>
                                        <p:tgtEl>
                                          <p:spTgt spid="19"/>
                                        </p:tgtEl>
                                        <p:attrNameLst>
                                          <p:attrName>style.visibility</p:attrName>
                                        </p:attrNameLst>
                                      </p:cBhvr>
                                      <p:to>
                                        <p:strVal val="visible"/>
                                      </p:to>
                                    </p:set>
                                    <p:animEffect transition="in" filter="fade">
                                      <p:cBhvr>
                                        <p:cTn id="60" dur="400"/>
                                        <p:tgtEl>
                                          <p:spTgt spid="1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0"/>
                                        </p:tgtEl>
                                        <p:attrNameLst>
                                          <p:attrName>style.visibility</p:attrName>
                                        </p:attrNameLst>
                                      </p:cBhvr>
                                      <p:to>
                                        <p:strVal val="visible"/>
                                      </p:to>
                                    </p:set>
                                    <p:animEffect transition="in" filter="fade">
                                      <p:cBhvr>
                                        <p:cTn id="63" dur="400"/>
                                        <p:tgtEl>
                                          <p:spTgt spid="2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1"/>
                                        </p:tgtEl>
                                        <p:attrNameLst>
                                          <p:attrName>style.visibility</p:attrName>
                                        </p:attrNameLst>
                                      </p:cBhvr>
                                      <p:to>
                                        <p:strVal val="visible"/>
                                      </p:to>
                                    </p:set>
                                    <p:animEffect transition="in" filter="fade">
                                      <p:cBhvr>
                                        <p:cTn id="66" dur="400"/>
                                        <p:tgtEl>
                                          <p:spTgt spid="21"/>
                                        </p:tgtEl>
                                      </p:cBhvr>
                                    </p:animEffect>
                                  </p:childTnLst>
                                </p:cTn>
                              </p:par>
                            </p:childTnLst>
                          </p:cTn>
                        </p:par>
                      </p:childTnLst>
                    </p:cTn>
                  </p:par>
                  <p:par>
                    <p:cTn id="73" fill="hold">
                      <p:stCondLst>
                        <p:cond delay="indefinite"/>
                      </p:stCondLst>
                      <p:childTnLst>
                        <p:par>
                          <p:cTn id="72"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fade">
                                      <p:cBhvr>
                                        <p:cTn id="71" dur="4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Live: Amy raises her item request</a:t>
            </a:r>
            <a:endParaRPr lang="en-US" sz="3000" dirty="0"/>
          </a:p>
        </p:txBody>
      </p:sp>
      <p:sp>
        <p:nvSpPr>
          <p:cNvPr id="3" name="Text 1"/>
          <p:cNvSpPr/>
          <p:nvPr/>
        </p:nvSpPr>
        <p:spPr>
          <a:xfrm>
            <a:off x="548640" y="1234440"/>
            <a:ext cx="4937760" cy="411480"/>
          </a:xfrm>
          <a:prstGeom prst="roundRect">
            <a:avLst>
              <a:gd name="adj" fmla="val 66667"/>
            </a:avLst>
          </a:prstGeom>
          <a:solidFill>
            <a:srgbClr val="E4572E"/>
          </a:solidFill>
          <a:ln/>
        </p:spPr>
        <p:txBody>
          <a:bodyPr wrap="square" lIns="1016" tIns="1016" rIns="1016" bIns="1016" rtlCol="0" anchor="ctr"/>
          <a:lstStyle/>
          <a:p>
            <a:pPr algn="ctr" indent="0" marL="0">
              <a:buNone/>
            </a:pPr>
            <a:r>
              <a:rPr lang="en-US" sz="1200" b="1" dirty="0">
                <a:solidFill>
                  <a:srgbClr val="FFFFFF"/>
                </a:solidFill>
              </a:rPr>
              <a:t>LIVE DEMO · onerecord-livesgroup.streamlit.app</a:t>
            </a:r>
            <a:endParaRPr lang="en-US" sz="1200" dirty="0"/>
          </a:p>
        </p:txBody>
      </p:sp>
      <p:sp>
        <p:nvSpPr>
          <p:cNvPr id="4" name="anim1_0_48"/>
          <p:cNvSpPr/>
          <p:nvPr/>
        </p:nvSpPr>
        <p:spPr>
          <a:xfrm>
            <a:off x="548640" y="2011680"/>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anim1_0_48"/>
          <p:cNvSpPr txBox="1"/>
          <p:nvPr/>
        </p:nvSpPr>
        <p:spPr>
          <a:xfrm>
            <a:off x="1280160" y="1920240"/>
            <a:ext cx="4206240" cy="1188720"/>
          </a:xfrm>
          <a:prstGeom prst="rect">
            <a:avLst/>
          </a:prstGeom>
          <a:noFill/>
          <a:ln/>
        </p:spPr>
        <p:txBody>
          <a:bodyPr wrap="square" lIns="0" tIns="0" rIns="0" bIns="0" rtlCol="0" anchor="t"/>
          <a:lstStyle/>
          <a:p>
            <a:pPr indent="0" marL="0">
              <a:buNone/>
            </a:pPr>
            <a:r>
              <a:rPr lang="en-US" sz="1600" b="1" dirty="0">
                <a:solidFill>
                  <a:schemeClr val="tx2"/>
                </a:solidFill>
              </a:rPr>
              <a:t>Picks 'Item'</a:t>
            </a:r>
            <a:endParaRPr lang="en-US" sz="1400" dirty="0"/>
          </a:p>
          <a:p>
            <a:pPr indent="0" marL="0">
              <a:buNone/>
            </a:pPr>
            <a:r>
              <a:rPr lang="en-US" sz="1400" dirty="0">
                <a:solidFill>
                  <a:schemeClr val="tx1"/>
                </a:solidFill>
              </a:rPr>
              <a:t>Only the item fields appear. Submit stays off until it's complete</a:t>
            </a:r>
            <a:endParaRPr lang="en-US" sz="1400" dirty="0"/>
          </a:p>
        </p:txBody>
      </p:sp>
      <p:sp>
        <p:nvSpPr>
          <p:cNvPr id="6" name="anim2_0_49"/>
          <p:cNvSpPr/>
          <p:nvPr/>
        </p:nvSpPr>
        <p:spPr>
          <a:xfrm>
            <a:off x="548640" y="3429000"/>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7" name="anim2_0_49"/>
          <p:cNvSpPr txBox="1"/>
          <p:nvPr/>
        </p:nvSpPr>
        <p:spPr>
          <a:xfrm>
            <a:off x="1280160" y="3337560"/>
            <a:ext cx="4206240" cy="1188720"/>
          </a:xfrm>
          <a:prstGeom prst="rect">
            <a:avLst/>
          </a:prstGeom>
          <a:noFill/>
          <a:ln/>
        </p:spPr>
        <p:txBody>
          <a:bodyPr wrap="square" lIns="0" tIns="0" rIns="0" bIns="0" rtlCol="0" anchor="t"/>
          <a:lstStyle/>
          <a:p>
            <a:pPr indent="0" marL="0">
              <a:buNone/>
            </a:pPr>
            <a:r>
              <a:rPr lang="en-US" sz="1600" b="1" dirty="0">
                <a:solidFill>
                  <a:schemeClr val="tx2"/>
                </a:solidFill>
              </a:rPr>
              <a:t>'Is this regulated?' → Not sure</a:t>
            </a:r>
            <a:endParaRPr lang="en-US" sz="1400" dirty="0"/>
          </a:p>
          <a:p>
            <a:pPr indent="0" marL="0">
              <a:buNone/>
            </a:pPr>
            <a:r>
              <a:rPr lang="en-US" sz="1400" dirty="0">
                <a:solidFill>
                  <a:schemeClr val="tx1"/>
                </a:solidFill>
              </a:rPr>
              <a:t>Quality/Regulatory is added for her. No guessing</a:t>
            </a:r>
            <a:endParaRPr lang="en-US" sz="1400" dirty="0"/>
          </a:p>
        </p:txBody>
      </p:sp>
      <p:sp>
        <p:nvSpPr>
          <p:cNvPr id="8" name="anim3_0_50"/>
          <p:cNvSpPr/>
          <p:nvPr/>
        </p:nvSpPr>
        <p:spPr>
          <a:xfrm>
            <a:off x="548640" y="4846320"/>
            <a:ext cx="566928" cy="566928"/>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9" name="anim3_0_50"/>
          <p:cNvSpPr txBox="1"/>
          <p:nvPr/>
        </p:nvSpPr>
        <p:spPr>
          <a:xfrm>
            <a:off x="1280160" y="4754880"/>
            <a:ext cx="4206240" cy="1188720"/>
          </a:xfrm>
          <a:prstGeom prst="rect">
            <a:avLst/>
          </a:prstGeom>
          <a:noFill/>
          <a:ln/>
        </p:spPr>
        <p:txBody>
          <a:bodyPr wrap="square" lIns="0" tIns="0" rIns="0" bIns="0" rtlCol="0" anchor="t"/>
          <a:lstStyle/>
          <a:p>
            <a:pPr indent="0" marL="0">
              <a:buNone/>
            </a:pPr>
            <a:r>
              <a:rPr lang="en-US" sz="1600" b="1" dirty="0">
                <a:solidFill>
                  <a:schemeClr val="tx2"/>
                </a:solidFill>
              </a:rPr>
              <a:t>Types 'Dengue NS1 rapid test 25T'</a:t>
            </a:r>
            <a:endParaRPr lang="en-US" sz="1400" dirty="0"/>
          </a:p>
          <a:p>
            <a:pPr indent="0" marL="0">
              <a:buNone/>
            </a:pPr>
            <a:r>
              <a:rPr lang="en-US" sz="1400" dirty="0">
                <a:solidFill>
                  <a:schemeClr val="tx1"/>
                </a:solidFill>
              </a:rPr>
              <a:t>Warned while typing: it matches item A-1001</a:t>
            </a:r>
            <a:endParaRPr lang="en-US" sz="1400" dirty="0"/>
          </a:p>
        </p:txBody>
      </p:sp>
      <p:sp>
        <p:nvSpPr>
          <p:cNvPr id="10" name="anim1_1_51"/>
          <p:cNvSpPr/>
          <p:nvPr/>
        </p:nvSpPr>
        <p:spPr>
          <a:xfrm>
            <a:off x="5806440" y="1280160"/>
            <a:ext cx="5806440" cy="3264408"/>
          </a:xfrm>
          <a:prstGeom prst="roundRect">
            <a:avLst>
              <a:gd name="adj" fmla="val 3361"/>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SHOT-02</a:t>
            </a:r>
            <a:endParaRPr lang="en-US" sz="1600" dirty="0"/>
          </a:p>
          <a:p>
            <a:pPr algn="ctr" indent="0" marL="0">
              <a:buNone/>
            </a:pPr>
            <a:r>
              <a:rPr lang="en-US" sz="1200" dirty="0">
                <a:solidFill>
                  <a:schemeClr val="accent5"/>
                </a:solidFill>
              </a:rPr>
              <a:t>New request · Amy · type = Item, item fields showing</a:t>
            </a:r>
            <a:endParaRPr lang="en-US" sz="1600" dirty="0"/>
          </a:p>
        </p:txBody>
      </p:sp>
      <p:sp>
        <p:nvSpPr>
          <p:cNvPr id="11" name="anim2_1_52"/>
          <p:cNvSpPr/>
          <p:nvPr/>
        </p:nvSpPr>
        <p:spPr>
          <a:xfrm>
            <a:off x="5806440" y="2011680"/>
            <a:ext cx="5806440" cy="3264408"/>
          </a:xfrm>
          <a:prstGeom prst="roundRect">
            <a:avLst>
              <a:gd name="adj" fmla="val 3361"/>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SHOT-03</a:t>
            </a:r>
            <a:endParaRPr lang="en-US" sz="1600" dirty="0"/>
          </a:p>
          <a:p>
            <a:pPr algn="ctr" indent="0" marL="0">
              <a:buNone/>
            </a:pPr>
            <a:r>
              <a:rPr lang="en-US" sz="1200" dirty="0">
                <a:solidFill>
                  <a:schemeClr val="accent5"/>
                </a:solidFill>
              </a:rPr>
              <a:t>New request · 'Is this regulated?' = Not sure, QA/RA added to approvers</a:t>
            </a:r>
            <a:endParaRPr lang="en-US" sz="1600" dirty="0"/>
          </a:p>
        </p:txBody>
      </p:sp>
      <p:sp>
        <p:nvSpPr>
          <p:cNvPr id="12" name="anim3_1_53"/>
          <p:cNvSpPr/>
          <p:nvPr/>
        </p:nvSpPr>
        <p:spPr>
          <a:xfrm>
            <a:off x="5806440" y="2743200"/>
            <a:ext cx="5806440" cy="3264408"/>
          </a:xfrm>
          <a:prstGeom prst="roundRect">
            <a:avLst>
              <a:gd name="adj" fmla="val 3361"/>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SHOT-04</a:t>
            </a:r>
            <a:endParaRPr lang="en-US" sz="1600" dirty="0"/>
          </a:p>
          <a:p>
            <a:pPr algn="ctr" indent="0" marL="0">
              <a:buNone/>
            </a:pPr>
            <a:r>
              <a:rPr lang="en-US" sz="1200" dirty="0">
                <a:solidFill>
                  <a:schemeClr val="accent5"/>
                </a:solidFill>
              </a:rPr>
              <a:t>New request · duplicate warning: matches A-1001</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4"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par>
                          <p:cTn id="13"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400"/>
                                        <p:tgtEl>
                                          <p:spTgt spid="10"/>
                                        </p:tgtEl>
                                      </p:cBhvr>
                                    </p:animEffect>
                                  </p:childTnLst>
                                </p:cTn>
                              </p:par>
                            </p:childTnLst>
                          </p:cTn>
                        </p:par>
                      </p:childTnLst>
                    </p:cTn>
                  </p:par>
                  <p:par>
                    <p:cTn id="26" fill="hold">
                      <p:stCondLst>
                        <p:cond delay="indefinite"/>
                      </p:stCondLst>
                      <p:childTnLst>
                        <p:par>
                          <p:cTn id="21"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00"/>
                                        <p:tgtEl>
                                          <p:spTgt spid="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400"/>
                                        <p:tgtEl>
                                          <p:spTgt spid="7"/>
                                        </p:tgtEl>
                                      </p:cBhvr>
                                    </p:animEffect>
                                  </p:childTnLst>
                                </p:cTn>
                              </p:par>
                            </p:childTnLst>
                          </p:cTn>
                        </p:par>
                        <p:par>
                          <p:cTn id="25" fill="hold">
                            <p:stCondLst>
                              <p:cond delay="400"/>
                            </p:stCondLst>
                            <p:childTnLst>
                              <p:par>
                                <p:cTn id="22" presetID="10"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8" fill="hold">
                      <p:stCondLst>
                        <p:cond delay="indefinite"/>
                      </p:stCondLst>
                      <p:childTnLst>
                        <p:par>
                          <p:cTn id="33"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400"/>
                                        <p:tgtEl>
                                          <p:spTgt spid="8"/>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400"/>
                                        <p:tgtEl>
                                          <p:spTgt spid="9"/>
                                        </p:tgtEl>
                                      </p:cBhvr>
                                    </p:animEffect>
                                  </p:childTnLst>
                                </p:cTn>
                              </p:par>
                            </p:childTnLst>
                          </p:cTn>
                        </p:par>
                        <p:par>
                          <p:cTn id="37" fill="hold">
                            <p:stCondLst>
                              <p:cond delay="4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10" grpId="0" animBg="1"/>
      <p:bldP spid="6" grpId="0" animBg="1"/>
      <p:bldP spid="7" grpId="0" animBg="1"/>
      <p:bldP spid="11" grpId="0" animBg="1"/>
      <p:bldP spid="8" grpId="0" animBg="1"/>
      <p:bldP spid="9" grpId="0" animBg="1"/>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show="0">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Backup: the same steps on video</a:t>
            </a:r>
            <a:endParaRPr lang="en-US" sz="3000" dirty="0"/>
          </a:p>
        </p:txBody>
      </p:sp>
      <p:sp>
        <p:nvSpPr>
          <p:cNvPr id="3" name="VIDEO-01_54"/>
          <p:cNvSpPr/>
          <p:nvPr/>
        </p:nvSpPr>
        <p:spPr>
          <a:xfrm>
            <a:off x="1737360" y="1280160"/>
            <a:ext cx="8686800" cy="4892040"/>
          </a:xfrm>
          <a:prstGeom prst="roundRect">
            <a:avLst>
              <a:gd name="adj" fmla="val 2243"/>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VIDEO-01</a:t>
            </a:r>
            <a:endParaRPr lang="en-US" sz="1600" dirty="0"/>
          </a:p>
          <a:p>
            <a:pPr algn="ctr" indent="0" marL="0">
              <a:buNone/>
            </a:pPr>
            <a:r>
              <a:rPr lang="en-US" sz="1200" dirty="0">
                <a:solidFill>
                  <a:schemeClr val="accent5"/>
                </a:solidFill>
              </a:rPr>
              <a:t>Backup clip of the live demo (form, regulated = Not sure, duplicate warning). Insert &gt; Video, set to start on click</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Approvers sign off at the same time</a:t>
            </a:r>
            <a:endParaRPr lang="en-US" sz="3000" dirty="0"/>
          </a:p>
        </p:txBody>
      </p:sp>
      <p:sp>
        <p:nvSpPr>
          <p:cNvPr id="3" name="anim1_0_55"/>
          <p:cNvSpPr/>
          <p:nvPr/>
        </p:nvSpPr>
        <p:spPr>
          <a:xfrm>
            <a:off x="2148840" y="1325880"/>
            <a:ext cx="3931920" cy="548640"/>
          </a:xfrm>
          <a:prstGeom prst="roundRect">
            <a:avLst>
              <a:gd name="adj" fmla="val 50000"/>
            </a:avLst>
          </a:prstGeom>
          <a:solidFill>
            <a:schemeClr val="tx2"/>
          </a:solidFill>
          <a:ln/>
        </p:spPr>
        <p:txBody>
          <a:bodyPr wrap="square" lIns="1016" tIns="1016" rIns="1016" bIns="1016" rtlCol="0" anchor="ctr"/>
          <a:lstStyle/>
          <a:p>
            <a:pPr algn="ctr" indent="0" marL="0">
              <a:buNone/>
            </a:pPr>
            <a:r>
              <a:rPr lang="en-US" sz="1400" b="1" dirty="0">
                <a:solidFill>
                  <a:srgbClr val="FFFFFF"/>
                </a:solidFill>
              </a:rPr>
              <a:t>Amy submits the item request</a:t>
            </a:r>
            <a:endParaRPr lang="en-US" sz="1400" dirty="0"/>
          </a:p>
        </p:txBody>
      </p:sp>
      <p:sp>
        <p:nvSpPr>
          <p:cNvPr id="4" name="anim2_0_56"/>
          <p:cNvSpPr/>
          <p:nvPr/>
        </p:nvSpPr>
        <p:spPr>
          <a:xfrm>
            <a:off x="4114800" y="1874520"/>
            <a:ext cx="0" cy="365760"/>
          </a:xfrm>
          <a:prstGeom prst="line">
            <a:avLst/>
          </a:prstGeom>
          <a:noFill/>
          <a:ln w="19050">
            <a:solidFill>
              <a:srgbClr val="64748B"/>
            </a:solidFill>
            <a:prstDash val="solid"/>
          </a:ln>
        </p:spPr>
      </p:sp>
      <p:sp>
        <p:nvSpPr>
          <p:cNvPr id="5" name="anim2_0_57"/>
          <p:cNvSpPr/>
          <p:nvPr/>
        </p:nvSpPr>
        <p:spPr>
          <a:xfrm>
            <a:off x="1691640" y="2240280"/>
            <a:ext cx="4846320" cy="0"/>
          </a:xfrm>
          <a:prstGeom prst="line">
            <a:avLst/>
          </a:prstGeom>
          <a:noFill/>
          <a:ln w="19050">
            <a:solidFill>
              <a:srgbClr val="64748B"/>
            </a:solidFill>
            <a:prstDash val="solid"/>
          </a:ln>
        </p:spPr>
      </p:sp>
      <p:sp>
        <p:nvSpPr>
          <p:cNvPr id="6" name="anim2_0_58"/>
          <p:cNvSpPr/>
          <p:nvPr/>
        </p:nvSpPr>
        <p:spPr>
          <a:xfrm>
            <a:off x="1691640" y="2240280"/>
            <a:ext cx="0" cy="320040"/>
          </a:xfrm>
          <a:prstGeom prst="line">
            <a:avLst/>
          </a:prstGeom>
          <a:noFill/>
          <a:ln w="19050">
            <a:solidFill>
              <a:srgbClr val="64748B"/>
            </a:solidFill>
            <a:prstDash val="solid"/>
          </a:ln>
        </p:spPr>
      </p:sp>
      <p:sp>
        <p:nvSpPr>
          <p:cNvPr id="7" name="anim2_0_59"/>
          <p:cNvSpPr/>
          <p:nvPr/>
        </p:nvSpPr>
        <p:spPr>
          <a:xfrm>
            <a:off x="685800" y="2560320"/>
            <a:ext cx="2011680" cy="914400"/>
          </a:xfrm>
          <a:prstGeom prst="roundRect">
            <a:avLst>
              <a:gd name="adj" fmla="val 15000"/>
            </a:avLst>
          </a:prstGeom>
          <a:solidFill>
            <a:srgbClr val="8ACFC4"/>
          </a:solidFill>
          <a:ln/>
        </p:spPr>
        <p:txBody>
          <a:bodyPr wrap="square" lIns="762" tIns="762" rIns="762" bIns="762" rtlCol="0" anchor="ctr"/>
          <a:lstStyle/>
          <a:p>
            <a:pPr algn="ctr" indent="0" marL="0">
              <a:buNone/>
            </a:pPr>
            <a:r>
              <a:rPr lang="en-US" sz="1300" b="1" dirty="0">
                <a:solidFill>
                  <a:schemeClr val="tx2"/>
                </a:solidFill>
              </a:rPr>
              <a:t>BU Head</a:t>
            </a:r>
            <a:endParaRPr lang="en-US" sz="1300" dirty="0"/>
          </a:p>
        </p:txBody>
      </p:sp>
      <p:sp>
        <p:nvSpPr>
          <p:cNvPr id="8" name="anim3_0_60"/>
          <p:cNvSpPr/>
          <p:nvPr/>
        </p:nvSpPr>
        <p:spPr>
          <a:xfrm>
            <a:off x="1691640" y="3474720"/>
            <a:ext cx="0" cy="320040"/>
          </a:xfrm>
          <a:prstGeom prst="line">
            <a:avLst/>
          </a:prstGeom>
          <a:noFill/>
          <a:ln w="19050">
            <a:solidFill>
              <a:srgbClr val="64748B"/>
            </a:solidFill>
            <a:prstDash val="solid"/>
          </a:ln>
        </p:spPr>
      </p:sp>
      <p:sp>
        <p:nvSpPr>
          <p:cNvPr id="9" name="anim2_0_61"/>
          <p:cNvSpPr/>
          <p:nvPr/>
        </p:nvSpPr>
        <p:spPr>
          <a:xfrm>
            <a:off x="4114800" y="2240280"/>
            <a:ext cx="0" cy="320040"/>
          </a:xfrm>
          <a:prstGeom prst="line">
            <a:avLst/>
          </a:prstGeom>
          <a:noFill/>
          <a:ln w="19050">
            <a:solidFill>
              <a:srgbClr val="64748B"/>
            </a:solidFill>
            <a:prstDash val="solid"/>
          </a:ln>
        </p:spPr>
      </p:sp>
      <p:sp>
        <p:nvSpPr>
          <p:cNvPr id="10" name="anim2_0_62"/>
          <p:cNvSpPr/>
          <p:nvPr/>
        </p:nvSpPr>
        <p:spPr>
          <a:xfrm>
            <a:off x="3108960" y="2560320"/>
            <a:ext cx="2011680" cy="914400"/>
          </a:xfrm>
          <a:prstGeom prst="roundRect">
            <a:avLst>
              <a:gd name="adj" fmla="val 15000"/>
            </a:avLst>
          </a:prstGeom>
          <a:solidFill>
            <a:srgbClr val="8ACFC4"/>
          </a:solidFill>
          <a:ln/>
        </p:spPr>
        <p:txBody>
          <a:bodyPr wrap="square" lIns="762" tIns="762" rIns="762" bIns="762" rtlCol="0" anchor="ctr"/>
          <a:lstStyle/>
          <a:p>
            <a:pPr algn="ctr" indent="0" marL="0">
              <a:buNone/>
            </a:pPr>
            <a:r>
              <a:rPr lang="en-US" sz="1300" b="1" dirty="0">
                <a:solidFill>
                  <a:schemeClr val="tx2"/>
                </a:solidFill>
              </a:rPr>
              <a:t>Business Support</a:t>
            </a:r>
            <a:endParaRPr lang="en-US" sz="1300" dirty="0"/>
          </a:p>
        </p:txBody>
      </p:sp>
      <p:sp>
        <p:nvSpPr>
          <p:cNvPr id="11" name="anim3_0_63"/>
          <p:cNvSpPr/>
          <p:nvPr/>
        </p:nvSpPr>
        <p:spPr>
          <a:xfrm>
            <a:off x="4114800" y="3474720"/>
            <a:ext cx="0" cy="320040"/>
          </a:xfrm>
          <a:prstGeom prst="line">
            <a:avLst/>
          </a:prstGeom>
          <a:noFill/>
          <a:ln w="19050">
            <a:solidFill>
              <a:srgbClr val="64748B"/>
            </a:solidFill>
            <a:prstDash val="solid"/>
          </a:ln>
        </p:spPr>
      </p:sp>
      <p:sp>
        <p:nvSpPr>
          <p:cNvPr id="12" name="anim2_0_64"/>
          <p:cNvSpPr/>
          <p:nvPr/>
        </p:nvSpPr>
        <p:spPr>
          <a:xfrm>
            <a:off x="6537960" y="2240280"/>
            <a:ext cx="0" cy="320040"/>
          </a:xfrm>
          <a:prstGeom prst="line">
            <a:avLst/>
          </a:prstGeom>
          <a:noFill/>
          <a:ln w="19050">
            <a:solidFill>
              <a:srgbClr val="64748B"/>
            </a:solidFill>
            <a:prstDash val="solid"/>
          </a:ln>
        </p:spPr>
      </p:sp>
      <p:sp>
        <p:nvSpPr>
          <p:cNvPr id="13" name="anim2_0_65"/>
          <p:cNvSpPr/>
          <p:nvPr/>
        </p:nvSpPr>
        <p:spPr>
          <a:xfrm>
            <a:off x="5532120" y="2560320"/>
            <a:ext cx="2011680" cy="914400"/>
          </a:xfrm>
          <a:prstGeom prst="roundRect">
            <a:avLst>
              <a:gd name="adj" fmla="val 15000"/>
            </a:avLst>
          </a:prstGeom>
          <a:solidFill>
            <a:srgbClr val="8ACFC4"/>
          </a:solidFill>
          <a:ln/>
        </p:spPr>
        <p:txBody>
          <a:bodyPr wrap="square" lIns="762" tIns="762" rIns="762" bIns="762" rtlCol="0" anchor="ctr"/>
          <a:lstStyle/>
          <a:p>
            <a:pPr algn="ctr" indent="0" marL="0">
              <a:buNone/>
            </a:pPr>
            <a:r>
              <a:rPr lang="en-US" sz="1300" b="1" dirty="0">
                <a:solidFill>
                  <a:schemeClr val="tx2"/>
                </a:solidFill>
              </a:rPr>
              <a:t>Quality/Regulatory (if regulated or 'Not sure')</a:t>
            </a:r>
            <a:endParaRPr lang="en-US" sz="1300" dirty="0"/>
          </a:p>
        </p:txBody>
      </p:sp>
      <p:sp>
        <p:nvSpPr>
          <p:cNvPr id="14" name="anim3_0_66"/>
          <p:cNvSpPr/>
          <p:nvPr/>
        </p:nvSpPr>
        <p:spPr>
          <a:xfrm>
            <a:off x="6537960" y="3474720"/>
            <a:ext cx="0" cy="320040"/>
          </a:xfrm>
          <a:prstGeom prst="line">
            <a:avLst/>
          </a:prstGeom>
          <a:noFill/>
          <a:ln w="19050">
            <a:solidFill>
              <a:srgbClr val="64748B"/>
            </a:solidFill>
            <a:prstDash val="solid"/>
          </a:ln>
        </p:spPr>
      </p:sp>
      <p:sp>
        <p:nvSpPr>
          <p:cNvPr id="15" name="anim2_0_67"/>
          <p:cNvSpPr/>
          <p:nvPr/>
        </p:nvSpPr>
        <p:spPr>
          <a:xfrm>
            <a:off x="3246120" y="2075688"/>
            <a:ext cx="1737360" cy="329184"/>
          </a:xfrm>
          <a:prstGeom prst="roundRect">
            <a:avLst>
              <a:gd name="adj" fmla="val 83333"/>
            </a:avLst>
          </a:prstGeom>
          <a:solidFill>
            <a:srgbClr val="0F766E"/>
          </a:solidFill>
          <a:ln/>
        </p:spPr>
        <p:txBody>
          <a:bodyPr wrap="square" lIns="1016" tIns="1016" rIns="1016" bIns="1016" rtlCol="0" anchor="ctr"/>
          <a:lstStyle/>
          <a:p>
            <a:pPr algn="ctr" indent="0" marL="0">
              <a:buNone/>
            </a:pPr>
            <a:r>
              <a:rPr lang="en-US" sz="1100" b="1" dirty="0">
                <a:solidFill>
                  <a:srgbClr val="FFFFFF"/>
                </a:solidFill>
              </a:rPr>
              <a:t>at the same time</a:t>
            </a:r>
            <a:endParaRPr lang="en-US" sz="1100" dirty="0"/>
          </a:p>
        </p:txBody>
      </p:sp>
      <p:sp>
        <p:nvSpPr>
          <p:cNvPr id="16" name="anim3_0_68"/>
          <p:cNvSpPr/>
          <p:nvPr/>
        </p:nvSpPr>
        <p:spPr>
          <a:xfrm>
            <a:off x="1691640" y="3959352"/>
            <a:ext cx="4846320" cy="0"/>
          </a:xfrm>
          <a:prstGeom prst="line">
            <a:avLst/>
          </a:prstGeom>
          <a:noFill/>
          <a:ln w="19050">
            <a:solidFill>
              <a:srgbClr val="64748B"/>
            </a:solidFill>
            <a:prstDash val="solid"/>
          </a:ln>
        </p:spPr>
      </p:sp>
      <p:sp>
        <p:nvSpPr>
          <p:cNvPr id="17" name="anim3_0_69"/>
          <p:cNvSpPr/>
          <p:nvPr/>
        </p:nvSpPr>
        <p:spPr>
          <a:xfrm>
            <a:off x="4114800" y="3959352"/>
            <a:ext cx="0" cy="274320"/>
          </a:xfrm>
          <a:prstGeom prst="line">
            <a:avLst/>
          </a:prstGeom>
          <a:noFill/>
          <a:ln w="19050">
            <a:solidFill>
              <a:srgbClr val="64748B"/>
            </a:solidFill>
            <a:prstDash val="solid"/>
          </a:ln>
        </p:spPr>
      </p:sp>
      <p:sp>
        <p:nvSpPr>
          <p:cNvPr id="18" name="anim3_0_70"/>
          <p:cNvSpPr/>
          <p:nvPr/>
        </p:nvSpPr>
        <p:spPr>
          <a:xfrm>
            <a:off x="2377440" y="4233672"/>
            <a:ext cx="3474720" cy="640080"/>
          </a:xfrm>
          <a:prstGeom prst="roundRect">
            <a:avLst>
              <a:gd name="adj" fmla="val 50000"/>
            </a:avLst>
          </a:prstGeom>
          <a:solidFill>
            <a:srgbClr val="0C2F3B"/>
          </a:solidFill>
          <a:ln/>
        </p:spPr>
        <p:txBody>
          <a:bodyPr wrap="square" rtlCol="0" anchor="ctr"/>
          <a:lstStyle/>
          <a:p>
            <a:pPr algn="ctr" indent="0" marL="0">
              <a:buNone/>
            </a:pPr>
            <a:r>
              <a:rPr lang="en-US" sz="1400" b="1" dirty="0">
                <a:solidFill>
                  <a:srgbClr val="FFFFFF"/>
                </a:solidFill>
              </a:rPr>
              <a:t>Priya (MDM) · final check</a:t>
            </a:r>
            <a:endParaRPr lang="en-US" sz="1400" dirty="0"/>
          </a:p>
        </p:txBody>
      </p:sp>
      <p:sp>
        <p:nvSpPr>
          <p:cNvPr id="19" name="anim3_0_71"/>
          <p:cNvSpPr/>
          <p:nvPr/>
        </p:nvSpPr>
        <p:spPr>
          <a:xfrm>
            <a:off x="4114800" y="4873752"/>
            <a:ext cx="0" cy="274320"/>
          </a:xfrm>
          <a:prstGeom prst="line">
            <a:avLst/>
          </a:prstGeom>
          <a:noFill/>
          <a:ln w="19050">
            <a:solidFill>
              <a:srgbClr val="64748B"/>
            </a:solidFill>
            <a:prstDash val="solid"/>
          </a:ln>
        </p:spPr>
      </p:sp>
      <p:sp>
        <p:nvSpPr>
          <p:cNvPr id="20" name="anim3_0_72"/>
          <p:cNvSpPr/>
          <p:nvPr/>
        </p:nvSpPr>
        <p:spPr>
          <a:xfrm>
            <a:off x="2103120" y="5148072"/>
            <a:ext cx="4023360" cy="640080"/>
          </a:xfrm>
          <a:prstGeom prst="roundRect">
            <a:avLst>
              <a:gd name="adj" fmla="val 50000"/>
            </a:avLst>
          </a:prstGeom>
          <a:solidFill>
            <a:srgbClr val="0F766E"/>
          </a:solidFill>
          <a:ln/>
        </p:spPr>
        <p:txBody>
          <a:bodyPr wrap="square" rtlCol="0" anchor="ctr"/>
          <a:lstStyle/>
          <a:p>
            <a:pPr algn="ctr" indent="0" marL="0">
              <a:buNone/>
            </a:pPr>
            <a:r>
              <a:rPr lang="en-US" sz="1400" b="1" dirty="0">
                <a:solidFill>
                  <a:srgbClr val="FFFFFF"/>
                </a:solidFill>
              </a:rPr>
              <a:t>SAP B1 import file, with a proposed code</a:t>
            </a:r>
            <a:endParaRPr lang="en-US" sz="1400" dirty="0"/>
          </a:p>
        </p:txBody>
      </p:sp>
      <p:sp>
        <p:nvSpPr>
          <p:cNvPr id="21" name="anim4_0_73"/>
          <p:cNvSpPr/>
          <p:nvPr/>
        </p:nvSpPr>
        <p:spPr>
          <a:xfrm>
            <a:off x="8001000" y="1325880"/>
            <a:ext cx="3657600" cy="3383280"/>
          </a:xfrm>
          <a:prstGeom prst="roundRect">
            <a:avLst>
              <a:gd name="adj" fmla="val 3243"/>
            </a:avLst>
          </a:prstGeom>
          <a:solidFill>
            <a:srgbClr val="EEF6F4"/>
          </a:solidFill>
          <a:ln/>
        </p:spPr>
        <p:txBody>
          <a:bodyPr wrap="square" lIns="3175" tIns="3175" rIns="3175" bIns="3175" rtlCol="0" anchor="t"/>
          <a:lstStyle/>
          <a:p>
            <a:pPr indent="0" marL="0">
              <a:spcAft>
                <a:spcPts val="800"/>
              </a:spcAft>
              <a:buNone/>
            </a:pPr>
            <a:r>
              <a:rPr lang="en-US" sz="1800" b="1" dirty="0">
                <a:solidFill>
                  <a:schemeClr val="tx2"/>
                </a:solidFill>
              </a:rPr>
              <a:t>If nobody answers</a:t>
            </a:r>
            <a:endParaRPr lang="en-US" sz="1400" dirty="0"/>
          </a:p>
          <a:p>
            <a:pPr indent="0" marL="0">
              <a:spcAft>
                <a:spcPts val="800"/>
              </a:spcAft>
              <a:buNone/>
            </a:pPr>
            <a:r>
              <a:rPr lang="en-US" sz="800" dirty="0">
                <a:solidFill>
                  <a:schemeClr val="tx1"/>
                </a:solidFill>
              </a:rPr>
              <a:t> </a:t>
            </a:r>
            <a:endParaRPr lang="en-US" sz="1400" dirty="0"/>
          </a:p>
          <a:p>
            <a:pPr marL="342900" indent="-342900">
              <a:spcAft>
                <a:spcPts val="800"/>
              </a:spcAft>
              <a:buSzPct val="100000"/>
              <a:buChar char="•"/>
            </a:pPr>
            <a:r>
              <a:rPr lang="en-US" sz="1400" dirty="0">
                <a:solidFill>
                  <a:schemeClr val="tx1"/>
                </a:solidFill>
              </a:rPr>
              <a:t>Reminder at 9 AM in each approver's own time zone</a:t>
            </a:r>
            <a:endParaRPr lang="en-US" sz="1400" dirty="0"/>
          </a:p>
          <a:p>
            <a:pPr marL="342900" indent="-342900">
              <a:spcAft>
                <a:spcPts val="800"/>
              </a:spcAft>
              <a:buSzPct val="100000"/>
              <a:buChar char="•"/>
            </a:pPr>
            <a:r>
              <a:rPr lang="en-US" sz="1400" dirty="0">
                <a:solidFill>
                  <a:schemeClr val="tx1"/>
                </a:solidFill>
              </a:rPr>
              <a:t>Escalated to their manager after 4 days</a:t>
            </a:r>
            <a:endParaRPr lang="en-US" sz="1400" dirty="0"/>
          </a:p>
          <a:p>
            <a:pPr marL="342900" indent="-342900">
              <a:spcAft>
                <a:spcPts val="800"/>
              </a:spcAft>
              <a:buSzPct val="100000"/>
              <a:buChar char="•"/>
            </a:pPr>
            <a:r>
              <a:rPr lang="en-US" sz="1400" dirty="0">
                <a:solidFill>
                  <a:schemeClr val="tx1"/>
                </a:solidFill>
              </a:rPr>
              <a:t>Customer and Vendor requests also go to Finance (Wei Jie)</a:t>
            </a:r>
            <a:endParaRPr lang="en-US" sz="1400" dirty="0"/>
          </a:p>
          <a:p>
            <a:pPr marL="342900" indent="-342900">
              <a:spcAft>
                <a:spcPts val="800"/>
              </a:spcAft>
              <a:buSzPct val="100000"/>
              <a:buChar char="•"/>
            </a:pPr>
            <a:r>
              <a:rPr lang="en-US" sz="1400" dirty="0">
                <a:solidFill>
                  <a:schemeClr val="tx1"/>
                </a:solidFill>
              </a:rPr>
              <a:t>Amy sees who it's waiting on in My requests, without asking</a:t>
            </a:r>
            <a:endParaRPr lang="en-US" sz="1400" dirty="0"/>
          </a:p>
        </p:txBody>
      </p:sp>
      <p:sp>
        <p:nvSpPr>
          <p:cNvPr id="22" name="anim4_0_74"/>
          <p:cNvSpPr txBox="1"/>
          <p:nvPr/>
        </p:nvSpPr>
        <p:spPr>
          <a:xfrm>
            <a:off x="8001000" y="4800600"/>
            <a:ext cx="3657600" cy="548640"/>
          </a:xfrm>
          <a:prstGeom prst="rect">
            <a:avLst/>
          </a:prstGeom>
          <a:noFill/>
          <a:ln/>
        </p:spPr>
        <p:txBody>
          <a:bodyPr wrap="square" lIns="0" tIns="0" rIns="0" bIns="0" rtlCol="0" anchor="t"/>
          <a:lstStyle/>
          <a:p>
            <a:pPr indent="0" marL="0">
              <a:buNone/>
            </a:pPr>
            <a:r>
              <a:rPr lang="en-US" sz="1300" b="1" dirty="0">
                <a:solidFill>
                  <a:srgbClr val="E4572E"/>
                </a:solidFill>
              </a:rPr>
              <a:t>Today: </a:t>
            </a:r>
            <a:pPr indent="0" marL="0">
              <a:buNone/>
            </a:pPr>
            <a:r>
              <a:rPr lang="en-US" sz="1300" dirty="0">
                <a:solidFill>
                  <a:schemeClr val="tx1"/>
                </a:solidFill>
              </a:rPr>
              <a:t>QA → BU Head → Business Support, a few days each</a:t>
            </a:r>
            <a:endParaRPr lang="en-US" sz="1300" dirty="0"/>
          </a:p>
        </p:txBody>
      </p:sp>
      <p:sp>
        <p:nvSpPr>
          <p:cNvPr id="23" name="anim5_0_75"/>
          <p:cNvSpPr/>
          <p:nvPr/>
        </p:nvSpPr>
        <p:spPr>
          <a:xfrm>
            <a:off x="8001000" y="5440680"/>
            <a:ext cx="3657600" cy="777240"/>
          </a:xfrm>
          <a:prstGeom prst="roundRect">
            <a:avLst>
              <a:gd name="adj" fmla="val 17647"/>
            </a:avLst>
          </a:prstGeom>
          <a:solidFill>
            <a:srgbClr val="0C2F3B"/>
          </a:solidFill>
          <a:ln/>
        </p:spPr>
        <p:txBody>
          <a:bodyPr wrap="square" lIns="1524" tIns="1524" rIns="1524" bIns="1524" rtlCol="0" anchor="ctr"/>
          <a:lstStyle/>
          <a:p>
            <a:pPr indent="0" marL="0">
              <a:buNone/>
            </a:pPr>
            <a:r>
              <a:rPr lang="en-US" sz="1300" b="1" dirty="0">
                <a:solidFill>
                  <a:srgbClr val="8ACFC4"/>
                </a:solidFill>
              </a:rPr>
              <a:t>Audit-ready: </a:t>
            </a:r>
            <a:pPr indent="0" marL="0">
              <a:buNone/>
            </a:pPr>
            <a:r>
              <a:rPr lang="en-US" sz="1300" dirty="0">
                <a:solidFill>
                  <a:srgbClr val="FFFFFF"/>
                </a:solidFill>
              </a:rPr>
              <a:t>every approval is logged. Bank details never appear on the card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7"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childTnLst>
                    </p:cTn>
                  </p:par>
                  <p:par>
                    <p:cTn id="36" fill="hold">
                      <p:stCondLst>
                        <p:cond delay="indefinite"/>
                      </p:stCondLst>
                      <p:childTnLst>
                        <p:par>
                          <p:cTn id="35" fill="hold">
                            <p:stCondLst>
                              <p:cond delay="0"/>
                            </p:stCondLst>
                            <p:childTnLst>
                              <p:par>
                                <p:cTn id="8" presetID="10" presetClass="entr" presetSubtype="0" fill="hold" grpId="0" nodeType="click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00"/>
                                        <p:tgtEl>
                                          <p:spTgt spid="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00"/>
                                        <p:tgtEl>
                                          <p:spTgt spid="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400"/>
                                        <p:tgtEl>
                                          <p:spTgt spid="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400"/>
                                        <p:tgtEl>
                                          <p:spTgt spid="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400"/>
                                        <p:tgtEl>
                                          <p:spTgt spid="10"/>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400"/>
                                        <p:tgtEl>
                                          <p:spTgt spid="15"/>
                                        </p:tgtEl>
                                      </p:cBhvr>
                                    </p:animEffect>
                                  </p:childTnLst>
                                </p:cTn>
                              </p:par>
                            </p:childTnLst>
                          </p:cTn>
                        </p:par>
                      </p:childTnLst>
                    </p:cTn>
                  </p:par>
                  <p:par>
                    <p:cTn id="62" fill="hold">
                      <p:stCondLst>
                        <p:cond delay="indefinite"/>
                      </p:stCondLst>
                      <p:childTnLst>
                        <p:par>
                          <p:cTn id="61"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fade">
                                      <p:cBhvr>
                                        <p:cTn id="39" dur="400"/>
                                        <p:tgtEl>
                                          <p:spTgt spid="8"/>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400"/>
                                        <p:tgtEl>
                                          <p:spTgt spid="1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fade">
                                      <p:cBhvr>
                                        <p:cTn id="45" dur="400"/>
                                        <p:tgtEl>
                                          <p:spTgt spid="1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childTnLst>
                          </p:cTn>
                        </p:par>
                      </p:childTnLst>
                    </p:cTn>
                  </p:par>
                  <p:par>
                    <p:cTn id="70" fill="hold">
                      <p:stCondLst>
                        <p:cond delay="indefinite"/>
                      </p:stCondLst>
                      <p:childTnLst>
                        <p:par>
                          <p:cTn id="69"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2"/>
                                        </p:tgtEl>
                                        <p:attrNameLst>
                                          <p:attrName>style.visibility</p:attrName>
                                        </p:attrNameLst>
                                      </p:cBhvr>
                                      <p:to>
                                        <p:strVal val="visible"/>
                                      </p:to>
                                    </p:set>
                                    <p:animEffect transition="in" filter="fade">
                                      <p:cBhvr>
                                        <p:cTn id="68" dur="400"/>
                                        <p:tgtEl>
                                          <p:spTgt spid="22"/>
                                        </p:tgtEl>
                                      </p:cBhvr>
                                    </p:animEffect>
                                  </p:childTnLst>
                                </p:cTn>
                              </p:par>
                            </p:childTnLst>
                          </p:cTn>
                        </p:par>
                      </p:childTnLst>
                    </p:cTn>
                  </p:par>
                  <p:par>
                    <p:cTn id="75" fill="hold">
                      <p:stCondLst>
                        <p:cond delay="indefinite"/>
                      </p:stCondLst>
                      <p:childTnLst>
                        <p:par>
                          <p:cTn id="74"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9" grpId="0" animBg="1"/>
      <p:bldP spid="10" grpId="0" animBg="1"/>
      <p:bldP spid="12" grpId="0" animBg="1"/>
      <p:bldP spid="13" grpId="0" animBg="1"/>
      <p:bldP spid="15" grpId="0" animBg="1"/>
      <p:bldP spid="8" grpId="0" animBg="1"/>
      <p:bldP spid="11" grpId="0" animBg="1"/>
      <p:bldP spid="14" grpId="0" animBg="1"/>
      <p:bldP spid="16" grpId="0" animBg="1"/>
      <p:bldP spid="17" grpId="0" animBg="1"/>
      <p:bldP spid="18" grpId="0" animBg="1"/>
      <p:bldP spid="19" grpId="0" animBg="1"/>
      <p:bldP spid="20" grpId="0" animBg="1"/>
      <p:bldP spid="21"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Watch: approvals, reminders and the SAP file</a:t>
            </a:r>
            <a:endParaRPr lang="en-US" sz="3000" dirty="0"/>
          </a:p>
        </p:txBody>
      </p:sp>
      <p:sp>
        <p:nvSpPr>
          <p:cNvPr id="3" name="VIDEO-02_76"/>
          <p:cNvSpPr/>
          <p:nvPr/>
        </p:nvSpPr>
        <p:spPr>
          <a:xfrm>
            <a:off x="548640" y="1280160"/>
            <a:ext cx="7315200" cy="4114800"/>
          </a:xfrm>
          <a:prstGeom prst="roundRect">
            <a:avLst>
              <a:gd name="adj" fmla="val 2667"/>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VIDEO-02</a:t>
            </a:r>
            <a:endParaRPr lang="en-US" sz="1600" dirty="0"/>
          </a:p>
          <a:p>
            <a:pPr algn="ctr" indent="0" marL="0">
              <a:buNone/>
            </a:pPr>
            <a:r>
              <a:rPr lang="en-US" sz="1200" dirty="0">
                <a:solidFill>
                  <a:schemeClr val="accent5"/>
                </a:solidFill>
              </a:rPr>
              <a:t>Silent screen recording, 60–90 s: Teams approval cards → demo clock +4 days → escalation → My requests → Priya downloads the SAP file. Insert &gt; Video, set to start on click</a:t>
            </a:r>
            <a:endParaRPr lang="en-US" sz="1600" dirty="0"/>
          </a:p>
        </p:txBody>
      </p:sp>
      <p:sp>
        <p:nvSpPr>
          <p:cNvPr id="4" name="anim1_0_77"/>
          <p:cNvSpPr/>
          <p:nvPr/>
        </p:nvSpPr>
        <p:spPr>
          <a:xfrm>
            <a:off x="8183880" y="1371600"/>
            <a:ext cx="502920" cy="502920"/>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5" name="anim1_0_77"/>
          <p:cNvSpPr txBox="1"/>
          <p:nvPr/>
        </p:nvSpPr>
        <p:spPr>
          <a:xfrm>
            <a:off x="8823960" y="1353312"/>
            <a:ext cx="2834640" cy="822960"/>
          </a:xfrm>
          <a:prstGeom prst="rect">
            <a:avLst/>
          </a:prstGeom>
          <a:noFill/>
          <a:ln/>
        </p:spPr>
        <p:txBody>
          <a:bodyPr wrap="square" lIns="0" tIns="0" rIns="0" bIns="0" rtlCol="0" anchor="ctr"/>
          <a:lstStyle/>
          <a:p>
            <a:pPr indent="0" marL="0">
              <a:buNone/>
            </a:pPr>
            <a:r>
              <a:rPr lang="en-US" sz="1400" dirty="0">
                <a:solidFill>
                  <a:schemeClr val="tx1"/>
                </a:solidFill>
              </a:rPr>
              <a:t>Teams card: Approve, Request changes or Reject</a:t>
            </a:r>
            <a:endParaRPr lang="en-US" sz="1400" dirty="0"/>
          </a:p>
        </p:txBody>
      </p:sp>
      <p:sp>
        <p:nvSpPr>
          <p:cNvPr id="6" name="anim2_0_78"/>
          <p:cNvSpPr/>
          <p:nvPr/>
        </p:nvSpPr>
        <p:spPr>
          <a:xfrm>
            <a:off x="8183880" y="2395728"/>
            <a:ext cx="502920" cy="502920"/>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7" name="anim2_0_78"/>
          <p:cNvSpPr txBox="1"/>
          <p:nvPr/>
        </p:nvSpPr>
        <p:spPr>
          <a:xfrm>
            <a:off x="8823960" y="2377440"/>
            <a:ext cx="2834640" cy="822960"/>
          </a:xfrm>
          <a:prstGeom prst="rect">
            <a:avLst/>
          </a:prstGeom>
          <a:noFill/>
          <a:ln/>
        </p:spPr>
        <p:txBody>
          <a:bodyPr wrap="square" lIns="0" tIns="0" rIns="0" bIns="0" rtlCol="0" anchor="ctr"/>
          <a:lstStyle/>
          <a:p>
            <a:pPr indent="0" marL="0">
              <a:buNone/>
            </a:pPr>
            <a:r>
              <a:rPr lang="en-US" sz="1400" dirty="0">
                <a:solidFill>
                  <a:schemeClr val="tx1"/>
                </a:solidFill>
              </a:rPr>
              <a:t>Demo clock +4 days: escalation fires</a:t>
            </a:r>
            <a:endParaRPr lang="en-US" sz="1400" dirty="0"/>
          </a:p>
        </p:txBody>
      </p:sp>
      <p:sp>
        <p:nvSpPr>
          <p:cNvPr id="8" name="anim3_0_79"/>
          <p:cNvSpPr/>
          <p:nvPr/>
        </p:nvSpPr>
        <p:spPr>
          <a:xfrm>
            <a:off x="8183880" y="3419856"/>
            <a:ext cx="502920" cy="502920"/>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9" name="anim3_0_79"/>
          <p:cNvSpPr txBox="1"/>
          <p:nvPr/>
        </p:nvSpPr>
        <p:spPr>
          <a:xfrm>
            <a:off x="8823960" y="3401568"/>
            <a:ext cx="2834640" cy="822960"/>
          </a:xfrm>
          <a:prstGeom prst="rect">
            <a:avLst/>
          </a:prstGeom>
          <a:noFill/>
          <a:ln/>
        </p:spPr>
        <p:txBody>
          <a:bodyPr wrap="square" lIns="0" tIns="0" rIns="0" bIns="0" rtlCol="0" anchor="ctr"/>
          <a:lstStyle/>
          <a:p>
            <a:pPr indent="0" marL="0">
              <a:buNone/>
            </a:pPr>
            <a:r>
              <a:rPr lang="en-US" sz="1400" dirty="0">
                <a:solidFill>
                  <a:schemeClr val="tx1"/>
                </a:solidFill>
              </a:rPr>
              <a:t>My requests: who it's waiting on</a:t>
            </a:r>
            <a:endParaRPr lang="en-US" sz="1400" dirty="0"/>
          </a:p>
        </p:txBody>
      </p:sp>
      <p:sp>
        <p:nvSpPr>
          <p:cNvPr id="10" name="anim4_0_80"/>
          <p:cNvSpPr/>
          <p:nvPr/>
        </p:nvSpPr>
        <p:spPr>
          <a:xfrm>
            <a:off x="8183880" y="4443984"/>
            <a:ext cx="502920" cy="502920"/>
          </a:xfrm>
          <a:prstGeom prst="ellipse">
            <a:avLst/>
          </a:prstGeom>
          <a:solidFill>
            <a:srgbClr val="0F766E"/>
          </a:solidFill>
          <a:ln/>
        </p:spPr>
        <p:txBody>
          <a:bodyPr wrap="square" lIns="0" tIns="0" rIns="0" bIns="0" rtlCol="0" anchor="ctr"/>
          <a:lstStyle/>
          <a:p>
            <a:pPr algn="ctr" indent="0" marL="0">
              <a:buNone/>
            </a:pPr>
            <a:r>
              <a:rPr lang="en-US" sz="1600" b="1" dirty="0">
                <a:solidFill>
                  <a:srgbClr val="FFFFFF"/>
                </a:solidFill>
              </a:rPr>
              <a:t>4</a:t>
            </a:r>
            <a:endParaRPr lang="en-US" sz="1600" dirty="0"/>
          </a:p>
        </p:txBody>
      </p:sp>
      <p:sp>
        <p:nvSpPr>
          <p:cNvPr id="11" name="anim4_0_80"/>
          <p:cNvSpPr txBox="1"/>
          <p:nvPr/>
        </p:nvSpPr>
        <p:spPr>
          <a:xfrm>
            <a:off x="8823960" y="4425696"/>
            <a:ext cx="2834640" cy="822960"/>
          </a:xfrm>
          <a:prstGeom prst="rect">
            <a:avLst/>
          </a:prstGeom>
          <a:noFill/>
          <a:ln/>
        </p:spPr>
        <p:txBody>
          <a:bodyPr wrap="square" lIns="0" tIns="0" rIns="0" bIns="0" rtlCol="0" anchor="ctr"/>
          <a:lstStyle/>
          <a:p>
            <a:pPr indent="0" marL="0">
              <a:buNone/>
            </a:pPr>
            <a:r>
              <a:rPr lang="en-US" sz="1400" dirty="0">
                <a:solidFill>
                  <a:schemeClr val="tx1"/>
                </a:solidFill>
              </a:rPr>
              <a:t>Priya downloads the SAP import file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childTnLst>
                    </p:cTn>
                  </p:par>
                  <p:par>
                    <p:cTn id="18" fill="hold">
                      <p:stCondLst>
                        <p:cond delay="indefinite"/>
                      </p:stCondLst>
                      <p:childTnLst>
                        <p:par>
                          <p:cTn id="17"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childTnLst>
                          </p:cTn>
                        </p:par>
                      </p:childTnLst>
                    </p:cTn>
                  </p:par>
                  <p:par>
                    <p:cTn id="26" fill="hold">
                      <p:stCondLst>
                        <p:cond delay="indefinite"/>
                      </p:stCondLst>
                      <p:childTnLst>
                        <p:par>
                          <p:cTn id="25"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400"/>
                                        <p:tgtEl>
                                          <p:spTgt spid="8"/>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400"/>
                                        <p:tgtEl>
                                          <p:spTgt spid="9"/>
                                        </p:tgtEl>
                                      </p:cBhvr>
                                    </p:animEffect>
                                  </p:childTnLst>
                                </p:cTn>
                              </p:par>
                            </p:childTnLst>
                          </p:cTn>
                        </p:par>
                      </p:childTnLst>
                    </p:cTn>
                  </p:par>
                  <p:par>
                    <p:cTn id="34" fill="hold">
                      <p:stCondLst>
                        <p:cond delay="indefinite"/>
                      </p:stCondLst>
                      <p:childTnLst>
                        <p:par>
                          <p:cTn id="33"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400"/>
                                        <p:tgtEl>
                                          <p:spTgt spid="10"/>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Marcus's new team, added without IT</a:t>
            </a:r>
            <a:endParaRPr lang="en-US" sz="3000" dirty="0"/>
          </a:p>
        </p:txBody>
      </p:sp>
      <p:sp>
        <p:nvSpPr>
          <p:cNvPr id="3" name="ring_81"/>
          <p:cNvSpPr/>
          <p:nvPr/>
        </p:nvSpPr>
        <p:spPr>
          <a:xfrm>
            <a:off x="612648" y="1435608"/>
            <a:ext cx="4352544" cy="4352544"/>
          </a:xfrm>
          <a:prstGeom prst="blockArc">
            <a:avLst>
              <a:gd name="adj1" fmla="val 5400000"/>
              <a:gd name="adj2" fmla="val 16200000"/>
              <a:gd name="adj3" fmla="val 4500"/>
            </a:avLst>
          </a:prstGeom>
          <a:solidFill>
            <a:srgbClr val="0C2F3B"/>
          </a:solidFill>
          <a:ln/>
        </p:spPr>
      </p:sp>
      <p:sp>
        <p:nvSpPr>
          <p:cNvPr id="4" name="ring_82"/>
          <p:cNvSpPr/>
          <p:nvPr/>
        </p:nvSpPr>
        <p:spPr>
          <a:xfrm>
            <a:off x="382219" y="1205179"/>
            <a:ext cx="4813402" cy="4813402"/>
          </a:xfrm>
          <a:prstGeom prst="blockArc">
            <a:avLst>
              <a:gd name="adj1" fmla="val 16200000"/>
              <a:gd name="adj2" fmla="val 5400000"/>
              <a:gd name="adj3" fmla="val 5500"/>
            </a:avLst>
          </a:prstGeom>
          <a:solidFill>
            <a:srgbClr val="8ACFC4"/>
          </a:solidFill>
          <a:ln/>
        </p:spPr>
      </p:sp>
      <p:sp>
        <p:nvSpPr>
          <p:cNvPr id="5" name="SHOT-05_83"/>
          <p:cNvSpPr/>
          <p:nvPr/>
        </p:nvSpPr>
        <p:spPr>
          <a:xfrm>
            <a:off x="868680" y="1691640"/>
            <a:ext cx="3840480" cy="3840480"/>
          </a:xfrm>
          <a:prstGeom prst="ellipse">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SHOT-05</a:t>
            </a:r>
            <a:endParaRPr lang="en-US" sz="1600" dirty="0"/>
          </a:p>
          <a:p>
            <a:pPr algn="ctr" indent="0" marL="0">
              <a:buNone/>
            </a:pPr>
            <a:r>
              <a:rPr lang="en-US" sz="1200" dirty="0">
                <a:solidFill>
                  <a:schemeClr val="accent5"/>
                </a:solidFill>
              </a:rPr>
              <a:t>Rules page (Priya): business units and approvers</a:t>
            </a:r>
            <a:endParaRPr lang="en-US" sz="1600" dirty="0"/>
          </a:p>
        </p:txBody>
      </p:sp>
      <p:sp>
        <p:nvSpPr>
          <p:cNvPr id="6" name="anim1_0_84"/>
          <p:cNvSpPr/>
          <p:nvPr/>
        </p:nvSpPr>
        <p:spPr>
          <a:xfrm>
            <a:off x="5760720" y="1645920"/>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1</a:t>
            </a:r>
            <a:endParaRPr lang="en-US" sz="1600" dirty="0"/>
          </a:p>
        </p:txBody>
      </p:sp>
      <p:sp>
        <p:nvSpPr>
          <p:cNvPr id="7" name="anim1_0_84"/>
          <p:cNvSpPr txBox="1"/>
          <p:nvPr/>
        </p:nvSpPr>
        <p:spPr>
          <a:xfrm>
            <a:off x="6492240" y="1600200"/>
            <a:ext cx="5120640" cy="1005840"/>
          </a:xfrm>
          <a:prstGeom prst="rect">
            <a:avLst/>
          </a:prstGeom>
          <a:noFill/>
          <a:ln/>
        </p:spPr>
        <p:txBody>
          <a:bodyPr wrap="square" lIns="0" tIns="0" rIns="0" bIns="0" rtlCol="0" anchor="t"/>
          <a:lstStyle/>
          <a:p>
            <a:pPr indent="0" marL="0">
              <a:buNone/>
            </a:pPr>
            <a:r>
              <a:rPr lang="en-US" sz="1600" b="1" dirty="0">
                <a:solidFill>
                  <a:schemeClr val="tx2"/>
                </a:solidFill>
              </a:rPr>
              <a:t>A new business unit is one row</a:t>
            </a:r>
            <a:endParaRPr lang="en-US" sz="1400" dirty="0"/>
          </a:p>
          <a:p>
            <a:pPr indent="0" marL="0">
              <a:buNone/>
            </a:pPr>
            <a:r>
              <a:rPr lang="en-US" sz="1400" dirty="0">
                <a:solidFill>
                  <a:schemeClr val="tx1"/>
                </a:solidFill>
              </a:rPr>
              <a:t>in the Rules list, added by Priya</a:t>
            </a:r>
            <a:endParaRPr lang="en-US" sz="1400" dirty="0"/>
          </a:p>
        </p:txBody>
      </p:sp>
      <p:sp>
        <p:nvSpPr>
          <p:cNvPr id="8" name="anim2_0_85"/>
          <p:cNvSpPr/>
          <p:nvPr/>
        </p:nvSpPr>
        <p:spPr>
          <a:xfrm>
            <a:off x="5760720" y="2880360"/>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2</a:t>
            </a:r>
            <a:endParaRPr lang="en-US" sz="1600" dirty="0"/>
          </a:p>
        </p:txBody>
      </p:sp>
      <p:sp>
        <p:nvSpPr>
          <p:cNvPr id="9" name="anim2_0_85"/>
          <p:cNvSpPr txBox="1"/>
          <p:nvPr/>
        </p:nvSpPr>
        <p:spPr>
          <a:xfrm>
            <a:off x="6492240" y="2834640"/>
            <a:ext cx="5120640" cy="1005840"/>
          </a:xfrm>
          <a:prstGeom prst="rect">
            <a:avLst/>
          </a:prstGeom>
          <a:noFill/>
          <a:ln/>
        </p:spPr>
        <p:txBody>
          <a:bodyPr wrap="square" lIns="0" tIns="0" rIns="0" bIns="0" rtlCol="0" anchor="t"/>
          <a:lstStyle/>
          <a:p>
            <a:pPr indent="0" marL="0">
              <a:buNone/>
            </a:pPr>
            <a:r>
              <a:rPr lang="en-US" sz="1600" b="1" dirty="0">
                <a:solidFill>
                  <a:schemeClr val="tx2"/>
                </a:solidFill>
              </a:rPr>
              <a:t>Fields and approvers are rows too</a:t>
            </a:r>
            <a:endParaRPr lang="en-US" sz="1400" dirty="0"/>
          </a:p>
          <a:p>
            <a:pPr indent="0" marL="0">
              <a:buNone/>
            </a:pPr>
            <a:r>
              <a:rPr lang="en-US" sz="1400" dirty="0">
                <a:solidFill>
                  <a:schemeClr val="tx1"/>
                </a:solidFill>
              </a:rPr>
              <a:t>change a required field or add a step, no IT ticket</a:t>
            </a:r>
            <a:endParaRPr lang="en-US" sz="1400" dirty="0"/>
          </a:p>
        </p:txBody>
      </p:sp>
      <p:sp>
        <p:nvSpPr>
          <p:cNvPr id="10" name="anim3_0_86"/>
          <p:cNvSpPr/>
          <p:nvPr/>
        </p:nvSpPr>
        <p:spPr>
          <a:xfrm>
            <a:off x="5760720" y="4114800"/>
            <a:ext cx="566928" cy="566928"/>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3</a:t>
            </a:r>
            <a:endParaRPr lang="en-US" sz="1600" dirty="0"/>
          </a:p>
        </p:txBody>
      </p:sp>
      <p:sp>
        <p:nvSpPr>
          <p:cNvPr id="11" name="anim3_0_86"/>
          <p:cNvSpPr txBox="1"/>
          <p:nvPr/>
        </p:nvSpPr>
        <p:spPr>
          <a:xfrm>
            <a:off x="6492240" y="4069080"/>
            <a:ext cx="5120640" cy="1005840"/>
          </a:xfrm>
          <a:prstGeom prst="rect">
            <a:avLst/>
          </a:prstGeom>
          <a:noFill/>
          <a:ln/>
        </p:spPr>
        <p:txBody>
          <a:bodyPr wrap="square" lIns="0" tIns="0" rIns="0" bIns="0" rtlCol="0" anchor="t"/>
          <a:lstStyle/>
          <a:p>
            <a:pPr indent="0" marL="0">
              <a:buNone/>
            </a:pPr>
            <a:r>
              <a:rPr lang="en-US" sz="1600" b="1" dirty="0">
                <a:solidFill>
                  <a:schemeClr val="tx2"/>
                </a:solidFill>
              </a:rPr>
              <a:t>Nobody set up for a step yet?</a:t>
            </a:r>
            <a:endParaRPr lang="en-US" sz="1400" dirty="0"/>
          </a:p>
          <a:p>
            <a:pPr indent="0" marL="0">
              <a:buNone/>
            </a:pPr>
            <a:r>
              <a:rPr lang="en-US" sz="1400" dirty="0">
                <a:solidFill>
                  <a:schemeClr val="tx1"/>
                </a:solidFill>
              </a:rPr>
              <a:t>it goes to MDM instead of sitting untouched</a:t>
            </a:r>
            <a:endParaRPr lang="en-US" sz="1400" dirty="0"/>
          </a:p>
        </p:txBody>
      </p:sp>
      <p:sp>
        <p:nvSpPr>
          <p:cNvPr id="12" name="anim4_0_87"/>
          <p:cNvSpPr txBox="1"/>
          <p:nvPr/>
        </p:nvSpPr>
        <p:spPr>
          <a:xfrm>
            <a:off x="5760720" y="5394960"/>
            <a:ext cx="5852160" cy="731520"/>
          </a:xfrm>
          <a:prstGeom prst="rect">
            <a:avLst/>
          </a:prstGeom>
          <a:noFill/>
          <a:ln/>
        </p:spPr>
        <p:txBody>
          <a:bodyPr wrap="square" lIns="0" tIns="0" rIns="0" bIns="0" rtlCol="0" anchor="ctr"/>
          <a:lstStyle/>
          <a:p>
            <a:pPr indent="0" marL="0">
              <a:buNone/>
            </a:pPr>
            <a:r>
              <a:rPr lang="en-US" sz="1400" b="1" i="1" dirty="0">
                <a:solidFill>
                  <a:srgbClr val="E4572E"/>
                </a:solidFill>
              </a:rPr>
              <a:t>Before: </a:t>
            </a:r>
            <a:pPr indent="0" marL="0">
              <a:buNone/>
            </a:pPr>
            <a:r>
              <a:rPr lang="en-US" sz="1400" i="1" dirty="0">
                <a:solidFill>
                  <a:schemeClr val="tx1"/>
                </a:solidFill>
              </a:rPr>
              <a:t>Marcus's first requests went to the wrong people and sat for two weeks.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0"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childTnLst>
                          </p:cTn>
                        </p:par>
                      </p:childTnLst>
                    </p:cTn>
                  </p:par>
                  <p:par>
                    <p:cTn id="18" fill="hold">
                      <p:stCondLst>
                        <p:cond delay="indefinite"/>
                      </p:stCondLst>
                      <p:childTnLst>
                        <p:par>
                          <p:cTn id="17" fill="hold">
                            <p:stCondLst>
                              <p:cond delay="0"/>
                            </p:stCondLst>
                            <p:childTnLst>
                              <p:par>
                                <p:cTn id="11" presetID="10"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26" fill="hold">
                      <p:stCondLst>
                        <p:cond delay="indefinite"/>
                      </p:stCondLst>
                      <p:childTnLst>
                        <p:par>
                          <p:cTn id="25"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childTnLst>
                          </p:cTn>
                        </p:par>
                      </p:childTnLst>
                    </p:cTn>
                  </p:par>
                  <p:par>
                    <p:cTn id="31" fill="hold">
                      <p:stCondLst>
                        <p:cond delay="indefinite"/>
                      </p:stCondLst>
                      <p:childTnLst>
                        <p:par>
                          <p:cTn id="30"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dot_88"/>
          <p:cNvSpPr/>
          <p:nvPr/>
        </p:nvSpPr>
        <p:spPr>
          <a:xfrm>
            <a:off x="822960" y="1828800"/>
            <a:ext cx="868680" cy="868680"/>
          </a:xfrm>
          <a:prstGeom prst="ellipse">
            <a:avLst/>
          </a:prstGeom>
          <a:solidFill>
            <a:schemeClr val="accent1"/>
          </a:solid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3" name="Text 1"/>
          <p:cNvSpPr/>
          <p:nvPr>
            <p:ph idx="101" type="title" hasCustomPrompt="1"/>
          </p:nvPr>
        </p:nvSpPr>
        <p:spPr>
          <a:xfrm>
            <a:off x="822960" y="2880360"/>
            <a:ext cx="5394960" cy="914400"/>
          </a:xfrm>
          <a:prstGeom prst="rect">
            <a:avLst/>
          </a:prstGeom>
          <a:noFill/>
          <a:ln/>
        </p:spPr>
        <p:txBody>
          <a:bodyPr wrap="square" lIns="0" tIns="0" rIns="0" bIns="0" rtlCol="0" anchor="ctr"/>
          <a:lstStyle/>
          <a:p>
            <a:pPr algn="l" indent="0" marL="0">
              <a:buNone/>
            </a:pPr>
            <a:r>
              <a:rPr lang="en-US" sz="3600" b="1" dirty="0">
                <a:solidFill>
                  <a:schemeClr val="tx2"/>
                </a:solidFill>
              </a:rPr>
              <a:t>The regional view</a:t>
            </a:r>
            <a:endParaRPr lang="en-US" sz="3600" dirty="0"/>
          </a:p>
        </p:txBody>
      </p:sp>
      <p:sp>
        <p:nvSpPr>
          <p:cNvPr id="4" name="Text 1"/>
          <p:cNvSpPr/>
          <p:nvPr>
            <p:ph idx="102" type="body" hasCustomPrompt="1"/>
          </p:nvPr>
        </p:nvSpPr>
        <p:spPr>
          <a:xfrm>
            <a:off x="822960" y="3886200"/>
            <a:ext cx="5394960" cy="1188720"/>
          </a:xfrm>
          <a:prstGeom prst="rect">
            <a:avLst/>
          </a:prstGeom>
          <a:noFill/>
          <a:ln/>
        </p:spPr>
        <p:txBody>
          <a:bodyPr wrap="square" lIns="0" tIns="0" rIns="0" bIns="0" rtlCol="0" anchor="t"/>
          <a:lstStyle/>
          <a:p>
            <a:pPr algn="l" indent="0" marL="0">
              <a:buNone/>
            </a:pPr>
            <a:r>
              <a:rPr lang="en-US" sz="1600" b="1" dirty="0">
                <a:solidFill>
                  <a:schemeClr val="accent1"/>
                </a:solidFill>
              </a:rPr>
              <a:t>Darryl</a:t>
            </a:r>
            <a:endParaRPr lang="en-US" sz="1600" dirty="0"/>
          </a:p>
          <a:p>
            <a:pPr algn="l" indent="0" marL="0">
              <a:buNone/>
            </a:pPr>
            <a:r>
              <a:rPr lang="en-US" sz="1600" dirty="0">
                <a:solidFill>
                  <a:schemeClr val="accent5"/>
                </a:solidFill>
              </a:rPr>
              <a:t>What clean data unlocks: growth, forecasts and who to call</a:t>
            </a:r>
            <a:endParaRPr lang="en-US" sz="1600" dirty="0"/>
          </a:p>
        </p:txBody>
      </p:sp>
      <p:sp>
        <p:nvSpPr>
          <p:cNvPr id="5" name="ring_89"/>
          <p:cNvSpPr/>
          <p:nvPr/>
        </p:nvSpPr>
        <p:spPr>
          <a:xfrm>
            <a:off x="6144768" y="1161288"/>
            <a:ext cx="4535424" cy="4535424"/>
          </a:xfrm>
          <a:prstGeom prst="blockArc">
            <a:avLst>
              <a:gd name="adj1" fmla="val 5400000"/>
              <a:gd name="adj2" fmla="val 16200000"/>
              <a:gd name="adj3" fmla="val 4500"/>
            </a:avLst>
          </a:prstGeom>
          <a:solidFill>
            <a:srgbClr val="0C2F3B"/>
          </a:solidFill>
          <a:ln/>
        </p:spPr>
      </p:sp>
      <p:sp>
        <p:nvSpPr>
          <p:cNvPr id="6" name="ring_90"/>
          <p:cNvSpPr/>
          <p:nvPr/>
        </p:nvSpPr>
        <p:spPr>
          <a:xfrm>
            <a:off x="5914339" y="930859"/>
            <a:ext cx="4996282" cy="4996282"/>
          </a:xfrm>
          <a:prstGeom prst="blockArc">
            <a:avLst>
              <a:gd name="adj1" fmla="val 16200000"/>
              <a:gd name="adj2" fmla="val 5400000"/>
              <a:gd name="adj3" fmla="val 5500"/>
            </a:avLst>
          </a:prstGeom>
          <a:solidFill>
            <a:srgbClr val="8ACFC4"/>
          </a:solidFill>
          <a:ln/>
        </p:spPr>
      </p:sp>
      <p:pic>
        <p:nvPicPr>
          <p:cNvPr id="7" name="circleimg_91" descr="Growth heatmap by country and product">    </p:cNvPr>
          <p:cNvPicPr>
            <a:picLocks noChangeAspect="1"/>
          </p:cNvPicPr>
          <p:nvPr/>
        </p:nvPicPr>
        <p:blipFill>
          <a:blip r:embed="rId1"/>
          <a:stretch>
            <a:fillRect/>
          </a:stretch>
        </p:blipFill>
        <p:spPr>
          <a:xfrm>
            <a:off x="6400800" y="1417320"/>
            <a:ext cx="4023360" cy="4023360"/>
          </a:xfrm>
          <a:prstGeom prst="ellipse">
            <a:avLst/>
          </a:prstGeom>
        </p:spPr>
      </p:pic>
      <p:sp>
        <p:nvSpPr>
          <p:cNvPr id="8" name="Shape 5"/>
          <p:cNvSpPr/>
          <p:nvPr/>
        </p:nvSpPr>
        <p:spPr>
          <a:xfrm>
            <a:off x="822960" y="5669280"/>
            <a:ext cx="64008" cy="64008"/>
          </a:xfrm>
          <a:prstGeom prst="ellipse">
            <a:avLst/>
          </a:prstGeom>
          <a:solidFill>
            <a:srgbClr val="0C2F3B"/>
          </a:solidFill>
          <a:ln/>
        </p:spPr>
      </p:sp>
      <p:sp>
        <p:nvSpPr>
          <p:cNvPr id="9" name="Shape 6"/>
          <p:cNvSpPr/>
          <p:nvPr/>
        </p:nvSpPr>
        <p:spPr>
          <a:xfrm>
            <a:off x="822960" y="5852160"/>
            <a:ext cx="64008" cy="64008"/>
          </a:xfrm>
          <a:prstGeom prst="ellipse">
            <a:avLst/>
          </a:prstGeom>
          <a:solidFill>
            <a:srgbClr val="0C2F3B"/>
          </a:solidFill>
          <a:ln/>
        </p:spPr>
      </p:sp>
      <p:sp>
        <p:nvSpPr>
          <p:cNvPr id="10" name="Shape 7"/>
          <p:cNvSpPr/>
          <p:nvPr/>
        </p:nvSpPr>
        <p:spPr>
          <a:xfrm>
            <a:off x="822960" y="6035040"/>
            <a:ext cx="64008" cy="64008"/>
          </a:xfrm>
          <a:prstGeom prst="ellipse">
            <a:avLst/>
          </a:prstGeom>
          <a:solidFill>
            <a:srgbClr val="0C2F3B"/>
          </a:solidFill>
          <a:ln/>
        </p:spPr>
      </p:sp>
      <p:sp>
        <p:nvSpPr>
          <p:cNvPr id="11" name="Shape 8"/>
          <p:cNvSpPr/>
          <p:nvPr/>
        </p:nvSpPr>
        <p:spPr>
          <a:xfrm>
            <a:off x="822960" y="6217920"/>
            <a:ext cx="64008" cy="64008"/>
          </a:xfrm>
          <a:prstGeom prst="ellipse">
            <a:avLst/>
          </a:prstGeom>
          <a:solidFill>
            <a:srgbClr val="0C2F3B"/>
          </a:solidFill>
          <a:ln/>
        </p:spPr>
      </p:sp>
      <p:sp>
        <p:nvSpPr>
          <p:cNvPr id="12" name="Shape 9"/>
          <p:cNvSpPr/>
          <p:nvPr/>
        </p:nvSpPr>
        <p:spPr>
          <a:xfrm>
            <a:off x="1005840" y="5669280"/>
            <a:ext cx="64008" cy="64008"/>
          </a:xfrm>
          <a:prstGeom prst="ellipse">
            <a:avLst/>
          </a:prstGeom>
          <a:solidFill>
            <a:srgbClr val="0C2F3B"/>
          </a:solidFill>
          <a:ln/>
        </p:spPr>
      </p:sp>
      <p:sp>
        <p:nvSpPr>
          <p:cNvPr id="13" name="Shape 10"/>
          <p:cNvSpPr/>
          <p:nvPr/>
        </p:nvSpPr>
        <p:spPr>
          <a:xfrm>
            <a:off x="1005840" y="5852160"/>
            <a:ext cx="64008" cy="64008"/>
          </a:xfrm>
          <a:prstGeom prst="ellipse">
            <a:avLst/>
          </a:prstGeom>
          <a:solidFill>
            <a:srgbClr val="0C2F3B"/>
          </a:solidFill>
          <a:ln/>
        </p:spPr>
      </p:sp>
      <p:sp>
        <p:nvSpPr>
          <p:cNvPr id="14" name="Shape 11"/>
          <p:cNvSpPr/>
          <p:nvPr/>
        </p:nvSpPr>
        <p:spPr>
          <a:xfrm>
            <a:off x="1005840" y="6035040"/>
            <a:ext cx="64008" cy="64008"/>
          </a:xfrm>
          <a:prstGeom prst="ellipse">
            <a:avLst/>
          </a:prstGeom>
          <a:solidFill>
            <a:srgbClr val="0C2F3B"/>
          </a:solidFill>
          <a:ln/>
        </p:spPr>
      </p:sp>
      <p:sp>
        <p:nvSpPr>
          <p:cNvPr id="15" name="Shape 12"/>
          <p:cNvSpPr/>
          <p:nvPr/>
        </p:nvSpPr>
        <p:spPr>
          <a:xfrm>
            <a:off x="1005840" y="6217920"/>
            <a:ext cx="64008" cy="64008"/>
          </a:xfrm>
          <a:prstGeom prst="ellipse">
            <a:avLst/>
          </a:prstGeom>
          <a:solidFill>
            <a:srgbClr val="0C2F3B"/>
          </a:solidFill>
          <a:ln/>
        </p:spPr>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One regional view: 5 countries × Products A, B, C</a:t>
            </a:r>
            <a:endParaRPr lang="en-US" sz="3000" dirty="0"/>
          </a:p>
        </p:txBody>
      </p:sp>
      <p:pic>
        <p:nvPicPr>
          <p:cNvPr id="3" name="overview_92" descr="OneRecord overview page">    </p:cNvPr>
          <p:cNvPicPr>
            <a:picLocks noChangeAspect="1"/>
          </p:cNvPicPr>
          <p:nvPr/>
        </p:nvPicPr>
        <p:blipFill>
          <a:blip r:embed="rId1"/>
          <a:stretch>
            <a:fillRect/>
          </a:stretch>
        </p:blipFill>
        <p:spPr>
          <a:xfrm>
            <a:off x="548640" y="1280160"/>
            <a:ext cx="7680960" cy="4320540"/>
          </a:xfrm>
          <a:prstGeom prst="rect">
            <a:avLst/>
          </a:prstGeom>
        </p:spPr>
      </p:pic>
      <p:sp>
        <p:nvSpPr>
          <p:cNvPr id="4" name="anim1_0_93"/>
          <p:cNvSpPr/>
          <p:nvPr/>
        </p:nvSpPr>
        <p:spPr>
          <a:xfrm>
            <a:off x="2514600" y="251460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5" name="anim1_0_93"/>
          <p:cNvSpPr/>
          <p:nvPr/>
        </p:nvSpPr>
        <p:spPr>
          <a:xfrm>
            <a:off x="8503920" y="132588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anim1_0_93"/>
          <p:cNvSpPr txBox="1"/>
          <p:nvPr/>
        </p:nvSpPr>
        <p:spPr>
          <a:xfrm>
            <a:off x="9098280" y="1280160"/>
            <a:ext cx="2560320" cy="1325880"/>
          </a:xfrm>
          <a:prstGeom prst="rect">
            <a:avLst/>
          </a:prstGeom>
          <a:noFill/>
          <a:ln/>
        </p:spPr>
        <p:txBody>
          <a:bodyPr wrap="square" lIns="0" tIns="0" rIns="0" bIns="0" rtlCol="0" anchor="t"/>
          <a:lstStyle/>
          <a:p>
            <a:pPr indent="0" marL="0">
              <a:buNone/>
            </a:pPr>
            <a:r>
              <a:rPr lang="en-US" sz="1500" b="1" dirty="0">
                <a:solidFill>
                  <a:schemeClr val="tx2"/>
                </a:solidFill>
              </a:rPr>
              <a:t>Growth by country and product</a:t>
            </a:r>
            <a:endParaRPr lang="en-US" sz="1400" dirty="0"/>
          </a:p>
          <a:p>
            <a:pPr indent="0" marL="0">
              <a:buNone/>
            </a:pPr>
            <a:r>
              <a:rPr lang="en-US" sz="1300" dirty="0">
                <a:solidFill>
                  <a:schemeClr val="tx1"/>
                </a:solidFill>
              </a:rPr>
              <a:t>Units ordered, Apr–Sep 2026 vs 2025. Customer orders only, never setup requests</a:t>
            </a:r>
            <a:endParaRPr lang="en-US" sz="1400" dirty="0"/>
          </a:p>
        </p:txBody>
      </p:sp>
      <p:sp>
        <p:nvSpPr>
          <p:cNvPr id="7" name="anim2_0_94"/>
          <p:cNvSpPr/>
          <p:nvPr/>
        </p:nvSpPr>
        <p:spPr>
          <a:xfrm>
            <a:off x="5257800" y="251460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8" name="anim2_0_94"/>
          <p:cNvSpPr/>
          <p:nvPr/>
        </p:nvSpPr>
        <p:spPr>
          <a:xfrm>
            <a:off x="8503920" y="278892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9" name="anim2_0_94"/>
          <p:cNvSpPr txBox="1"/>
          <p:nvPr/>
        </p:nvSpPr>
        <p:spPr>
          <a:xfrm>
            <a:off x="9098280" y="2743200"/>
            <a:ext cx="2560320" cy="1325880"/>
          </a:xfrm>
          <a:prstGeom prst="rect">
            <a:avLst/>
          </a:prstGeom>
          <a:noFill/>
          <a:ln/>
        </p:spPr>
        <p:txBody>
          <a:bodyPr wrap="square" lIns="0" tIns="0" rIns="0" bIns="0" rtlCol="0" anchor="t"/>
          <a:lstStyle/>
          <a:p>
            <a:pPr indent="0" marL="0">
              <a:buNone/>
            </a:pPr>
            <a:r>
              <a:rPr lang="en-US" sz="1500" b="1" dirty="0">
                <a:solidFill>
                  <a:schemeClr val="tx2"/>
                </a:solidFill>
              </a:rPr>
              <a:t>Top 3 actions this quarter</a:t>
            </a:r>
            <a:endParaRPr lang="en-US" sz="1400" dirty="0"/>
          </a:p>
          <a:p>
            <a:pPr indent="0" marL="0">
              <a:buNone/>
            </a:pPr>
            <a:r>
              <a:rPr lang="en-US" sz="1300" dirty="0">
                <a:solidFill>
                  <a:schemeClr val="tx1"/>
                </a:solidFill>
              </a:rPr>
              <a:t>Each with the evidence one click away</a:t>
            </a:r>
            <a:endParaRPr lang="en-US" sz="1400" dirty="0"/>
          </a:p>
        </p:txBody>
      </p:sp>
      <p:sp>
        <p:nvSpPr>
          <p:cNvPr id="10" name="anim3_0_95"/>
          <p:cNvSpPr/>
          <p:nvPr/>
        </p:nvSpPr>
        <p:spPr>
          <a:xfrm>
            <a:off x="2514600" y="384048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1" name="anim3_0_95"/>
          <p:cNvSpPr/>
          <p:nvPr/>
        </p:nvSpPr>
        <p:spPr>
          <a:xfrm>
            <a:off x="8503920" y="4251960"/>
            <a:ext cx="457200" cy="457200"/>
          </a:xfrm>
          <a:prstGeom prst="ellipse">
            <a:avLst/>
          </a:prstGeom>
          <a:solidFill>
            <a:srgbClr val="E4572E"/>
          </a:solid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2" name="anim3_0_95"/>
          <p:cNvSpPr txBox="1"/>
          <p:nvPr/>
        </p:nvSpPr>
        <p:spPr>
          <a:xfrm>
            <a:off x="9098280" y="4206240"/>
            <a:ext cx="2560320" cy="1325880"/>
          </a:xfrm>
          <a:prstGeom prst="rect">
            <a:avLst/>
          </a:prstGeom>
          <a:noFill/>
          <a:ln/>
        </p:spPr>
        <p:txBody>
          <a:bodyPr wrap="square" lIns="0" tIns="0" rIns="0" bIns="0" rtlCol="0" anchor="t"/>
          <a:lstStyle/>
          <a:p>
            <a:pPr indent="0" marL="0">
              <a:buNone/>
            </a:pPr>
            <a:r>
              <a:rPr lang="en-US" sz="1500" b="1" dirty="0">
                <a:solidFill>
                  <a:schemeClr val="tx2"/>
                </a:solidFill>
              </a:rPr>
              <a:t>Forecast vs today's method</a:t>
            </a:r>
            <a:endParaRPr lang="en-US" sz="1400" dirty="0"/>
          </a:p>
          <a:p>
            <a:pPr indent="0" marL="0">
              <a:buNone/>
            </a:pPr>
            <a:r>
              <a:rPr lang="en-US" sz="1300" dirty="0">
                <a:solidFill>
                  <a:schemeClr val="tx1"/>
                </a:solidFill>
              </a:rPr>
              <a:t>Our model against the 6-month average, with a likely range</a:t>
            </a:r>
            <a:endParaRPr lang="en-US" sz="1400" dirty="0"/>
          </a:p>
        </p:txBody>
      </p:sp>
      <p:sp>
        <p:nvSpPr>
          <p:cNvPr id="13" name="Text 10"/>
          <p:cNvSpPr txBox="1"/>
          <p:nvPr/>
        </p:nvSpPr>
        <p:spPr>
          <a:xfrm>
            <a:off x="548640" y="5760720"/>
            <a:ext cx="7680960" cy="457200"/>
          </a:xfrm>
          <a:prstGeom prst="rect">
            <a:avLst/>
          </a:prstGeom>
          <a:noFill/>
          <a:ln/>
        </p:spPr>
        <p:txBody>
          <a:bodyPr wrap="square" lIns="0" tIns="0" rIns="0" bIns="0" rtlCol="0" anchor="t"/>
          <a:lstStyle/>
          <a:p>
            <a:pPr indent="0" marL="0">
              <a:buNone/>
            </a:pPr>
            <a:r>
              <a:rPr lang="en-US" sz="1200" dirty="0">
                <a:solidFill>
                  <a:schemeClr val="accent5"/>
                </a:solidFill>
              </a:rPr>
              <a:t>3,285 purchase orders counted · 300 enquiries and follow-ups left out · 60 setup requests sent to MDM, not counted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400"/>
                                        <p:tgtEl>
                                          <p:spTgt spid="6"/>
                                        </p:tgtEl>
                                      </p:cBhvr>
                                    </p:animEffect>
                                  </p:childTnLst>
                                </p:cTn>
                              </p:par>
                            </p:childTnLst>
                          </p:cTn>
                        </p:par>
                      </p:childTnLst>
                    </p:cTn>
                  </p:par>
                  <p:par>
                    <p:cTn id="24" fill="hold">
                      <p:stCondLst>
                        <p:cond delay="indefinite"/>
                      </p:stCondLst>
                      <p:childTnLst>
                        <p:par>
                          <p:cTn id="2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00"/>
                                        <p:tgtEl>
                                          <p:spTgt spid="7"/>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childTnLst>
                    </p:cTn>
                  </p:par>
                  <p:par>
                    <p:cTn id="35" fill="hold">
                      <p:stCondLst>
                        <p:cond delay="indefinite"/>
                      </p:stCondLst>
                      <p:childTnLst>
                        <p:par>
                          <p:cTn id="3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4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4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From clean data to sales actions</a:t>
            </a:r>
            <a:endParaRPr lang="en-US" sz="3000" dirty="0"/>
          </a:p>
        </p:txBody>
      </p:sp>
      <p:pic>
        <p:nvPicPr>
          <p:cNvPr id="3" name="anim1_0_96" descr="Customer call list">    </p:cNvPr>
          <p:cNvPicPr>
            <a:picLocks noChangeAspect="1"/>
          </p:cNvPicPr>
          <p:nvPr/>
        </p:nvPicPr>
        <p:blipFill>
          <a:blip r:embed="rId1"/>
          <a:stretch>
            <a:fillRect/>
          </a:stretch>
        </p:blipFill>
        <p:spPr>
          <a:xfrm>
            <a:off x="548640" y="1280160"/>
            <a:ext cx="5440680" cy="3063240"/>
          </a:xfrm>
          <a:prstGeom prst="rect">
            <a:avLst/>
          </a:prstGeom>
        </p:spPr>
      </p:pic>
      <p:pic>
        <p:nvPicPr>
          <p:cNvPr id="4" name="anim2_0_97" descr="Orders vs enquiries">    </p:cNvPr>
          <p:cNvPicPr>
            <a:picLocks noChangeAspect="1"/>
          </p:cNvPicPr>
          <p:nvPr/>
        </p:nvPicPr>
        <p:blipFill>
          <a:blip r:embed="rId2"/>
          <a:stretch>
            <a:fillRect/>
          </a:stretch>
        </p:blipFill>
        <p:spPr>
          <a:xfrm>
            <a:off x="6199632" y="1280160"/>
            <a:ext cx="5440680" cy="3063240"/>
          </a:xfrm>
          <a:prstGeom prst="rect">
            <a:avLst/>
          </a:prstGeom>
        </p:spPr>
      </p:pic>
      <p:sp>
        <p:nvSpPr>
          <p:cNvPr id="5" name="anim1_1_98"/>
          <p:cNvSpPr/>
          <p:nvPr/>
        </p:nvSpPr>
        <p:spPr>
          <a:xfrm>
            <a:off x="548640"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chemeClr val="tx2"/>
                </a:solidFill>
              </a:rPr>
              <a:t>27</a:t>
            </a:r>
            <a:endParaRPr lang="en-US" sz="2400" dirty="0"/>
          </a:p>
          <a:p>
            <a:pPr algn="ctr" indent="0" marL="0">
              <a:buNone/>
            </a:pPr>
            <a:r>
              <a:rPr lang="en-US" sz="1200" dirty="0">
                <a:solidFill>
                  <a:schemeClr val="accent5"/>
                </a:solidFill>
              </a:rPr>
              <a:t>customers dropping off</a:t>
            </a:r>
            <a:endParaRPr lang="en-US" sz="2400" dirty="0"/>
          </a:p>
        </p:txBody>
      </p:sp>
      <p:sp>
        <p:nvSpPr>
          <p:cNvPr id="6" name="anim1_1_99"/>
          <p:cNvSpPr/>
          <p:nvPr/>
        </p:nvSpPr>
        <p:spPr>
          <a:xfrm>
            <a:off x="2395728"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rgbClr val="E4572E"/>
                </a:solidFill>
              </a:rPr>
              <a:t>S$431k</a:t>
            </a:r>
            <a:endParaRPr lang="en-US" sz="2400" dirty="0"/>
          </a:p>
          <a:p>
            <a:pPr algn="ctr" indent="0" marL="0">
              <a:buNone/>
            </a:pPr>
            <a:r>
              <a:rPr lang="en-US" sz="1200" dirty="0">
                <a:solidFill>
                  <a:schemeClr val="accent5"/>
                </a:solidFill>
              </a:rPr>
              <a:t>a quarter at risk</a:t>
            </a:r>
            <a:endParaRPr lang="en-US" sz="2400" dirty="0"/>
          </a:p>
        </p:txBody>
      </p:sp>
      <p:sp>
        <p:nvSpPr>
          <p:cNvPr id="7" name="anim1_1_100"/>
          <p:cNvSpPr/>
          <p:nvPr/>
        </p:nvSpPr>
        <p:spPr>
          <a:xfrm>
            <a:off x="4242816"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chemeClr val="tx2"/>
                </a:solidFill>
              </a:rPr>
              <a:t>98</a:t>
            </a:r>
            <a:endParaRPr lang="en-US" sz="2400" dirty="0"/>
          </a:p>
          <a:p>
            <a:pPr algn="ctr" indent="0" marL="0">
              <a:buNone/>
            </a:pPr>
            <a:r>
              <a:rPr lang="en-US" sz="1200" dirty="0">
                <a:solidFill>
                  <a:schemeClr val="accent5"/>
                </a:solidFill>
              </a:rPr>
              <a:t>cross-sell leads</a:t>
            </a:r>
            <a:endParaRPr lang="en-US" sz="2400" dirty="0"/>
          </a:p>
        </p:txBody>
      </p:sp>
      <p:sp>
        <p:nvSpPr>
          <p:cNvPr id="8" name="anim2_1_101"/>
          <p:cNvSpPr/>
          <p:nvPr/>
        </p:nvSpPr>
        <p:spPr>
          <a:xfrm>
            <a:off x="6199632"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chemeClr val="tx2"/>
                </a:solidFill>
              </a:rPr>
              <a:t>3,285</a:t>
            </a:r>
            <a:endParaRPr lang="en-US" sz="2400" dirty="0"/>
          </a:p>
          <a:p>
            <a:pPr algn="ctr" indent="0" marL="0">
              <a:buNone/>
            </a:pPr>
            <a:r>
              <a:rPr lang="en-US" sz="1200" dirty="0">
                <a:solidFill>
                  <a:schemeClr val="accent5"/>
                </a:solidFill>
              </a:rPr>
              <a:t>orders counted</a:t>
            </a:r>
            <a:endParaRPr lang="en-US" sz="2400" dirty="0"/>
          </a:p>
        </p:txBody>
      </p:sp>
      <p:sp>
        <p:nvSpPr>
          <p:cNvPr id="9" name="anim2_1_102"/>
          <p:cNvSpPr/>
          <p:nvPr/>
        </p:nvSpPr>
        <p:spPr>
          <a:xfrm>
            <a:off x="8046720"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chemeClr val="tx2"/>
                </a:solidFill>
              </a:rPr>
              <a:t>300</a:t>
            </a:r>
            <a:endParaRPr lang="en-US" sz="2400" dirty="0"/>
          </a:p>
          <a:p>
            <a:pPr algn="ctr" indent="0" marL="0">
              <a:buNone/>
            </a:pPr>
            <a:r>
              <a:rPr lang="en-US" sz="1200" dirty="0">
                <a:solidFill>
                  <a:schemeClr val="accent5"/>
                </a:solidFill>
              </a:rPr>
              <a:t>enquiries left out</a:t>
            </a:r>
            <a:endParaRPr lang="en-US" sz="2400" dirty="0"/>
          </a:p>
        </p:txBody>
      </p:sp>
      <p:sp>
        <p:nvSpPr>
          <p:cNvPr id="10" name="anim2_1_103"/>
          <p:cNvSpPr/>
          <p:nvPr/>
        </p:nvSpPr>
        <p:spPr>
          <a:xfrm>
            <a:off x="9893808" y="4572000"/>
            <a:ext cx="1737360" cy="1097280"/>
          </a:xfrm>
          <a:prstGeom prst="roundRect">
            <a:avLst>
              <a:gd name="adj" fmla="val 12500"/>
            </a:avLst>
          </a:prstGeom>
          <a:solidFill>
            <a:srgbClr val="EEF6F4"/>
          </a:solidFill>
          <a:ln/>
        </p:spPr>
        <p:txBody>
          <a:bodyPr wrap="square" lIns="635" tIns="635" rIns="635" bIns="635" rtlCol="0" anchor="ctr"/>
          <a:lstStyle/>
          <a:p>
            <a:pPr algn="ctr" indent="0" marL="0">
              <a:buNone/>
            </a:pPr>
            <a:r>
              <a:rPr lang="en-US" sz="2400" b="1" dirty="0">
                <a:solidFill>
                  <a:schemeClr val="tx2"/>
                </a:solidFill>
              </a:rPr>
              <a:t>60</a:t>
            </a:r>
            <a:endParaRPr lang="en-US" sz="2400" dirty="0"/>
          </a:p>
          <a:p>
            <a:pPr algn="ctr" indent="0" marL="0">
              <a:buNone/>
            </a:pPr>
            <a:r>
              <a:rPr lang="en-US" sz="1200" dirty="0">
                <a:solidFill>
                  <a:schemeClr val="accent5"/>
                </a:solidFill>
              </a:rPr>
              <a:t>setup requests to MDM</a:t>
            </a:r>
            <a:endParaRPr lang="en-US" sz="2400" dirty="0"/>
          </a:p>
        </p:txBody>
      </p:sp>
      <p:sp>
        <p:nvSpPr>
          <p:cNvPr id="11" name="anim1_1_104"/>
          <p:cNvSpPr txBox="1"/>
          <p:nvPr/>
        </p:nvSpPr>
        <p:spPr>
          <a:xfrm>
            <a:off x="548640" y="5806440"/>
            <a:ext cx="5440680" cy="365760"/>
          </a:xfrm>
          <a:prstGeom prst="rect">
            <a:avLst/>
          </a:prstGeom>
          <a:noFill/>
          <a:ln/>
        </p:spPr>
        <p:txBody>
          <a:bodyPr wrap="square" lIns="0" tIns="0" rIns="0" bIns="0" rtlCol="0" anchor="t"/>
          <a:lstStyle/>
          <a:p>
            <a:pPr algn="ctr" indent="0" marL="0">
              <a:buNone/>
            </a:pPr>
            <a:r>
              <a:rPr lang="en-US" sz="1200" dirty="0">
                <a:solidFill>
                  <a:schemeClr val="accent5"/>
                </a:solidFill>
              </a:rPr>
              <a:t>Call list, ranked by value at risk</a:t>
            </a:r>
            <a:endParaRPr lang="en-US" sz="1200" dirty="0"/>
          </a:p>
        </p:txBody>
      </p:sp>
      <p:sp>
        <p:nvSpPr>
          <p:cNvPr id="12" name="anim2_1_105"/>
          <p:cNvSpPr txBox="1"/>
          <p:nvPr/>
        </p:nvSpPr>
        <p:spPr>
          <a:xfrm>
            <a:off x="6199632" y="5806440"/>
            <a:ext cx="5440680" cy="365760"/>
          </a:xfrm>
          <a:prstGeom prst="rect">
            <a:avLst/>
          </a:prstGeom>
          <a:noFill/>
          <a:ln/>
        </p:spPr>
        <p:txBody>
          <a:bodyPr wrap="square" lIns="0" tIns="0" rIns="0" bIns="0" rtlCol="0" anchor="t"/>
          <a:lstStyle/>
          <a:p>
            <a:pPr algn="ctr" indent="0" marL="0">
              <a:buNone/>
            </a:pPr>
            <a:r>
              <a:rPr lang="en-US" sz="1200" dirty="0">
                <a:solidFill>
                  <a:schemeClr val="accent5"/>
                </a:solidFill>
              </a:rPr>
              <a:t>Shared-mailbox emails, sorted automatically</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0" fill="hold">
                      <p:stCondLst>
                        <p:cond delay="indefinite"/>
                      </p:stCondLst>
                      <p:childTnLst>
                        <p:par>
                          <p:cTn id="6" fill="hold">
                            <p:stCondLst>
                              <p:cond delay="0"/>
                            </p:stCondLst>
                            <p:childTnLst>
                              <p:par>
                                <p:cTn id="3" presetID="10" presetClass="entr" presetSubtype="0" fill="hold"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par>
                          <p:cTn id="19"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par>
                    <p:cTn id="38" fill="hold">
                      <p:stCondLst>
                        <p:cond delay="indefinite"/>
                      </p:stCondLst>
                      <p:childTnLst>
                        <p:par>
                          <p:cTn id="24"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400"/>
                                        <p:tgtEl>
                                          <p:spTgt spid="4"/>
                                        </p:tgtEl>
                                      </p:cBhvr>
                                    </p:animEffect>
                                  </p:childTnLst>
                                </p:cTn>
                              </p:par>
                            </p:childTnLst>
                          </p:cTn>
                        </p:par>
                        <p:par>
                          <p:cTn id="37" fill="hold">
                            <p:stCondLst>
                              <p:cond delay="400"/>
                            </p:stCondLst>
                            <p:childTnLst>
                              <p:par>
                                <p:cTn id="25" presetID="10" presetClass="entr" presetSubtype="0" fill="hold" grpId="0" nodeType="after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400"/>
                                        <p:tgtEl>
                                          <p:spTgt spid="8"/>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fade">
                                      <p:cBhvr>
                                        <p:cTn id="30" dur="400"/>
                                        <p:tgtEl>
                                          <p:spTgt spid="9"/>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400"/>
                                        <p:tgtEl>
                                          <p:spTgt spid="1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11" grpId="0" animBg="1"/>
      <p:bldP spid="8" grpId="0" animBg="1"/>
      <p:bldP spid="9" grpId="0" animBg="1"/>
      <p:bldP spid="10" grpId="0" animBg="1"/>
      <p:bldP spid="1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How it works, in plain words</a:t>
            </a:r>
            <a:endParaRPr lang="en-US" sz="3000" dirty="0"/>
          </a:p>
        </p:txBody>
      </p:sp>
      <p:sp>
        <p:nvSpPr>
          <p:cNvPr id="3" name="ring_106"/>
          <p:cNvSpPr/>
          <p:nvPr/>
        </p:nvSpPr>
        <p:spPr>
          <a:xfrm>
            <a:off x="612648" y="1572768"/>
            <a:ext cx="3529584" cy="3529584"/>
          </a:xfrm>
          <a:prstGeom prst="blockArc">
            <a:avLst>
              <a:gd name="adj1" fmla="val 5400000"/>
              <a:gd name="adj2" fmla="val 16200000"/>
              <a:gd name="adj3" fmla="val 4500"/>
            </a:avLst>
          </a:prstGeom>
          <a:solidFill>
            <a:srgbClr val="0C2F3B"/>
          </a:solidFill>
          <a:ln/>
        </p:spPr>
      </p:sp>
      <p:sp>
        <p:nvSpPr>
          <p:cNvPr id="4" name="ring_107"/>
          <p:cNvSpPr/>
          <p:nvPr/>
        </p:nvSpPr>
        <p:spPr>
          <a:xfrm>
            <a:off x="382219" y="1342339"/>
            <a:ext cx="3990442" cy="3990442"/>
          </a:xfrm>
          <a:prstGeom prst="blockArc">
            <a:avLst>
              <a:gd name="adj1" fmla="val 16200000"/>
              <a:gd name="adj2" fmla="val 5400000"/>
              <a:gd name="adj3" fmla="val 5500"/>
            </a:avLst>
          </a:prstGeom>
          <a:solidFill>
            <a:srgbClr val="8ACFC4"/>
          </a:solidFill>
          <a:ln/>
        </p:spPr>
      </p:sp>
      <p:pic>
        <p:nvPicPr>
          <p:cNvPr id="5" name="circleimg_108" descr="Forecasting page">    </p:cNvPr>
          <p:cNvPicPr>
            <a:picLocks noChangeAspect="1"/>
          </p:cNvPicPr>
          <p:nvPr/>
        </p:nvPicPr>
        <p:blipFill>
          <a:blip r:embed="rId1"/>
          <a:stretch>
            <a:fillRect/>
          </a:stretch>
        </p:blipFill>
        <p:spPr>
          <a:xfrm>
            <a:off x="868680" y="1828800"/>
            <a:ext cx="3017520" cy="3017520"/>
          </a:xfrm>
          <a:prstGeom prst="ellipse">
            <a:avLst/>
          </a:prstGeom>
        </p:spPr>
      </p:pic>
      <p:sp>
        <p:nvSpPr>
          <p:cNvPr id="6" name="anim1_0_109"/>
          <p:cNvSpPr/>
          <p:nvPr/>
        </p:nvSpPr>
        <p:spPr>
          <a:xfrm>
            <a:off x="4572000" y="1371600"/>
            <a:ext cx="2240280" cy="548640"/>
          </a:xfrm>
          <a:prstGeom prst="roundRect">
            <a:avLst>
              <a:gd name="adj" fmla="val 50000"/>
            </a:avLst>
          </a:prstGeom>
          <a:solidFill>
            <a:schemeClr val="tx2"/>
          </a:solidFill>
          <a:ln/>
        </p:spPr>
        <p:txBody>
          <a:bodyPr wrap="square" lIns="1016" tIns="1016" rIns="1016" bIns="1016" rtlCol="0" anchor="ctr"/>
          <a:lstStyle/>
          <a:p>
            <a:pPr algn="ctr" indent="0" marL="0">
              <a:buNone/>
            </a:pPr>
            <a:r>
              <a:rPr lang="en-US" sz="1400" b="1" dirty="0">
                <a:solidFill>
                  <a:srgbClr val="FFFFFF"/>
                </a:solidFill>
              </a:rPr>
              <a:t>Duplicate check</a:t>
            </a:r>
            <a:endParaRPr lang="en-US" sz="1400" dirty="0"/>
          </a:p>
        </p:txBody>
      </p:sp>
      <p:sp>
        <p:nvSpPr>
          <p:cNvPr id="7" name="anim1_0_109"/>
          <p:cNvSpPr txBox="1"/>
          <p:nvPr/>
        </p:nvSpPr>
        <p:spPr>
          <a:xfrm>
            <a:off x="4617720" y="2103120"/>
            <a:ext cx="2148840" cy="2377440"/>
          </a:xfrm>
          <a:prstGeom prst="rect">
            <a:avLst/>
          </a:prstGeom>
          <a:noFill/>
          <a:ln/>
        </p:spPr>
        <p:txBody>
          <a:bodyPr wrap="square" lIns="0" tIns="0" rIns="0" bIns="0" rtlCol="0" anchor="t"/>
          <a:lstStyle/>
          <a:p>
            <a:pPr indent="0" marL="0">
              <a:buNone/>
            </a:pPr>
            <a:r>
              <a:rPr lang="en-US" sz="1400" dirty="0">
                <a:solidFill>
                  <a:schemeClr val="tx1"/>
                </a:solidFill>
              </a:rPr>
              <a:t>Compares names like a person would: 'NUH' = 'National University Hospital'. Same registration no. = same customer</a:t>
            </a:r>
            <a:endParaRPr lang="en-US" sz="1400" dirty="0"/>
          </a:p>
        </p:txBody>
      </p:sp>
      <p:sp>
        <p:nvSpPr>
          <p:cNvPr id="8" name="anim1_0_109"/>
          <p:cNvSpPr/>
          <p:nvPr/>
        </p:nvSpPr>
        <p:spPr>
          <a:xfrm>
            <a:off x="4572000" y="4617720"/>
            <a:ext cx="2240280" cy="868680"/>
          </a:xfrm>
          <a:prstGeom prst="roundRect">
            <a:avLst>
              <a:gd name="adj" fmla="val 49474"/>
            </a:avLst>
          </a:prstGeom>
          <a:solidFill>
            <a:srgbClr val="8ACFC4"/>
          </a:solidFill>
          <a:ln/>
        </p:spPr>
        <p:txBody>
          <a:bodyPr wrap="square" lIns="1016" tIns="1016" rIns="1016" bIns="1016" rtlCol="0" anchor="ctr"/>
          <a:lstStyle/>
          <a:p>
            <a:pPr algn="ctr" indent="0" marL="0">
              <a:buNone/>
            </a:pPr>
            <a:r>
              <a:rPr lang="en-US" sz="1400" b="1" dirty="0">
                <a:solidFill>
                  <a:schemeClr val="tx2"/>
                </a:solidFill>
              </a:rPr>
              <a:t>41 of 41 found, 0 false matches</a:t>
            </a:r>
            <a:endParaRPr lang="en-US" sz="1400" dirty="0"/>
          </a:p>
        </p:txBody>
      </p:sp>
      <p:sp>
        <p:nvSpPr>
          <p:cNvPr id="9" name="anim2_0_110"/>
          <p:cNvSpPr/>
          <p:nvPr/>
        </p:nvSpPr>
        <p:spPr>
          <a:xfrm>
            <a:off x="6967728" y="1371600"/>
            <a:ext cx="2240280" cy="548640"/>
          </a:xfrm>
          <a:prstGeom prst="roundRect">
            <a:avLst>
              <a:gd name="adj" fmla="val 50000"/>
            </a:avLst>
          </a:prstGeom>
          <a:solidFill>
            <a:schemeClr val="tx2"/>
          </a:solidFill>
          <a:ln/>
        </p:spPr>
        <p:txBody>
          <a:bodyPr wrap="square" lIns="1016" tIns="1016" rIns="1016" bIns="1016" rtlCol="0" anchor="ctr"/>
          <a:lstStyle/>
          <a:p>
            <a:pPr algn="ctr" indent="0" marL="0">
              <a:buNone/>
            </a:pPr>
            <a:r>
              <a:rPr lang="en-US" sz="1400" b="1" dirty="0">
                <a:solidFill>
                  <a:srgbClr val="FFFFFF"/>
                </a:solidFill>
              </a:rPr>
              <a:t>Forecast</a:t>
            </a:r>
            <a:endParaRPr lang="en-US" sz="1400" dirty="0"/>
          </a:p>
        </p:txBody>
      </p:sp>
      <p:sp>
        <p:nvSpPr>
          <p:cNvPr id="10" name="anim2_0_110"/>
          <p:cNvSpPr txBox="1"/>
          <p:nvPr/>
        </p:nvSpPr>
        <p:spPr>
          <a:xfrm>
            <a:off x="7013448" y="2103120"/>
            <a:ext cx="2148840" cy="2377440"/>
          </a:xfrm>
          <a:prstGeom prst="rect">
            <a:avLst/>
          </a:prstGeom>
          <a:noFill/>
          <a:ln/>
        </p:spPr>
        <p:txBody>
          <a:bodyPr wrap="square" lIns="0" tIns="0" rIns="0" bIns="0" rtlCol="0" anchor="t"/>
          <a:lstStyle/>
          <a:p>
            <a:pPr indent="0" marL="0">
              <a:buNone/>
            </a:pPr>
            <a:r>
              <a:rPr lang="en-US" sz="1400" dirty="0">
                <a:solidFill>
                  <a:schemeClr val="tx1"/>
                </a:solidFill>
              </a:rPr>
              <a:t>Knows the business calendar: dengue season, the December budget push, Lunar New Year, the January lull</a:t>
            </a:r>
            <a:endParaRPr lang="en-US" sz="1400" dirty="0"/>
          </a:p>
        </p:txBody>
      </p:sp>
      <p:sp>
        <p:nvSpPr>
          <p:cNvPr id="11" name="anim2_0_110"/>
          <p:cNvSpPr/>
          <p:nvPr/>
        </p:nvSpPr>
        <p:spPr>
          <a:xfrm>
            <a:off x="6967728" y="4617720"/>
            <a:ext cx="2240280" cy="868680"/>
          </a:xfrm>
          <a:prstGeom prst="roundRect">
            <a:avLst>
              <a:gd name="adj" fmla="val 49474"/>
            </a:avLst>
          </a:prstGeom>
          <a:solidFill>
            <a:srgbClr val="8ACFC4"/>
          </a:solidFill>
          <a:ln/>
        </p:spPr>
        <p:txBody>
          <a:bodyPr wrap="square" lIns="1016" tIns="1016" rIns="1016" bIns="1016" rtlCol="0" anchor="ctr"/>
          <a:lstStyle/>
          <a:p>
            <a:pPr algn="ctr" indent="0" marL="0">
              <a:buNone/>
            </a:pPr>
            <a:r>
              <a:rPr lang="en-US" sz="1400" b="1" dirty="0">
                <a:solidFill>
                  <a:schemeClr val="tx2"/>
                </a:solidFill>
              </a:rPr>
              <a:t>11.1% error vs 13.7% today</a:t>
            </a:r>
            <a:endParaRPr lang="en-US" sz="1400" dirty="0"/>
          </a:p>
        </p:txBody>
      </p:sp>
      <p:sp>
        <p:nvSpPr>
          <p:cNvPr id="12" name="anim3_0_111"/>
          <p:cNvSpPr/>
          <p:nvPr/>
        </p:nvSpPr>
        <p:spPr>
          <a:xfrm>
            <a:off x="9363456" y="1371600"/>
            <a:ext cx="2240280" cy="548640"/>
          </a:xfrm>
          <a:prstGeom prst="roundRect">
            <a:avLst>
              <a:gd name="adj" fmla="val 50000"/>
            </a:avLst>
          </a:prstGeom>
          <a:solidFill>
            <a:schemeClr val="tx2"/>
          </a:solidFill>
          <a:ln/>
        </p:spPr>
        <p:txBody>
          <a:bodyPr wrap="square" lIns="1016" tIns="1016" rIns="1016" bIns="1016" rtlCol="0" anchor="ctr"/>
          <a:lstStyle/>
          <a:p>
            <a:pPr algn="ctr" indent="0" marL="0">
              <a:buNone/>
            </a:pPr>
            <a:r>
              <a:rPr lang="en-US" sz="1400" b="1" dirty="0">
                <a:solidFill>
                  <a:srgbClr val="FFFFFF"/>
                </a:solidFill>
              </a:rPr>
              <a:t>Email sorter</a:t>
            </a:r>
            <a:endParaRPr lang="en-US" sz="1400" dirty="0"/>
          </a:p>
        </p:txBody>
      </p:sp>
      <p:sp>
        <p:nvSpPr>
          <p:cNvPr id="13" name="anim3_0_111"/>
          <p:cNvSpPr txBox="1"/>
          <p:nvPr/>
        </p:nvSpPr>
        <p:spPr>
          <a:xfrm>
            <a:off x="9409176" y="2103120"/>
            <a:ext cx="2148840" cy="2377440"/>
          </a:xfrm>
          <a:prstGeom prst="rect">
            <a:avLst/>
          </a:prstGeom>
          <a:noFill/>
          <a:ln/>
        </p:spPr>
        <p:txBody>
          <a:bodyPr wrap="square" lIns="0" tIns="0" rIns="0" bIns="0" rtlCol="0" anchor="t"/>
          <a:lstStyle/>
          <a:p>
            <a:pPr indent="0" marL="0">
              <a:buNone/>
            </a:pPr>
            <a:r>
              <a:rPr lang="en-US" sz="1400" dirty="0">
                <a:solidFill>
                  <a:schemeClr val="tx1"/>
                </a:solidFill>
              </a:rPr>
              <a:t>Reads each shared-mailbox email and labels it: order, enquiry, follow-up or setup request</a:t>
            </a:r>
            <a:endParaRPr lang="en-US" sz="1400" dirty="0"/>
          </a:p>
        </p:txBody>
      </p:sp>
      <p:sp>
        <p:nvSpPr>
          <p:cNvPr id="14" name="anim3_0_111"/>
          <p:cNvSpPr/>
          <p:nvPr/>
        </p:nvSpPr>
        <p:spPr>
          <a:xfrm>
            <a:off x="9363456" y="4617720"/>
            <a:ext cx="2240280" cy="868680"/>
          </a:xfrm>
          <a:prstGeom prst="roundRect">
            <a:avLst>
              <a:gd name="adj" fmla="val 49474"/>
            </a:avLst>
          </a:prstGeom>
          <a:solidFill>
            <a:srgbClr val="8ACFC4"/>
          </a:solidFill>
          <a:ln/>
        </p:spPr>
        <p:txBody>
          <a:bodyPr wrap="square" lIns="1016" tIns="1016" rIns="1016" bIns="1016" rtlCol="0" anchor="ctr"/>
          <a:lstStyle/>
          <a:p>
            <a:pPr algn="ctr" indent="0" marL="0">
              <a:buNone/>
            </a:pPr>
            <a:r>
              <a:rPr lang="en-US" sz="1400" b="1" dirty="0">
                <a:solidFill>
                  <a:schemeClr val="tx2"/>
                </a:solidFill>
              </a:rPr>
              <a:t>Only real orders count as growth</a:t>
            </a:r>
            <a:endParaRPr lang="en-US" sz="1400" dirty="0"/>
          </a:p>
        </p:txBody>
      </p:sp>
      <p:sp>
        <p:nvSpPr>
          <p:cNvPr id="15" name="Text 12"/>
          <p:cNvSpPr txBox="1"/>
          <p:nvPr/>
        </p:nvSpPr>
        <p:spPr>
          <a:xfrm>
            <a:off x="4572000" y="5715000"/>
            <a:ext cx="7040880" cy="365760"/>
          </a:xfrm>
          <a:prstGeom prst="rect">
            <a:avLst/>
          </a:prstGeom>
          <a:noFill/>
          <a:ln/>
        </p:spPr>
        <p:txBody>
          <a:bodyPr wrap="square" lIns="0" tIns="0" rIns="0" bIns="0" rtlCol="0" anchor="t"/>
          <a:lstStyle/>
          <a:p>
            <a:pPr indent="0" marL="0">
              <a:buNone/>
            </a:pPr>
            <a:r>
              <a:rPr lang="en-US" sz="1200" i="1" dirty="0">
                <a:solidFill>
                  <a:schemeClr val="accent5"/>
                </a:solidFill>
              </a:rPr>
              <a:t>No black box: rules and a calendar model the team can explain. Details in the appendix.</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3" fill="hold">
                      <p:stCondLst>
                        <p:cond delay="indefinite"/>
                      </p:stCondLst>
                      <p:childTnLst>
                        <p:par>
                          <p:cTn id="12"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6"/>
                                        </p:tgtEl>
                                        <p:attrNameLst>
                                          <p:attrName>style.visibility</p:attrName>
                                        </p:attrNameLst>
                                      </p:cBhvr>
                                      <p:to>
                                        <p:strVal val="visible"/>
                                      </p:to>
                                    </p:set>
                                    <p:animEffect transition="in" filter="fade">
                                      <p:cBhvr>
                                        <p:cTn id="5" dur="400"/>
                                        <p:tgtEl>
                                          <p:spTgt spid="6"/>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fade">
                                      <p:cBhvr>
                                        <p:cTn id="8" dur="40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400"/>
                                        <p:tgtEl>
                                          <p:spTgt spid="8"/>
                                        </p:tgtEl>
                                      </p:cBhvr>
                                    </p:animEffect>
                                  </p:childTnLst>
                                </p:cTn>
                              </p:par>
                            </p:childTnLst>
                          </p:cTn>
                        </p:par>
                      </p:childTnLst>
                    </p:cTn>
                  </p:par>
                  <p:par>
                    <p:cTn id="24" fill="hold">
                      <p:stCondLst>
                        <p:cond delay="indefinite"/>
                      </p:stCondLst>
                      <p:childTnLst>
                        <p:par>
                          <p:cTn id="2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40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par>
                    <p:cTn id="35" fill="hold">
                      <p:stCondLst>
                        <p:cond delay="indefinite"/>
                      </p:stCondLst>
                      <p:childTnLst>
                        <p:par>
                          <p:cTn id="3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The results</a:t>
            </a:r>
            <a:endParaRPr lang="en-US" sz="3000" dirty="0"/>
          </a:p>
        </p:txBody>
      </p:sp>
      <p:sp>
        <p:nvSpPr>
          <p:cNvPr id="3" name="Text 1"/>
          <p:cNvSpPr/>
          <p:nvPr/>
        </p:nvSpPr>
        <p:spPr>
          <a:xfrm>
            <a:off x="4480560" y="1280160"/>
            <a:ext cx="3200400" cy="457200"/>
          </a:xfrm>
          <a:prstGeom prst="roundRect">
            <a:avLst>
              <a:gd name="adj" fmla="val 60000"/>
            </a:avLst>
          </a:prstGeom>
          <a:solidFill>
            <a:srgbClr val="8ACFC4"/>
          </a:solidFill>
          <a:ln/>
        </p:spPr>
        <p:txBody>
          <a:bodyPr wrap="square" lIns="1016" tIns="1016" rIns="1016" bIns="1016" rtlCol="0" anchor="ctr"/>
          <a:lstStyle/>
          <a:p>
            <a:pPr algn="ctr" indent="0" marL="0">
              <a:buNone/>
            </a:pPr>
            <a:r>
              <a:rPr lang="en-US" sz="1400" b="1" dirty="0">
                <a:solidFill>
                  <a:schemeClr val="tx2"/>
                </a:solidFill>
              </a:rPr>
              <a:t>Facts and figures</a:t>
            </a:r>
            <a:endParaRPr lang="en-US" sz="1400" dirty="0"/>
          </a:p>
        </p:txBody>
      </p:sp>
      <p:sp>
        <p:nvSpPr>
          <p:cNvPr id="4" name="pl_112"/>
          <p:cNvSpPr/>
          <p:nvPr/>
        </p:nvSpPr>
        <p:spPr>
          <a:xfrm>
            <a:off x="1280160" y="3063240"/>
            <a:ext cx="9601200" cy="0"/>
          </a:xfrm>
          <a:prstGeom prst="line">
            <a:avLst/>
          </a:prstGeom>
          <a:noFill/>
          <a:ln w="31750">
            <a:solidFill>
              <a:srgbClr val="8ACFC4"/>
            </a:solidFill>
            <a:prstDash val="solid"/>
          </a:ln>
        </p:spPr>
      </p:sp>
      <p:sp>
        <p:nvSpPr>
          <p:cNvPr id="5" name="anim1_0_113"/>
          <p:cNvSpPr/>
          <p:nvPr/>
        </p:nvSpPr>
        <p:spPr>
          <a:xfrm>
            <a:off x="685800" y="2103120"/>
            <a:ext cx="1920240" cy="1920240"/>
          </a:xfrm>
          <a:prstGeom prst="ellipse">
            <a:avLst/>
          </a:prstGeom>
          <a:solidFill>
            <a:srgbClr val="0C2F3B"/>
          </a:solidFill>
          <a:ln/>
        </p:spPr>
        <p:txBody>
          <a:bodyPr wrap="square" lIns="0" tIns="0" rIns="0" bIns="0" rtlCol="0" anchor="ctr"/>
          <a:lstStyle/>
          <a:p>
            <a:pPr algn="ctr" indent="0" marL="0">
              <a:buNone/>
            </a:pPr>
            <a:r>
              <a:rPr lang="en-US" sz="2800" b="1" dirty="0">
                <a:solidFill>
                  <a:srgbClr val="FFFFFF"/>
                </a:solidFill>
              </a:rPr>
              <a:t>4–6</a:t>
            </a:r>
            <a:endParaRPr lang="en-US" sz="2800" dirty="0"/>
          </a:p>
          <a:p>
            <a:pPr algn="ctr" indent="0" marL="0">
              <a:buNone/>
            </a:pPr>
            <a:r>
              <a:rPr lang="en-US" sz="1400" dirty="0">
                <a:solidFill>
                  <a:srgbClr val="FFFFFF"/>
                </a:solidFill>
              </a:rPr>
              <a:t>days</a:t>
            </a:r>
            <a:endParaRPr lang="en-US" sz="2800" dirty="0"/>
          </a:p>
        </p:txBody>
      </p:sp>
      <p:sp>
        <p:nvSpPr>
          <p:cNvPr id="6" name="anim1_0_113"/>
          <p:cNvSpPr txBox="1"/>
          <p:nvPr/>
        </p:nvSpPr>
        <p:spPr>
          <a:xfrm>
            <a:off x="548640" y="4206240"/>
            <a:ext cx="2194560" cy="822960"/>
          </a:xfrm>
          <a:prstGeom prst="rect">
            <a:avLst/>
          </a:prstGeom>
          <a:noFill/>
          <a:ln/>
        </p:spPr>
        <p:txBody>
          <a:bodyPr wrap="square" lIns="0" tIns="0" rIns="0" bIns="0" rtlCol="0" anchor="t"/>
          <a:lstStyle/>
          <a:p>
            <a:pPr algn="ctr" indent="0" marL="0">
              <a:buNone/>
            </a:pPr>
            <a:r>
              <a:rPr lang="en-US" sz="1400" dirty="0">
                <a:solidFill>
                  <a:schemeClr val="tx1"/>
                </a:solidFill>
              </a:rPr>
              <a:t>to SAP, down from 18.8</a:t>
            </a:r>
            <a:endParaRPr lang="en-US" sz="1400" dirty="0"/>
          </a:p>
        </p:txBody>
      </p:sp>
      <p:sp>
        <p:nvSpPr>
          <p:cNvPr id="7" name="anim1_1_114"/>
          <p:cNvSpPr/>
          <p:nvPr/>
        </p:nvSpPr>
        <p:spPr>
          <a:xfrm>
            <a:off x="2971800" y="2103120"/>
            <a:ext cx="1920240" cy="1920240"/>
          </a:xfrm>
          <a:prstGeom prst="ellipse">
            <a:avLst/>
          </a:prstGeom>
          <a:solidFill>
            <a:srgbClr val="0F766E"/>
          </a:solidFill>
          <a:ln/>
        </p:spPr>
        <p:txBody>
          <a:bodyPr wrap="square" lIns="0" tIns="0" rIns="0" bIns="0" rtlCol="0" anchor="ctr"/>
          <a:lstStyle/>
          <a:p>
            <a:pPr algn="ctr" indent="0" marL="0">
              <a:buNone/>
            </a:pPr>
            <a:r>
              <a:rPr lang="en-US" sz="2800" b="1" dirty="0">
                <a:solidFill>
                  <a:srgbClr val="FFFFFF"/>
                </a:solidFill>
              </a:rPr>
              <a:t>41/41</a:t>
            </a:r>
            <a:endParaRPr lang="en-US" sz="2800" dirty="0"/>
          </a:p>
        </p:txBody>
      </p:sp>
      <p:sp>
        <p:nvSpPr>
          <p:cNvPr id="8" name="anim1_1_114"/>
          <p:cNvSpPr txBox="1"/>
          <p:nvPr/>
        </p:nvSpPr>
        <p:spPr>
          <a:xfrm>
            <a:off x="2834640" y="4206240"/>
            <a:ext cx="2194560" cy="822960"/>
          </a:xfrm>
          <a:prstGeom prst="rect">
            <a:avLst/>
          </a:prstGeom>
          <a:noFill/>
          <a:ln/>
        </p:spPr>
        <p:txBody>
          <a:bodyPr wrap="square" lIns="0" tIns="0" rIns="0" bIns="0" rtlCol="0" anchor="t"/>
          <a:lstStyle/>
          <a:p>
            <a:pPr algn="ctr" indent="0" marL="0">
              <a:buNone/>
            </a:pPr>
            <a:r>
              <a:rPr lang="en-US" sz="1400" dirty="0">
                <a:solidFill>
                  <a:schemeClr val="tx1"/>
                </a:solidFill>
              </a:rPr>
              <a:t>duplicates flagged while typing</a:t>
            </a:r>
            <a:endParaRPr lang="en-US" sz="1400" dirty="0"/>
          </a:p>
        </p:txBody>
      </p:sp>
      <p:sp>
        <p:nvSpPr>
          <p:cNvPr id="9" name="anim1_2_115"/>
          <p:cNvSpPr/>
          <p:nvPr/>
        </p:nvSpPr>
        <p:spPr>
          <a:xfrm>
            <a:off x="5257800" y="2103120"/>
            <a:ext cx="1920240" cy="1920240"/>
          </a:xfrm>
          <a:prstGeom prst="ellipse">
            <a:avLst/>
          </a:prstGeom>
          <a:solidFill>
            <a:srgbClr val="0C2F3B"/>
          </a:solidFill>
          <a:ln/>
        </p:spPr>
        <p:txBody>
          <a:bodyPr wrap="square" lIns="0" tIns="0" rIns="0" bIns="0" rtlCol="0" anchor="ctr"/>
          <a:lstStyle/>
          <a:p>
            <a:pPr algn="ctr" indent="0" marL="0">
              <a:buNone/>
            </a:pPr>
            <a:r>
              <a:rPr lang="en-US" sz="2800" b="1" dirty="0">
                <a:solidFill>
                  <a:srgbClr val="FFFFFF"/>
                </a:solidFill>
              </a:rPr>
              <a:t>11.1%</a:t>
            </a:r>
            <a:endParaRPr lang="en-US" sz="2800" dirty="0"/>
          </a:p>
        </p:txBody>
      </p:sp>
      <p:sp>
        <p:nvSpPr>
          <p:cNvPr id="10" name="anim1_2_115"/>
          <p:cNvSpPr txBox="1"/>
          <p:nvPr/>
        </p:nvSpPr>
        <p:spPr>
          <a:xfrm>
            <a:off x="5120640" y="4206240"/>
            <a:ext cx="2194560" cy="822960"/>
          </a:xfrm>
          <a:prstGeom prst="rect">
            <a:avLst/>
          </a:prstGeom>
          <a:noFill/>
          <a:ln/>
        </p:spPr>
        <p:txBody>
          <a:bodyPr wrap="square" lIns="0" tIns="0" rIns="0" bIns="0" rtlCol="0" anchor="t"/>
          <a:lstStyle/>
          <a:p>
            <a:pPr algn="ctr" indent="0" marL="0">
              <a:buNone/>
            </a:pPr>
            <a:r>
              <a:rPr lang="en-US" sz="1400" dirty="0">
                <a:solidFill>
                  <a:schemeClr val="tx1"/>
                </a:solidFill>
              </a:rPr>
              <a:t>forecast error, vs 13.7% today</a:t>
            </a:r>
            <a:endParaRPr lang="en-US" sz="1400" dirty="0"/>
          </a:p>
        </p:txBody>
      </p:sp>
      <p:sp>
        <p:nvSpPr>
          <p:cNvPr id="11" name="anim1_3_116"/>
          <p:cNvSpPr/>
          <p:nvPr/>
        </p:nvSpPr>
        <p:spPr>
          <a:xfrm>
            <a:off x="7543800" y="2103120"/>
            <a:ext cx="1920240" cy="1920240"/>
          </a:xfrm>
          <a:prstGeom prst="ellipse">
            <a:avLst/>
          </a:prstGeom>
          <a:solidFill>
            <a:srgbClr val="0F766E"/>
          </a:solidFill>
          <a:ln/>
        </p:spPr>
        <p:txBody>
          <a:bodyPr wrap="square" lIns="0" tIns="0" rIns="0" bIns="0" rtlCol="0" anchor="ctr"/>
          <a:lstStyle/>
          <a:p>
            <a:pPr algn="ctr" indent="0" marL="0">
              <a:buNone/>
            </a:pPr>
            <a:r>
              <a:rPr lang="en-US" sz="2400" b="1" dirty="0">
                <a:solidFill>
                  <a:srgbClr val="FFFFFF"/>
                </a:solidFill>
              </a:rPr>
              <a:t>S$431k</a:t>
            </a:r>
            <a:endParaRPr lang="en-US" sz="2400" dirty="0"/>
          </a:p>
        </p:txBody>
      </p:sp>
      <p:sp>
        <p:nvSpPr>
          <p:cNvPr id="12" name="anim1_3_116"/>
          <p:cNvSpPr txBox="1"/>
          <p:nvPr/>
        </p:nvSpPr>
        <p:spPr>
          <a:xfrm>
            <a:off x="7406640" y="4206240"/>
            <a:ext cx="2194560" cy="822960"/>
          </a:xfrm>
          <a:prstGeom prst="rect">
            <a:avLst/>
          </a:prstGeom>
          <a:noFill/>
          <a:ln/>
        </p:spPr>
        <p:txBody>
          <a:bodyPr wrap="square" lIns="0" tIns="0" rIns="0" bIns="0" rtlCol="0" anchor="t"/>
          <a:lstStyle/>
          <a:p>
            <a:pPr algn="ctr" indent="0" marL="0">
              <a:buNone/>
            </a:pPr>
            <a:r>
              <a:rPr lang="en-US" sz="1400" dirty="0">
                <a:solidFill>
                  <a:schemeClr val="tx1"/>
                </a:solidFill>
              </a:rPr>
              <a:t>a quarter at risk, on one call list</a:t>
            </a:r>
            <a:endParaRPr lang="en-US" sz="1400" dirty="0"/>
          </a:p>
        </p:txBody>
      </p:sp>
      <p:sp>
        <p:nvSpPr>
          <p:cNvPr id="13" name="anim1_4_117"/>
          <p:cNvSpPr/>
          <p:nvPr/>
        </p:nvSpPr>
        <p:spPr>
          <a:xfrm>
            <a:off x="9829800" y="2103120"/>
            <a:ext cx="1920240" cy="1920240"/>
          </a:xfrm>
          <a:prstGeom prst="ellipse">
            <a:avLst/>
          </a:prstGeom>
          <a:solidFill>
            <a:srgbClr val="0C2F3B"/>
          </a:solidFill>
          <a:ln/>
        </p:spPr>
        <p:txBody>
          <a:bodyPr wrap="square" lIns="0" tIns="0" rIns="0" bIns="0" rtlCol="0" anchor="ctr"/>
          <a:lstStyle/>
          <a:p>
            <a:pPr algn="ctr" indent="0" marL="0">
              <a:buNone/>
            </a:pPr>
            <a:r>
              <a:rPr lang="en-US" sz="2800" b="1" dirty="0">
                <a:solidFill>
                  <a:srgbClr val="FFFFFF"/>
                </a:solidFill>
              </a:rPr>
              <a:t>98</a:t>
            </a:r>
            <a:endParaRPr lang="en-US" sz="2800" dirty="0"/>
          </a:p>
        </p:txBody>
      </p:sp>
      <p:sp>
        <p:nvSpPr>
          <p:cNvPr id="14" name="anim1_4_117"/>
          <p:cNvSpPr txBox="1"/>
          <p:nvPr/>
        </p:nvSpPr>
        <p:spPr>
          <a:xfrm>
            <a:off x="9692640" y="4206240"/>
            <a:ext cx="2194560" cy="822960"/>
          </a:xfrm>
          <a:prstGeom prst="rect">
            <a:avLst/>
          </a:prstGeom>
          <a:noFill/>
          <a:ln/>
        </p:spPr>
        <p:txBody>
          <a:bodyPr wrap="square" lIns="0" tIns="0" rIns="0" bIns="0" rtlCol="0" anchor="t"/>
          <a:lstStyle/>
          <a:p>
            <a:pPr algn="ctr" indent="0" marL="0">
              <a:buNone/>
            </a:pPr>
            <a:r>
              <a:rPr lang="en-US" sz="1400" dirty="0">
                <a:solidFill>
                  <a:schemeClr val="tx1"/>
                </a:solidFill>
              </a:rPr>
              <a:t>cross-sell leads</a:t>
            </a:r>
            <a:endParaRPr lang="en-US" sz="1400" dirty="0"/>
          </a:p>
        </p:txBody>
      </p:sp>
      <p:sp>
        <p:nvSpPr>
          <p:cNvPr id="15" name="anim2_0_118"/>
          <p:cNvSpPr txBox="1"/>
          <p:nvPr/>
        </p:nvSpPr>
        <p:spPr>
          <a:xfrm>
            <a:off x="548640" y="5349240"/>
            <a:ext cx="11064240" cy="457200"/>
          </a:xfrm>
          <a:prstGeom prst="rect">
            <a:avLst/>
          </a:prstGeom>
          <a:noFill/>
          <a:ln/>
        </p:spPr>
        <p:txBody>
          <a:bodyPr wrap="square" lIns="0" tIns="0" rIns="0" bIns="0" rtlCol="0" anchor="t"/>
          <a:lstStyle/>
          <a:p>
            <a:pPr algn="ctr" indent="0" marL="0">
              <a:buNone/>
            </a:pPr>
            <a:r>
              <a:rPr lang="en-US" sz="1400" i="1" dirty="0">
                <a:solidFill>
                  <a:schemeClr val="accent1"/>
                </a:solidFill>
              </a:rPr>
              <a:t>And it stays quiet when it should: only 3% of genuinely new customers get a duplicate warning.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8"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5"/>
                                        </p:tgtEl>
                                        <p:attrNameLst>
                                          <p:attrName>style.visibility</p:attrName>
                                        </p:attrNameLst>
                                      </p:cBhvr>
                                      <p:to>
                                        <p:strVal val="visible"/>
                                      </p:to>
                                    </p:set>
                                    <p:animEffect transition="in" filter="fade">
                                      <p:cBhvr>
                                        <p:cTn id="5" dur="400"/>
                                        <p:tgtEl>
                                          <p:spTgt spid="5"/>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6"/>
                                        </p:tgtEl>
                                        <p:attrNameLst>
                                          <p:attrName>style.visibility</p:attrName>
                                        </p:attrNameLst>
                                      </p:cBhvr>
                                      <p:to>
                                        <p:strVal val="visible"/>
                                      </p:to>
                                    </p:set>
                                    <p:animEffect transition="in" filter="fade">
                                      <p:cBhvr>
                                        <p:cTn id="8" dur="400"/>
                                        <p:tgtEl>
                                          <p:spTgt spid="6"/>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childTnLst>
                          </p:cTn>
                        </p:par>
                        <p:par>
                          <p:cTn id="30"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00"/>
                                        <p:tgtEl>
                                          <p:spTgt spid="12"/>
                                        </p:tgtEl>
                                      </p:cBhvr>
                                    </p:animEffect>
                                  </p:childTnLst>
                                </p:cTn>
                              </p:par>
                            </p:childTnLst>
                          </p:cTn>
                        </p:par>
                        <p:par>
                          <p:cTn id="37" fill="hold">
                            <p:stCondLst>
                              <p:cond delay="16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0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00"/>
                                        <p:tgtEl>
                                          <p:spTgt spid="14"/>
                                        </p:tgtEl>
                                      </p:cBhvr>
                                    </p:animEffect>
                                  </p:childTnLst>
                                </p:cTn>
                              </p:par>
                            </p:childTnLst>
                          </p:cTn>
                        </p:par>
                      </p:childTnLst>
                    </p:cTn>
                  </p:par>
                  <p:par>
                    <p:cTn id="43" fill="hold">
                      <p:stCondLst>
                        <p:cond delay="indefinite"/>
                      </p:stCondLst>
                      <p:childTnLst>
                        <p:par>
                          <p:cTn id="42"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fade">
                                      <p:cBhvr>
                                        <p:cTn id="41"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dot_119"/>
          <p:cNvSpPr/>
          <p:nvPr/>
        </p:nvSpPr>
        <p:spPr>
          <a:xfrm>
            <a:off x="822960" y="1828800"/>
            <a:ext cx="868680" cy="868680"/>
          </a:xfrm>
          <a:prstGeom prst="ellipse">
            <a:avLst/>
          </a:prstGeom>
          <a:solidFill>
            <a:schemeClr val="accent1"/>
          </a:solid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3" name="Text 1"/>
          <p:cNvSpPr/>
          <p:nvPr>
            <p:ph idx="101" type="title" hasCustomPrompt="1"/>
          </p:nvPr>
        </p:nvSpPr>
        <p:spPr>
          <a:xfrm>
            <a:off x="822960" y="2880360"/>
            <a:ext cx="5394960" cy="914400"/>
          </a:xfrm>
          <a:prstGeom prst="rect">
            <a:avLst/>
          </a:prstGeom>
          <a:noFill/>
          <a:ln/>
        </p:spPr>
        <p:txBody>
          <a:bodyPr wrap="square" lIns="0" tIns="0" rIns="0" bIns="0" rtlCol="0" anchor="ctr"/>
          <a:lstStyle/>
          <a:p>
            <a:pPr algn="l" indent="0" marL="0">
              <a:buNone/>
            </a:pPr>
            <a:r>
              <a:rPr lang="en-US" sz="3600" b="1" dirty="0">
                <a:solidFill>
                  <a:schemeClr val="tx2"/>
                </a:solidFill>
              </a:rPr>
              <a:t>Making it real</a:t>
            </a:r>
            <a:endParaRPr lang="en-US" sz="3600" dirty="0"/>
          </a:p>
        </p:txBody>
      </p:sp>
      <p:sp>
        <p:nvSpPr>
          <p:cNvPr id="4" name="Text 1"/>
          <p:cNvSpPr/>
          <p:nvPr>
            <p:ph idx="102" type="body" hasCustomPrompt="1"/>
          </p:nvPr>
        </p:nvSpPr>
        <p:spPr>
          <a:xfrm>
            <a:off x="822960" y="3886200"/>
            <a:ext cx="5394960" cy="1188720"/>
          </a:xfrm>
          <a:prstGeom prst="rect">
            <a:avLst/>
          </a:prstGeom>
          <a:noFill/>
          <a:ln/>
        </p:spPr>
        <p:txBody>
          <a:bodyPr wrap="square" lIns="0" tIns="0" rIns="0" bIns="0" rtlCol="0" anchor="t"/>
          <a:lstStyle/>
          <a:p>
            <a:pPr algn="l" indent="0" marL="0">
              <a:buNone/>
            </a:pPr>
            <a:r>
              <a:rPr lang="en-US" sz="1600" b="1" dirty="0">
                <a:solidFill>
                  <a:schemeClr val="accent1"/>
                </a:solidFill>
              </a:rPr>
              <a:t>Chloe</a:t>
            </a:r>
            <a:endParaRPr lang="en-US" sz="1600" dirty="0"/>
          </a:p>
          <a:p>
            <a:pPr algn="l" indent="0" marL="0">
              <a:buNone/>
            </a:pPr>
            <a:r>
              <a:rPr lang="en-US" sz="1600" dirty="0">
                <a:solidFill>
                  <a:schemeClr val="accent5"/>
                </a:solidFill>
              </a:rPr>
              <a:t>Feasibility, adoption, the business case and our ask</a:t>
            </a:r>
            <a:endParaRPr lang="en-US" sz="1600" dirty="0"/>
          </a:p>
        </p:txBody>
      </p:sp>
      <p:sp>
        <p:nvSpPr>
          <p:cNvPr id="5" name="ring_120"/>
          <p:cNvSpPr/>
          <p:nvPr/>
        </p:nvSpPr>
        <p:spPr>
          <a:xfrm>
            <a:off x="6144768" y="1161288"/>
            <a:ext cx="4535424" cy="4535424"/>
          </a:xfrm>
          <a:prstGeom prst="blockArc">
            <a:avLst>
              <a:gd name="adj1" fmla="val 5400000"/>
              <a:gd name="adj2" fmla="val 16200000"/>
              <a:gd name="adj3" fmla="val 4500"/>
            </a:avLst>
          </a:prstGeom>
          <a:solidFill>
            <a:srgbClr val="0C2F3B"/>
          </a:solidFill>
          <a:ln/>
        </p:spPr>
      </p:sp>
      <p:sp>
        <p:nvSpPr>
          <p:cNvPr id="6" name="ring_121"/>
          <p:cNvSpPr/>
          <p:nvPr/>
        </p:nvSpPr>
        <p:spPr>
          <a:xfrm>
            <a:off x="5914339" y="930859"/>
            <a:ext cx="4996282" cy="4996282"/>
          </a:xfrm>
          <a:prstGeom prst="blockArc">
            <a:avLst>
              <a:gd name="adj1" fmla="val 16200000"/>
              <a:gd name="adj2" fmla="val 5400000"/>
              <a:gd name="adj3" fmla="val 5500"/>
            </a:avLst>
          </a:prstGeom>
          <a:solidFill>
            <a:srgbClr val="8ACFC4"/>
          </a:solidFill>
          <a:ln/>
        </p:spPr>
      </p:sp>
      <p:sp>
        <p:nvSpPr>
          <p:cNvPr id="7" name="SHOT-06_122"/>
          <p:cNvSpPr/>
          <p:nvPr/>
        </p:nvSpPr>
        <p:spPr>
          <a:xfrm>
            <a:off x="6400800" y="1417320"/>
            <a:ext cx="4023360" cy="4023360"/>
          </a:xfrm>
          <a:prstGeom prst="ellipse">
            <a:avLst/>
          </a:prstGeom>
          <a:solidFill>
            <a:srgbClr val="F1F7F6"/>
          </a:solidFill>
          <a:ln w="19050">
            <a:solidFill>
              <a:srgbClr val="0F766E"/>
            </a:solidFill>
            <a:prstDash val="dash"/>
          </a:ln>
        </p:spPr>
        <p:txBody>
          <a:bodyPr wrap="square" rtlCol="0" anchor="ctr"/>
          <a:lstStyle/>
          <a:p>
            <a:pPr algn="ctr" indent="0" marL="0">
              <a:buNone/>
            </a:pPr>
            <a:r>
              <a:rPr lang="en-US" sz="1600" b="1" dirty="0">
                <a:solidFill>
                  <a:schemeClr val="accent1"/>
                </a:solidFill>
              </a:rPr>
              <a:t>SHOT-06</a:t>
            </a:r>
            <a:endParaRPr lang="en-US" sz="1600" dirty="0"/>
          </a:p>
          <a:p>
            <a:pPr algn="ctr" indent="0" marL="0">
              <a:buNone/>
            </a:pPr>
            <a:r>
              <a:rPr lang="en-US" sz="1200" dirty="0">
                <a:solidFill>
                  <a:schemeClr val="accent5"/>
                </a:solidFill>
              </a:rPr>
              <a:t>Real Teams approval card (M365 build)</a:t>
            </a:r>
            <a:endParaRPr lang="en-US" sz="1600" dirty="0"/>
          </a:p>
        </p:txBody>
      </p:sp>
      <p:sp>
        <p:nvSpPr>
          <p:cNvPr id="8" name="Shape 6"/>
          <p:cNvSpPr/>
          <p:nvPr/>
        </p:nvSpPr>
        <p:spPr>
          <a:xfrm>
            <a:off x="822960" y="5669280"/>
            <a:ext cx="64008" cy="64008"/>
          </a:xfrm>
          <a:prstGeom prst="ellipse">
            <a:avLst/>
          </a:prstGeom>
          <a:solidFill>
            <a:srgbClr val="0C2F3B"/>
          </a:solidFill>
          <a:ln/>
        </p:spPr>
      </p:sp>
      <p:sp>
        <p:nvSpPr>
          <p:cNvPr id="9" name="Shape 7"/>
          <p:cNvSpPr/>
          <p:nvPr/>
        </p:nvSpPr>
        <p:spPr>
          <a:xfrm>
            <a:off x="822960" y="5852160"/>
            <a:ext cx="64008" cy="64008"/>
          </a:xfrm>
          <a:prstGeom prst="ellipse">
            <a:avLst/>
          </a:prstGeom>
          <a:solidFill>
            <a:srgbClr val="0C2F3B"/>
          </a:solidFill>
          <a:ln/>
        </p:spPr>
      </p:sp>
      <p:sp>
        <p:nvSpPr>
          <p:cNvPr id="10" name="Shape 8"/>
          <p:cNvSpPr/>
          <p:nvPr/>
        </p:nvSpPr>
        <p:spPr>
          <a:xfrm>
            <a:off x="822960" y="6035040"/>
            <a:ext cx="64008" cy="64008"/>
          </a:xfrm>
          <a:prstGeom prst="ellipse">
            <a:avLst/>
          </a:prstGeom>
          <a:solidFill>
            <a:srgbClr val="0C2F3B"/>
          </a:solidFill>
          <a:ln/>
        </p:spPr>
      </p:sp>
      <p:sp>
        <p:nvSpPr>
          <p:cNvPr id="11" name="Shape 9"/>
          <p:cNvSpPr/>
          <p:nvPr/>
        </p:nvSpPr>
        <p:spPr>
          <a:xfrm>
            <a:off x="822960" y="6217920"/>
            <a:ext cx="64008" cy="64008"/>
          </a:xfrm>
          <a:prstGeom prst="ellipse">
            <a:avLst/>
          </a:prstGeom>
          <a:solidFill>
            <a:srgbClr val="0C2F3B"/>
          </a:solidFill>
          <a:ln/>
        </p:spPr>
      </p:sp>
      <p:sp>
        <p:nvSpPr>
          <p:cNvPr id="12" name="Shape 10"/>
          <p:cNvSpPr/>
          <p:nvPr/>
        </p:nvSpPr>
        <p:spPr>
          <a:xfrm>
            <a:off x="1005840" y="5669280"/>
            <a:ext cx="64008" cy="64008"/>
          </a:xfrm>
          <a:prstGeom prst="ellipse">
            <a:avLst/>
          </a:prstGeom>
          <a:solidFill>
            <a:srgbClr val="0C2F3B"/>
          </a:solidFill>
          <a:ln/>
        </p:spPr>
      </p:sp>
      <p:sp>
        <p:nvSpPr>
          <p:cNvPr id="13" name="Shape 11"/>
          <p:cNvSpPr/>
          <p:nvPr/>
        </p:nvSpPr>
        <p:spPr>
          <a:xfrm>
            <a:off x="1005840" y="5852160"/>
            <a:ext cx="64008" cy="64008"/>
          </a:xfrm>
          <a:prstGeom prst="ellipse">
            <a:avLst/>
          </a:prstGeom>
          <a:solidFill>
            <a:srgbClr val="0C2F3B"/>
          </a:solidFill>
          <a:ln/>
        </p:spPr>
      </p:sp>
      <p:sp>
        <p:nvSpPr>
          <p:cNvPr id="14" name="Shape 12"/>
          <p:cNvSpPr/>
          <p:nvPr/>
        </p:nvSpPr>
        <p:spPr>
          <a:xfrm>
            <a:off x="1005840" y="6035040"/>
            <a:ext cx="64008" cy="64008"/>
          </a:xfrm>
          <a:prstGeom prst="ellipse">
            <a:avLst/>
          </a:prstGeom>
          <a:solidFill>
            <a:srgbClr val="0C2F3B"/>
          </a:solidFill>
          <a:ln/>
        </p:spPr>
      </p:sp>
      <p:sp>
        <p:nvSpPr>
          <p:cNvPr id="15" name="Shape 13"/>
          <p:cNvSpPr/>
          <p:nvPr/>
        </p:nvSpPr>
        <p:spPr>
          <a:xfrm>
            <a:off x="1005840" y="6217920"/>
            <a:ext cx="64008" cy="64008"/>
          </a:xfrm>
          <a:prstGeom prst="ellipse">
            <a:avLst/>
          </a:prstGeom>
          <a:solidFill>
            <a:srgbClr val="0C2F3B"/>
          </a:solidFill>
          <a:ln/>
        </p:spPr>
      </p:sp>
    </p:spTree>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Built with what Lives Group already has</a:t>
            </a:r>
            <a:endParaRPr lang="en-US" sz="3000" dirty="0"/>
          </a:p>
        </p:txBody>
      </p:sp>
      <p:sp>
        <p:nvSpPr>
          <p:cNvPr id="3" name="anim1_0_123"/>
          <p:cNvSpPr/>
          <p:nvPr/>
        </p:nvSpPr>
        <p:spPr>
          <a:xfrm>
            <a:off x="4496105" y="2194560"/>
            <a:ext cx="3200400" cy="3200400"/>
          </a:xfrm>
          <a:prstGeom prst="pie">
            <a:avLst>
              <a:gd name="adj1" fmla="val 10800000"/>
              <a:gd name="adj2" fmla="val 21600000"/>
            </a:avLst>
          </a:prstGeom>
          <a:solidFill>
            <a:srgbClr val="0C2F3B"/>
          </a:solidFill>
          <a:ln/>
        </p:spPr>
        <p:txBody>
          <a:bodyPr wrap="square" lIns="406400" tIns="0" rIns="0" bIns="0" rtlCol="0" anchor="t"/>
          <a:lstStyle/>
          <a:p>
            <a:pPr algn="ctr" indent="0" marL="0">
              <a:buNone/>
            </a:pPr>
            <a:r>
              <a:rPr lang="en-US" sz="1800" b="1" dirty="0">
                <a:solidFill>
                  <a:srgbClr val="FFFFFF"/>
                </a:solidFill>
              </a:rPr>
              <a:t>Build it</a:t>
            </a:r>
            <a:endParaRPr lang="en-US" sz="1800" dirty="0"/>
          </a:p>
        </p:txBody>
      </p:sp>
      <p:sp>
        <p:nvSpPr>
          <p:cNvPr id="4" name="anim2_0_124"/>
          <p:cNvSpPr/>
          <p:nvPr/>
        </p:nvSpPr>
        <p:spPr>
          <a:xfrm>
            <a:off x="4496105" y="2267712"/>
            <a:ext cx="3200400" cy="3200400"/>
          </a:xfrm>
          <a:prstGeom prst="pie">
            <a:avLst>
              <a:gd name="adj1" fmla="val 0"/>
              <a:gd name="adj2" fmla="val 10800000"/>
            </a:avLst>
          </a:prstGeom>
          <a:solidFill>
            <a:srgbClr val="8ACFC4"/>
          </a:solidFill>
          <a:ln/>
        </p:spPr>
        <p:txBody>
          <a:bodyPr wrap="square" lIns="0" tIns="0" rIns="0" bIns="406400" rtlCol="0" anchor="b"/>
          <a:lstStyle/>
          <a:p>
            <a:pPr algn="ctr" indent="0" marL="0">
              <a:buNone/>
            </a:pPr>
            <a:r>
              <a:rPr lang="en-US" sz="1800" b="1" dirty="0">
                <a:solidFill>
                  <a:schemeClr val="tx2"/>
                </a:solidFill>
              </a:rPr>
              <a:t>Use it</a:t>
            </a:r>
            <a:endParaRPr lang="en-US" sz="1800" dirty="0"/>
          </a:p>
        </p:txBody>
      </p:sp>
      <p:sp>
        <p:nvSpPr>
          <p:cNvPr id="5" name="anim1_1_125"/>
          <p:cNvSpPr txBox="1"/>
          <p:nvPr/>
        </p:nvSpPr>
        <p:spPr>
          <a:xfrm>
            <a:off x="548640" y="2148840"/>
            <a:ext cx="3611880" cy="777240"/>
          </a:xfrm>
          <a:prstGeom prst="rect">
            <a:avLst/>
          </a:prstGeom>
          <a:noFill/>
          <a:ln/>
        </p:spPr>
        <p:txBody>
          <a:bodyPr wrap="square" lIns="0" tIns="0" rIns="0" bIns="0" rtlCol="0" anchor="t"/>
          <a:lstStyle/>
          <a:p>
            <a:pPr algn="r" indent="0" marL="0">
              <a:buNone/>
            </a:pPr>
            <a:r>
              <a:rPr lang="en-US" sz="1400" b="1" dirty="0">
                <a:solidFill>
                  <a:schemeClr val="tx2"/>
                </a:solidFill>
              </a:rPr>
              <a:t>Standard M365 connectors</a:t>
            </a:r>
            <a:endParaRPr lang="en-US" sz="1400" dirty="0"/>
          </a:p>
          <a:p>
            <a:pPr algn="r" indent="0" marL="0">
              <a:buNone/>
            </a:pPr>
            <a:r>
              <a:rPr lang="en-US" sz="1300" dirty="0">
                <a:solidFill>
                  <a:schemeClr val="accent5"/>
                </a:solidFill>
              </a:rPr>
              <a:t>no premium licence</a:t>
            </a:r>
            <a:endParaRPr lang="en-US" sz="1400" dirty="0"/>
          </a:p>
        </p:txBody>
      </p:sp>
      <p:sp>
        <p:nvSpPr>
          <p:cNvPr id="6" name="anim1_1_126"/>
          <p:cNvSpPr/>
          <p:nvPr/>
        </p:nvSpPr>
        <p:spPr>
          <a:xfrm>
            <a:off x="4297680" y="2258568"/>
            <a:ext cx="146304" cy="146304"/>
          </a:xfrm>
          <a:prstGeom prst="ellipse">
            <a:avLst/>
          </a:prstGeom>
          <a:solidFill>
            <a:srgbClr val="0C2F3B"/>
          </a:solidFill>
          <a:ln/>
        </p:spPr>
      </p:sp>
      <p:sp>
        <p:nvSpPr>
          <p:cNvPr id="7" name="anim1_1_127"/>
          <p:cNvSpPr txBox="1"/>
          <p:nvPr/>
        </p:nvSpPr>
        <p:spPr>
          <a:xfrm>
            <a:off x="548640" y="3017520"/>
            <a:ext cx="3611880" cy="777240"/>
          </a:xfrm>
          <a:prstGeom prst="rect">
            <a:avLst/>
          </a:prstGeom>
          <a:noFill/>
          <a:ln/>
        </p:spPr>
        <p:txBody>
          <a:bodyPr wrap="square" lIns="0" tIns="0" rIns="0" bIns="0" rtlCol="0" anchor="t"/>
          <a:lstStyle/>
          <a:p>
            <a:pPr algn="r" indent="0" marL="0">
              <a:buNone/>
            </a:pPr>
            <a:r>
              <a:rPr lang="en-US" sz="1400" b="1" dirty="0">
                <a:solidFill>
                  <a:schemeClr val="tx2"/>
                </a:solidFill>
              </a:rPr>
              <a:t>~10 weeks</a:t>
            </a:r>
            <a:endParaRPr lang="en-US" sz="1400" dirty="0"/>
          </a:p>
          <a:p>
            <a:pPr algn="r" indent="0" marL="0">
              <a:buNone/>
            </a:pPr>
            <a:r>
              <a:rPr lang="en-US" sz="1300" dirty="0">
                <a:solidFill>
                  <a:schemeClr val="accent5"/>
                </a:solidFill>
              </a:rPr>
              <a:t>of one Power Platform contractor</a:t>
            </a:r>
            <a:endParaRPr lang="en-US" sz="1400" dirty="0"/>
          </a:p>
        </p:txBody>
      </p:sp>
      <p:sp>
        <p:nvSpPr>
          <p:cNvPr id="8" name="anim1_1_128"/>
          <p:cNvSpPr/>
          <p:nvPr/>
        </p:nvSpPr>
        <p:spPr>
          <a:xfrm>
            <a:off x="4297680" y="3127248"/>
            <a:ext cx="146304" cy="146304"/>
          </a:xfrm>
          <a:prstGeom prst="ellipse">
            <a:avLst/>
          </a:prstGeom>
          <a:solidFill>
            <a:srgbClr val="0C2F3B"/>
          </a:solidFill>
          <a:ln/>
        </p:spPr>
      </p:sp>
      <p:sp>
        <p:nvSpPr>
          <p:cNvPr id="9" name="anim1_1_129"/>
          <p:cNvSpPr txBox="1"/>
          <p:nvPr/>
        </p:nvSpPr>
        <p:spPr>
          <a:xfrm>
            <a:off x="8001000" y="2148840"/>
            <a:ext cx="3611880" cy="777240"/>
          </a:xfrm>
          <a:prstGeom prst="rect">
            <a:avLst/>
          </a:prstGeom>
          <a:noFill/>
          <a:ln/>
        </p:spPr>
        <p:txBody>
          <a:bodyPr wrap="square" lIns="0" tIns="0" rIns="0" bIns="0" rtlCol="0" anchor="t"/>
          <a:lstStyle/>
          <a:p>
            <a:pPr algn="l" indent="0" marL="0">
              <a:buNone/>
            </a:pPr>
            <a:r>
              <a:rPr lang="en-US" sz="1400" b="1" dirty="0">
                <a:solidFill>
                  <a:schemeClr val="tx2"/>
                </a:solidFill>
              </a:rPr>
              <a:t>IT: about 2 days</a:t>
            </a:r>
            <a:endParaRPr lang="en-US" sz="1400" dirty="0"/>
          </a:p>
          <a:p>
            <a:pPr algn="l" indent="0" marL="0">
              <a:buNone/>
            </a:pPr>
            <a:r>
              <a:rPr lang="en-US" sz="1300" dirty="0">
                <a:solidFill>
                  <a:schemeClr val="accent5"/>
                </a:solidFill>
              </a:rPr>
              <a:t>one-off, Teams site and permissions</a:t>
            </a:r>
            <a:endParaRPr lang="en-US" sz="1400" dirty="0"/>
          </a:p>
        </p:txBody>
      </p:sp>
      <p:sp>
        <p:nvSpPr>
          <p:cNvPr id="10" name="anim1_1_130"/>
          <p:cNvSpPr/>
          <p:nvPr/>
        </p:nvSpPr>
        <p:spPr>
          <a:xfrm>
            <a:off x="7726680" y="2258568"/>
            <a:ext cx="146304" cy="146304"/>
          </a:xfrm>
          <a:prstGeom prst="ellipse">
            <a:avLst/>
          </a:prstGeom>
          <a:solidFill>
            <a:srgbClr val="0C2F3B"/>
          </a:solidFill>
          <a:ln/>
        </p:spPr>
      </p:sp>
      <p:sp>
        <p:nvSpPr>
          <p:cNvPr id="11" name="anim1_1_131"/>
          <p:cNvSpPr txBox="1"/>
          <p:nvPr/>
        </p:nvSpPr>
        <p:spPr>
          <a:xfrm>
            <a:off x="8001000" y="3017520"/>
            <a:ext cx="3611880" cy="777240"/>
          </a:xfrm>
          <a:prstGeom prst="rect">
            <a:avLst/>
          </a:prstGeom>
          <a:noFill/>
          <a:ln/>
        </p:spPr>
        <p:txBody>
          <a:bodyPr wrap="square" lIns="0" tIns="0" rIns="0" bIns="0" rtlCol="0" anchor="t"/>
          <a:lstStyle/>
          <a:p>
            <a:pPr algn="l" indent="0" marL="0">
              <a:buNone/>
            </a:pPr>
            <a:r>
              <a:rPr lang="en-US" sz="1400" b="1" dirty="0">
                <a:solidFill>
                  <a:schemeClr val="tx2"/>
                </a:solidFill>
              </a:rPr>
              <a:t>MDM edits the rules</a:t>
            </a:r>
            <a:endParaRPr lang="en-US" sz="1400" dirty="0"/>
          </a:p>
          <a:p>
            <a:pPr algn="l" indent="0" marL="0">
              <a:buNone/>
            </a:pPr>
            <a:r>
              <a:rPr lang="en-US" sz="1300" dirty="0">
                <a:solidFill>
                  <a:schemeClr val="accent5"/>
                </a:solidFill>
              </a:rPr>
              <a:t>fields, approvers, business units</a:t>
            </a:r>
            <a:endParaRPr lang="en-US" sz="1400" dirty="0"/>
          </a:p>
        </p:txBody>
      </p:sp>
      <p:sp>
        <p:nvSpPr>
          <p:cNvPr id="12" name="anim1_1_132"/>
          <p:cNvSpPr/>
          <p:nvPr/>
        </p:nvSpPr>
        <p:spPr>
          <a:xfrm>
            <a:off x="7726680" y="3127248"/>
            <a:ext cx="146304" cy="146304"/>
          </a:xfrm>
          <a:prstGeom prst="ellipse">
            <a:avLst/>
          </a:prstGeom>
          <a:solidFill>
            <a:srgbClr val="0C2F3B"/>
          </a:solidFill>
          <a:ln/>
        </p:spPr>
      </p:sp>
      <p:sp>
        <p:nvSpPr>
          <p:cNvPr id="13" name="anim2_1_133"/>
          <p:cNvSpPr txBox="1"/>
          <p:nvPr/>
        </p:nvSpPr>
        <p:spPr>
          <a:xfrm>
            <a:off x="548640" y="3886200"/>
            <a:ext cx="3611880" cy="777240"/>
          </a:xfrm>
          <a:prstGeom prst="rect">
            <a:avLst/>
          </a:prstGeom>
          <a:noFill/>
          <a:ln/>
        </p:spPr>
        <p:txBody>
          <a:bodyPr wrap="square" lIns="0" tIns="0" rIns="0" bIns="0" rtlCol="0" anchor="t"/>
          <a:lstStyle/>
          <a:p>
            <a:pPr algn="r" indent="0" marL="0">
              <a:buNone/>
            </a:pPr>
            <a:r>
              <a:rPr lang="en-US" sz="1400" b="1" dirty="0">
                <a:solidFill>
                  <a:schemeClr val="tx2"/>
                </a:solidFill>
              </a:rPr>
              <a:t>A Teams card, not one more email</a:t>
            </a:r>
            <a:endParaRPr lang="en-US" sz="1400" dirty="0"/>
          </a:p>
          <a:p>
            <a:pPr algn="r" indent="0" marL="0">
              <a:buNone/>
            </a:pPr>
            <a:r>
              <a:rPr lang="en-US" sz="1300" dirty="0">
                <a:solidFill>
                  <a:schemeClr val="accent5"/>
                </a:solidFill>
              </a:rPr>
              <a:t>approvers act where they already are</a:t>
            </a:r>
            <a:endParaRPr lang="en-US" sz="1400" dirty="0"/>
          </a:p>
        </p:txBody>
      </p:sp>
      <p:sp>
        <p:nvSpPr>
          <p:cNvPr id="14" name="anim2_1_134"/>
          <p:cNvSpPr/>
          <p:nvPr/>
        </p:nvSpPr>
        <p:spPr>
          <a:xfrm>
            <a:off x="4297680" y="3995928"/>
            <a:ext cx="146304" cy="146304"/>
          </a:xfrm>
          <a:prstGeom prst="ellipse">
            <a:avLst/>
          </a:prstGeom>
          <a:solidFill>
            <a:srgbClr val="0F766E"/>
          </a:solidFill>
          <a:ln/>
        </p:spPr>
      </p:sp>
      <p:sp>
        <p:nvSpPr>
          <p:cNvPr id="15" name="anim2_1_135"/>
          <p:cNvSpPr txBox="1"/>
          <p:nvPr/>
        </p:nvSpPr>
        <p:spPr>
          <a:xfrm>
            <a:off x="548640" y="4754880"/>
            <a:ext cx="3611880" cy="777240"/>
          </a:xfrm>
          <a:prstGeom prst="rect">
            <a:avLst/>
          </a:prstGeom>
          <a:noFill/>
          <a:ln/>
        </p:spPr>
        <p:txBody>
          <a:bodyPr wrap="square" lIns="0" tIns="0" rIns="0" bIns="0" rtlCol="0" anchor="t"/>
          <a:lstStyle/>
          <a:p>
            <a:pPr algn="r" indent="0" marL="0">
              <a:buNone/>
            </a:pPr>
            <a:r>
              <a:rPr lang="en-US" sz="1400" b="1" dirty="0">
                <a:solidFill>
                  <a:schemeClr val="tx2"/>
                </a:solidFill>
              </a:rPr>
              <a:t>Old habits caught</a:t>
            </a:r>
            <a:endParaRPr lang="en-US" sz="1400" dirty="0"/>
          </a:p>
          <a:p>
            <a:pPr algn="r" indent="0" marL="0">
              <a:buNone/>
            </a:pPr>
            <a:r>
              <a:rPr lang="en-US" sz="1300" dirty="0">
                <a:solidFill>
                  <a:schemeClr val="accent5"/>
                </a:solidFill>
              </a:rPr>
              <a:t>emails to MDM get the form link back</a:t>
            </a:r>
            <a:endParaRPr lang="en-US" sz="1400" dirty="0"/>
          </a:p>
        </p:txBody>
      </p:sp>
      <p:sp>
        <p:nvSpPr>
          <p:cNvPr id="16" name="anim2_1_136"/>
          <p:cNvSpPr/>
          <p:nvPr/>
        </p:nvSpPr>
        <p:spPr>
          <a:xfrm>
            <a:off x="4297680" y="4864608"/>
            <a:ext cx="146304" cy="146304"/>
          </a:xfrm>
          <a:prstGeom prst="ellipse">
            <a:avLst/>
          </a:prstGeom>
          <a:solidFill>
            <a:srgbClr val="0F766E"/>
          </a:solidFill>
          <a:ln/>
        </p:spPr>
      </p:sp>
      <p:sp>
        <p:nvSpPr>
          <p:cNvPr id="17" name="anim2_1_137"/>
          <p:cNvSpPr txBox="1"/>
          <p:nvPr/>
        </p:nvSpPr>
        <p:spPr>
          <a:xfrm>
            <a:off x="8001000" y="3886200"/>
            <a:ext cx="3611880" cy="777240"/>
          </a:xfrm>
          <a:prstGeom prst="rect">
            <a:avLst/>
          </a:prstGeom>
          <a:noFill/>
          <a:ln/>
        </p:spPr>
        <p:txBody>
          <a:bodyPr wrap="square" lIns="0" tIns="0" rIns="0" bIns="0" rtlCol="0" anchor="t"/>
          <a:lstStyle/>
          <a:p>
            <a:pPr algn="l" indent="0" marL="0">
              <a:buNone/>
            </a:pPr>
            <a:r>
              <a:rPr lang="en-US" sz="1400" b="1" dirty="0">
                <a:solidFill>
                  <a:schemeClr val="tx2"/>
                </a:solidFill>
              </a:rPr>
              <a:t>Status without asking</a:t>
            </a:r>
            <a:endParaRPr lang="en-US" sz="1400" dirty="0"/>
          </a:p>
          <a:p>
            <a:pPr algn="l" indent="0" marL="0">
              <a:buNone/>
            </a:pPr>
            <a:r>
              <a:rPr lang="en-US" sz="1300" dirty="0">
                <a:solidFill>
                  <a:schemeClr val="accent5"/>
                </a:solidFill>
              </a:rPr>
              <a:t>My requests shows who it's waiting on</a:t>
            </a:r>
            <a:endParaRPr lang="en-US" sz="1400" dirty="0"/>
          </a:p>
        </p:txBody>
      </p:sp>
      <p:sp>
        <p:nvSpPr>
          <p:cNvPr id="18" name="anim2_1_138"/>
          <p:cNvSpPr/>
          <p:nvPr/>
        </p:nvSpPr>
        <p:spPr>
          <a:xfrm>
            <a:off x="7726680" y="3995928"/>
            <a:ext cx="146304" cy="146304"/>
          </a:xfrm>
          <a:prstGeom prst="ellipse">
            <a:avLst/>
          </a:prstGeom>
          <a:solidFill>
            <a:srgbClr val="0F766E"/>
          </a:solidFill>
          <a:ln/>
        </p:spPr>
      </p:sp>
      <p:sp>
        <p:nvSpPr>
          <p:cNvPr id="19" name="anim2_1_139"/>
          <p:cNvSpPr txBox="1"/>
          <p:nvPr/>
        </p:nvSpPr>
        <p:spPr>
          <a:xfrm>
            <a:off x="8001000" y="4754880"/>
            <a:ext cx="3611880" cy="777240"/>
          </a:xfrm>
          <a:prstGeom prst="rect">
            <a:avLst/>
          </a:prstGeom>
          <a:noFill/>
          <a:ln/>
        </p:spPr>
        <p:txBody>
          <a:bodyPr wrap="square" lIns="0" tIns="0" rIns="0" bIns="0" rtlCol="0" anchor="t"/>
          <a:lstStyle/>
          <a:p>
            <a:pPr algn="l" indent="0" marL="0">
              <a:buNone/>
            </a:pPr>
            <a:r>
              <a:rPr lang="en-US" sz="1400" b="1" dirty="0">
                <a:solidFill>
                  <a:schemeClr val="tx2"/>
                </a:solidFill>
              </a:rPr>
              <a:t>A clear cut-over</a:t>
            </a:r>
            <a:endParaRPr lang="en-US" sz="1400" dirty="0"/>
          </a:p>
          <a:p>
            <a:pPr algn="l" indent="0" marL="0">
              <a:buNone/>
            </a:pPr>
            <a:r>
              <a:rPr lang="en-US" sz="1300" dirty="0">
                <a:solidFill>
                  <a:schemeClr val="accent5"/>
                </a:solidFill>
              </a:rPr>
              <a:t>after go-live, MDM only actions form requests</a:t>
            </a:r>
            <a:endParaRPr lang="en-US" sz="1400" dirty="0"/>
          </a:p>
        </p:txBody>
      </p:sp>
      <p:sp>
        <p:nvSpPr>
          <p:cNvPr id="20" name="anim2_1_140"/>
          <p:cNvSpPr/>
          <p:nvPr/>
        </p:nvSpPr>
        <p:spPr>
          <a:xfrm>
            <a:off x="7726680" y="4864608"/>
            <a:ext cx="146304" cy="146304"/>
          </a:xfrm>
          <a:prstGeom prst="ellipse">
            <a:avLst/>
          </a:prstGeom>
          <a:solidFill>
            <a:srgbClr val="0F766E"/>
          </a:solidFill>
          <a:ln/>
        </p:spPr>
      </p:sp>
      <p:sp>
        <p:nvSpPr>
          <p:cNvPr id="21" name="anim3_0_141"/>
          <p:cNvSpPr txBox="1"/>
          <p:nvPr/>
        </p:nvSpPr>
        <p:spPr>
          <a:xfrm>
            <a:off x="548640" y="5760720"/>
            <a:ext cx="11091672" cy="411480"/>
          </a:xfrm>
          <a:prstGeom prst="rect">
            <a:avLst/>
          </a:prstGeom>
          <a:noFill/>
          <a:ln/>
        </p:spPr>
        <p:txBody>
          <a:bodyPr wrap="square" lIns="0" tIns="0" rIns="0" bIns="0" rtlCol="0" anchor="t"/>
          <a:lstStyle/>
          <a:p>
            <a:pPr algn="ctr" indent="0" marL="0">
              <a:buNone/>
            </a:pPr>
            <a:r>
              <a:rPr lang="en-US" sz="1400" i="1" dirty="0">
                <a:solidFill>
                  <a:schemeClr val="accent1"/>
                </a:solidFill>
              </a:rPr>
              <a:t>Remember the 20–30 emails a day? Approvals leave the inbox and move into Teams.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2" fill="hold">
                      <p:stCondLst>
                        <p:cond delay="indefinite"/>
                      </p:stCondLst>
                      <p:childTnLst>
                        <p:par>
                          <p:cTn id="6"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3"/>
                                        </p:tgtEl>
                                        <p:attrNameLst>
                                          <p:attrName>style.visibility</p:attrName>
                                        </p:attrNameLst>
                                      </p:cBhvr>
                                      <p:to>
                                        <p:strVal val="visible"/>
                                      </p:to>
                                    </p:set>
                                    <p:animEffect transition="in" filter="fade">
                                      <p:cBhvr>
                                        <p:cTn id="5" dur="400"/>
                                        <p:tgtEl>
                                          <p:spTgt spid="3"/>
                                        </p:tgtEl>
                                      </p:cBhvr>
                                    </p:animEffect>
                                  </p:childTnLst>
                                </p:cTn>
                              </p:par>
                            </p:childTnLst>
                          </p:cTn>
                        </p:par>
                        <p:par>
                          <p:cTn id="31" fill="hold">
                            <p:stCondLst>
                              <p:cond delay="400"/>
                            </p:stCondLst>
                            <p:childTnLst>
                              <p:par>
                                <p:cTn id="7" presetID="10" presetClass="entr" presetSubtype="0" fill="hold" grpId="0" nodeType="afterEffect">
                                  <p:stCondLst>
                                    <p:cond delay="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00"/>
                                        <p:tgtEl>
                                          <p:spTgt spid="5"/>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0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par>
                    <p:cTn id="62" fill="hold">
                      <p:stCondLst>
                        <p:cond delay="indefinite"/>
                      </p:stCondLst>
                      <p:childTnLst>
                        <p:par>
                          <p:cTn id="36"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
                                        </p:tgtEl>
                                        <p:attrNameLst>
                                          <p:attrName>style.visibility</p:attrName>
                                        </p:attrNameLst>
                                      </p:cBhvr>
                                      <p:to>
                                        <p:strVal val="visible"/>
                                      </p:to>
                                    </p:set>
                                    <p:animEffect transition="in" filter="fade">
                                      <p:cBhvr>
                                        <p:cTn id="35" dur="400"/>
                                        <p:tgtEl>
                                          <p:spTgt spid="4"/>
                                        </p:tgtEl>
                                      </p:cBhvr>
                                    </p:animEffect>
                                  </p:childTnLst>
                                </p:cTn>
                              </p:par>
                            </p:childTnLst>
                          </p:cTn>
                        </p:par>
                        <p:par>
                          <p:cTn id="61" fill="hold">
                            <p:stCondLst>
                              <p:cond delay="400"/>
                            </p:stCondLst>
                            <p:childTnLst>
                              <p:par>
                                <p:cTn id="37" presetID="10" presetClass="entr" presetSubtype="0" fill="hold" grpId="0" nodeType="after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400"/>
                                        <p:tgtEl>
                                          <p:spTgt spid="1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400"/>
                                        <p:tgtEl>
                                          <p:spTgt spid="15"/>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400"/>
                                        <p:tgtEl>
                                          <p:spTgt spid="16"/>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400"/>
                                        <p:tgtEl>
                                          <p:spTgt spid="17"/>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400"/>
                                        <p:tgtEl>
                                          <p:spTgt spid="18"/>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400"/>
                                        <p:tgtEl>
                                          <p:spTgt spid="1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fade">
                                      <p:cBhvr>
                                        <p:cTn id="60" dur="400"/>
                                        <p:tgtEl>
                                          <p:spTgt spid="20"/>
                                        </p:tgtEl>
                                      </p:cBhvr>
                                    </p:animEffect>
                                  </p:childTnLst>
                                </p:cTn>
                              </p:par>
                            </p:childTnLst>
                          </p:cTn>
                        </p:par>
                      </p:childTnLst>
                    </p:cTn>
                  </p:par>
                  <p:par>
                    <p:cTn id="67" fill="hold">
                      <p:stCondLst>
                        <p:cond delay="indefinite"/>
                      </p:stCondLst>
                      <p:childTnLst>
                        <p:par>
                          <p:cTn id="66"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21"/>
                                        </p:tgtEl>
                                        <p:attrNameLst>
                                          <p:attrName>style.visibility</p:attrName>
                                        </p:attrNameLst>
                                      </p:cBhvr>
                                      <p:to>
                                        <p:strVal val="visible"/>
                                      </p:to>
                                    </p:set>
                                    <p:animEffect transition="in" filter="fade">
                                      <p:cBhvr>
                                        <p:cTn id="65" dur="4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P spid="8" grpId="0" animBg="1"/>
      <p:bldP spid="9" grpId="0" animBg="1"/>
      <p:bldP spid="10" grpId="0" animBg="1"/>
      <p:bldP spid="11" grpId="0" animBg="1"/>
      <p:bldP spid="12" grpId="0" animBg="1"/>
      <p:bldP spid="4"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Pays back in 3.4 months</a:t>
            </a:r>
            <a:endParaRPr lang="en-US" sz="3000" dirty="0"/>
          </a:p>
        </p:txBody>
      </p:sp>
      <p:sp>
        <p:nvSpPr>
          <p:cNvPr id="3" name="Shape 1"/>
          <p:cNvSpPr/>
          <p:nvPr/>
        </p:nvSpPr>
        <p:spPr>
          <a:xfrm>
            <a:off x="548640" y="2743200"/>
            <a:ext cx="11091672" cy="2468880"/>
          </a:xfrm>
          <a:prstGeom prst="roundRect">
            <a:avLst>
              <a:gd name="adj" fmla="val 7407"/>
            </a:avLst>
          </a:prstGeom>
          <a:solidFill>
            <a:srgbClr val="0C2F3B"/>
          </a:solidFill>
          <a:ln/>
        </p:spPr>
      </p:sp>
      <p:sp>
        <p:nvSpPr>
          <p:cNvPr id="4" name="anim1_0_142"/>
          <p:cNvSpPr/>
          <p:nvPr/>
        </p:nvSpPr>
        <p:spPr>
          <a:xfrm>
            <a:off x="868680" y="1920240"/>
            <a:ext cx="2377440" cy="2743200"/>
          </a:xfrm>
          <a:prstGeom prst="roundRect">
            <a:avLst>
              <a:gd name="adj" fmla="val 5769"/>
            </a:avLst>
          </a:prstGeom>
          <a:solidFill>
            <a:srgbClr val="FFFFFF"/>
          </a:solidFill>
          <a:ln w="19050">
            <a:solidFill>
              <a:srgbClr val="8ACFC4"/>
            </a:solidFill>
          </a:ln>
        </p:spPr>
        <p:txBody>
          <a:bodyPr wrap="square" lIns="381000" tIns="127000" rIns="127000" bIns="127000" rtlCol="0" anchor="ctr"/>
          <a:lstStyle/>
          <a:p>
            <a:pPr algn="ctr" indent="0" marL="0">
              <a:buNone/>
            </a:pPr>
            <a:r>
              <a:rPr lang="en-US" sz="2200" b="1" dirty="0">
                <a:solidFill>
                  <a:schemeClr val="tx2"/>
                </a:solidFill>
              </a:rPr>
              <a:t>S$58k</a:t>
            </a:r>
            <a:endParaRPr lang="en-US" sz="2200" dirty="0"/>
          </a:p>
          <a:p>
            <a:pPr algn="ctr" indent="0" marL="0">
              <a:buNone/>
            </a:pPr>
            <a:r>
              <a:rPr lang="en-US" sz="1400" b="1" dirty="0">
                <a:solidFill>
                  <a:schemeClr val="tx1"/>
                </a:solidFill>
              </a:rPr>
              <a:t>year-1 cost</a:t>
            </a:r>
            <a:endParaRPr lang="en-US" sz="2200" dirty="0"/>
          </a:p>
          <a:p>
            <a:pPr algn="ctr" indent="0" marL="0">
              <a:buNone/>
            </a:pPr>
            <a:r>
              <a:rPr lang="en-US" sz="1200" dirty="0">
                <a:solidFill>
                  <a:schemeClr val="accent5"/>
                </a:solidFill>
              </a:rPr>
              <a:t>contractor, analyst, licences, MDM time</a:t>
            </a:r>
            <a:endParaRPr lang="en-US" sz="2200" dirty="0"/>
          </a:p>
        </p:txBody>
      </p:sp>
      <p:sp>
        <p:nvSpPr>
          <p:cNvPr id="5" name="anim1_0_142"/>
          <p:cNvSpPr/>
          <p:nvPr/>
        </p:nvSpPr>
        <p:spPr>
          <a:xfrm>
            <a:off x="1737360" y="1600200"/>
            <a:ext cx="640080" cy="640080"/>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6" name="anim1_1_143"/>
          <p:cNvSpPr/>
          <p:nvPr/>
        </p:nvSpPr>
        <p:spPr>
          <a:xfrm>
            <a:off x="3566160" y="1920240"/>
            <a:ext cx="2377440" cy="2743200"/>
          </a:xfrm>
          <a:prstGeom prst="roundRect">
            <a:avLst>
              <a:gd name="adj" fmla="val 5769"/>
            </a:avLst>
          </a:prstGeom>
          <a:solidFill>
            <a:srgbClr val="FFFFFF"/>
          </a:solidFill>
          <a:ln w="19050">
            <a:solidFill>
              <a:srgbClr val="8ACFC4"/>
            </a:solidFill>
          </a:ln>
        </p:spPr>
        <p:txBody>
          <a:bodyPr wrap="square" lIns="381000" tIns="127000" rIns="127000" bIns="127000" rtlCol="0" anchor="ctr"/>
          <a:lstStyle/>
          <a:p>
            <a:pPr algn="ctr" indent="0" marL="0">
              <a:buNone/>
            </a:pPr>
            <a:r>
              <a:rPr lang="en-US" sz="2200" b="1" dirty="0">
                <a:solidFill>
                  <a:schemeClr val="tx2"/>
                </a:solidFill>
              </a:rPr>
              <a:t>S$205k</a:t>
            </a:r>
            <a:endParaRPr lang="en-US" sz="2200" dirty="0"/>
          </a:p>
          <a:p>
            <a:pPr algn="ctr" indent="0" marL="0">
              <a:buNone/>
            </a:pPr>
            <a:r>
              <a:rPr lang="en-US" sz="1400" b="1" dirty="0">
                <a:solidFill>
                  <a:schemeClr val="tx1"/>
                </a:solidFill>
              </a:rPr>
              <a:t>benefit a year</a:t>
            </a:r>
            <a:endParaRPr lang="en-US" sz="2200" dirty="0"/>
          </a:p>
          <a:p>
            <a:pPr algn="ctr" indent="0" marL="0">
              <a:buNone/>
            </a:pPr>
            <a:r>
              <a:rPr lang="en-US" sz="1200" dirty="0">
                <a:solidFill>
                  <a:schemeClr val="accent5"/>
                </a:solidFill>
              </a:rPr>
              <a:t>mostly sales: drop-offs kept and cross-sell</a:t>
            </a:r>
            <a:endParaRPr lang="en-US" sz="2200" dirty="0"/>
          </a:p>
        </p:txBody>
      </p:sp>
      <p:sp>
        <p:nvSpPr>
          <p:cNvPr id="7" name="anim1_1_143"/>
          <p:cNvSpPr/>
          <p:nvPr/>
        </p:nvSpPr>
        <p:spPr>
          <a:xfrm>
            <a:off x="4434840" y="1600200"/>
            <a:ext cx="640080" cy="640080"/>
          </a:xfrm>
          <a:prstGeom prst="ellipse">
            <a:avLst/>
          </a:prstGeom>
          <a:solidFill>
            <a:srgbClr val="8ACFC4"/>
          </a:solid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8" name="anim1_2_144"/>
          <p:cNvSpPr/>
          <p:nvPr/>
        </p:nvSpPr>
        <p:spPr>
          <a:xfrm>
            <a:off x="6263640" y="1920240"/>
            <a:ext cx="2377440" cy="2743200"/>
          </a:xfrm>
          <a:prstGeom prst="roundRect">
            <a:avLst>
              <a:gd name="adj" fmla="val 5769"/>
            </a:avLst>
          </a:prstGeom>
          <a:solidFill>
            <a:srgbClr val="FFFFFF"/>
          </a:solidFill>
          <a:ln w="19050">
            <a:solidFill>
              <a:srgbClr val="8ACFC4"/>
            </a:solidFill>
          </a:ln>
        </p:spPr>
        <p:txBody>
          <a:bodyPr wrap="square" lIns="381000" tIns="127000" rIns="127000" bIns="127000" rtlCol="0" anchor="ctr"/>
          <a:lstStyle/>
          <a:p>
            <a:pPr algn="ctr" indent="0" marL="0">
              <a:buNone/>
            </a:pPr>
            <a:r>
              <a:rPr lang="en-US" sz="2200" b="1" dirty="0">
                <a:solidFill>
                  <a:srgbClr val="0F766E"/>
                </a:solidFill>
              </a:rPr>
              <a:t>3.4 months</a:t>
            </a:r>
            <a:endParaRPr lang="en-US" sz="2200" dirty="0"/>
          </a:p>
          <a:p>
            <a:pPr algn="ctr" indent="0" marL="0">
              <a:buNone/>
            </a:pPr>
            <a:r>
              <a:rPr lang="en-US" sz="1400" b="1" dirty="0">
                <a:solidFill>
                  <a:schemeClr val="tx1"/>
                </a:solidFill>
              </a:rPr>
              <a:t>payback</a:t>
            </a:r>
            <a:endParaRPr lang="en-US" sz="2200" dirty="0"/>
          </a:p>
          <a:p>
            <a:pPr algn="ctr" indent="0" marL="0">
              <a:buNone/>
            </a:pPr>
            <a:r>
              <a:rPr lang="en-US" sz="1200" dirty="0">
                <a:solidFill>
                  <a:schemeClr val="accent5"/>
                </a:solidFill>
              </a:rPr>
              <a:t>on the default assumptions</a:t>
            </a:r>
            <a:endParaRPr lang="en-US" sz="2200" dirty="0"/>
          </a:p>
        </p:txBody>
      </p:sp>
      <p:sp>
        <p:nvSpPr>
          <p:cNvPr id="9" name="anim1_2_144"/>
          <p:cNvSpPr/>
          <p:nvPr/>
        </p:nvSpPr>
        <p:spPr>
          <a:xfrm>
            <a:off x="7132320" y="1600200"/>
            <a:ext cx="640080" cy="640080"/>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0" name="anim1_3_145"/>
          <p:cNvSpPr/>
          <p:nvPr/>
        </p:nvSpPr>
        <p:spPr>
          <a:xfrm>
            <a:off x="8961120" y="1920240"/>
            <a:ext cx="2377440" cy="2743200"/>
          </a:xfrm>
          <a:prstGeom prst="roundRect">
            <a:avLst>
              <a:gd name="adj" fmla="val 5769"/>
            </a:avLst>
          </a:prstGeom>
          <a:solidFill>
            <a:srgbClr val="FFFFFF"/>
          </a:solidFill>
          <a:ln w="19050">
            <a:solidFill>
              <a:srgbClr val="8ACFC4"/>
            </a:solidFill>
          </a:ln>
        </p:spPr>
        <p:txBody>
          <a:bodyPr wrap="square" lIns="381000" tIns="127000" rIns="127000" bIns="127000" rtlCol="0" anchor="ctr"/>
          <a:lstStyle/>
          <a:p>
            <a:pPr algn="ctr" indent="0" marL="0">
              <a:buNone/>
            </a:pPr>
            <a:r>
              <a:rPr lang="en-US" sz="2200" b="1" dirty="0">
                <a:solidFill>
                  <a:schemeClr val="tx2"/>
                </a:solidFill>
              </a:rPr>
              <a:t>4–6 days</a:t>
            </a:r>
            <a:endParaRPr lang="en-US" sz="2200" dirty="0"/>
          </a:p>
          <a:p>
            <a:pPr algn="ctr" indent="0" marL="0">
              <a:buNone/>
            </a:pPr>
            <a:r>
              <a:rPr lang="en-US" sz="1400" b="1" dirty="0">
                <a:solidFill>
                  <a:schemeClr val="tx1"/>
                </a:solidFill>
              </a:rPr>
              <a:t>to SAP, from 18.8</a:t>
            </a:r>
            <a:endParaRPr lang="en-US" sz="2200" dirty="0"/>
          </a:p>
          <a:p>
            <a:pPr algn="ctr" indent="0" marL="0">
              <a:buNone/>
            </a:pPr>
            <a:r>
              <a:rPr lang="en-US" sz="1200" dirty="0">
                <a:solidFill>
                  <a:schemeClr val="accent5"/>
                </a:solidFill>
              </a:rPr>
              <a:t>simulated on the same 150 requests</a:t>
            </a:r>
            <a:endParaRPr lang="en-US" sz="2200" dirty="0"/>
          </a:p>
        </p:txBody>
      </p:sp>
      <p:sp>
        <p:nvSpPr>
          <p:cNvPr id="11" name="anim1_3_145"/>
          <p:cNvSpPr/>
          <p:nvPr/>
        </p:nvSpPr>
        <p:spPr>
          <a:xfrm>
            <a:off x="9829800" y="1600200"/>
            <a:ext cx="640080" cy="640080"/>
          </a:xfrm>
          <a:prstGeom prst="ellipse">
            <a:avLst/>
          </a:prstGeom>
          <a:solidFill>
            <a:srgbClr val="8ACFC4"/>
          </a:solid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12" name="anim2_0_146"/>
          <p:cNvSpPr txBox="1"/>
          <p:nvPr/>
        </p:nvSpPr>
        <p:spPr>
          <a:xfrm>
            <a:off x="548640" y="5486400"/>
            <a:ext cx="11091672" cy="685800"/>
          </a:xfrm>
          <a:prstGeom prst="rect">
            <a:avLst/>
          </a:prstGeom>
          <a:noFill/>
          <a:ln/>
        </p:spPr>
        <p:txBody>
          <a:bodyPr wrap="square" lIns="0" tIns="0" rIns="0" bIns="0" rtlCol="0" anchor="t"/>
          <a:lstStyle/>
          <a:p>
            <a:pPr algn="ctr" indent="0" marL="0">
              <a:buNone/>
            </a:pPr>
            <a:r>
              <a:rPr lang="en-US" sz="1300" i="1" dirty="0">
                <a:solidFill>
                  <a:schemeClr val="accent5"/>
                </a:solidFill>
              </a:rPr>
              <a:t>Rates, hours, margin and conversion are placeholders to agree with Lives Group. Staff time alone doesn't pay for the build: most of the value is sales acting on clean data.</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1"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par>
                          <p:cTn id="30" fill="hold">
                            <p:stCondLst>
                              <p:cond delay="1200"/>
                            </p:stCondLst>
                            <p:childTnLst>
                              <p:par>
                                <p:cTn id="24" presetID="10" presetClass="entr" presetSubtype="0" fill="hold" grpId="0" nodeType="after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400"/>
                                        <p:tgtEl>
                                          <p:spTgt spid="11"/>
                                        </p:tgtEl>
                                      </p:cBhvr>
                                    </p:animEffect>
                                  </p:childTnLst>
                                </p:cTn>
                              </p:par>
                            </p:childTnLst>
                          </p:cTn>
                        </p:par>
                      </p:childTnLst>
                    </p:cTn>
                  </p:par>
                  <p:par>
                    <p:cTn id="36" fill="hold">
                      <p:stCondLst>
                        <p:cond delay="indefinite"/>
                      </p:stCondLst>
                      <p:childTnLst>
                        <p:par>
                          <p:cTn id="35"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0" grpId="0" animBg="1"/>
      <p:bldP spid="11" grpId="0" animBg="1"/>
      <p:bldP spid="12"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Roadmap, and our ask</a:t>
            </a:r>
            <a:endParaRPr lang="en-US" sz="3000" dirty="0"/>
          </a:p>
        </p:txBody>
      </p:sp>
      <p:sp>
        <p:nvSpPr>
          <p:cNvPr id="3" name="rl_147"/>
          <p:cNvSpPr/>
          <p:nvPr/>
        </p:nvSpPr>
        <p:spPr>
          <a:xfrm>
            <a:off x="896112" y="1737360"/>
            <a:ext cx="0" cy="3840480"/>
          </a:xfrm>
          <a:prstGeom prst="line">
            <a:avLst/>
          </a:prstGeom>
          <a:noFill/>
          <a:ln w="31750">
            <a:solidFill>
              <a:srgbClr val="8ACFC4"/>
            </a:solidFill>
            <a:prstDash val="solid"/>
          </a:ln>
        </p:spPr>
      </p:sp>
      <p:sp>
        <p:nvSpPr>
          <p:cNvPr id="4" name="anim1_0_148"/>
          <p:cNvSpPr/>
          <p:nvPr/>
        </p:nvSpPr>
        <p:spPr>
          <a:xfrm>
            <a:off x="548640" y="1417320"/>
            <a:ext cx="685800" cy="685800"/>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5" name="anim1_0_148"/>
          <p:cNvSpPr txBox="1"/>
          <p:nvPr/>
        </p:nvSpPr>
        <p:spPr>
          <a:xfrm>
            <a:off x="1463040" y="1399032"/>
            <a:ext cx="5486400" cy="1280160"/>
          </a:xfrm>
          <a:prstGeom prst="rect">
            <a:avLst/>
          </a:prstGeom>
          <a:noFill/>
          <a:ln/>
        </p:spPr>
        <p:txBody>
          <a:bodyPr wrap="square" lIns="0" tIns="0" rIns="0" bIns="0" rtlCol="0" anchor="t"/>
          <a:lstStyle/>
          <a:p>
            <a:pPr indent="0" marL="0">
              <a:buNone/>
            </a:pPr>
            <a:r>
              <a:rPr lang="en-US" sz="1700" b="1" dirty="0">
                <a:solidFill>
                  <a:schemeClr val="tx2"/>
                </a:solidFill>
              </a:rPr>
              <a:t>Fix the front door</a:t>
            </a:r>
            <a:pPr indent="0" marL="0">
              <a:buNone/>
            </a:pPr>
            <a:r>
              <a:rPr lang="en-US" sz="1300" b="1" dirty="0">
                <a:solidFill>
                  <a:schemeClr val="accent1"/>
                </a:solidFill>
              </a:rPr>
              <a:t>   Weeks 1–10</a:t>
            </a:r>
            <a:endParaRPr lang="en-US" sz="1400" dirty="0"/>
          </a:p>
          <a:p>
            <a:pPr indent="0" marL="0">
              <a:buNone/>
            </a:pPr>
            <a:r>
              <a:rPr lang="en-US" sz="1400" dirty="0">
                <a:solidFill>
                  <a:schemeClr val="tx1"/>
                </a:solidFill>
              </a:rPr>
              <a:t>Form, parallel approvals, SAP file, clean up the 41 duplicates. Target: ≤5 days to SAP</a:t>
            </a:r>
            <a:endParaRPr lang="en-US" sz="1400" dirty="0"/>
          </a:p>
        </p:txBody>
      </p:sp>
      <p:sp>
        <p:nvSpPr>
          <p:cNvPr id="6" name="anim1_1_149"/>
          <p:cNvSpPr/>
          <p:nvPr/>
        </p:nvSpPr>
        <p:spPr>
          <a:xfrm>
            <a:off x="548640" y="2880360"/>
            <a:ext cx="685800" cy="685800"/>
          </a:xfrm>
          <a:prstGeom prst="ellipse">
            <a:avLst/>
          </a:prstGeom>
          <a:solidFill>
            <a:srgbClr val="8ACFC4"/>
          </a:solid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7" name="anim1_1_149"/>
          <p:cNvSpPr txBox="1"/>
          <p:nvPr/>
        </p:nvSpPr>
        <p:spPr>
          <a:xfrm>
            <a:off x="1463040" y="2862072"/>
            <a:ext cx="5486400" cy="1280160"/>
          </a:xfrm>
          <a:prstGeom prst="rect">
            <a:avLst/>
          </a:prstGeom>
          <a:noFill/>
          <a:ln/>
        </p:spPr>
        <p:txBody>
          <a:bodyPr wrap="square" lIns="0" tIns="0" rIns="0" bIns="0" rtlCol="0" anchor="t"/>
          <a:lstStyle/>
          <a:p>
            <a:pPr indent="0" marL="0">
              <a:buNone/>
            </a:pPr>
            <a:r>
              <a:rPr lang="en-US" sz="1700" b="1" dirty="0">
                <a:solidFill>
                  <a:schemeClr val="tx2"/>
                </a:solidFill>
              </a:rPr>
              <a:t>Use the clean data</a:t>
            </a:r>
            <a:pPr indent="0" marL="0">
              <a:buNone/>
            </a:pPr>
            <a:r>
              <a:rPr lang="en-US" sz="1300" b="1" dirty="0">
                <a:solidFill>
                  <a:schemeClr val="accent1"/>
                </a:solidFill>
              </a:rPr>
              <a:t>   Months 3–6</a:t>
            </a:r>
            <a:endParaRPr lang="en-US" sz="1400" dirty="0"/>
          </a:p>
          <a:p>
            <a:pPr indent="0" marL="0">
              <a:buNone/>
            </a:pPr>
            <a:r>
              <a:rPr lang="en-US" sz="1400" dirty="0">
                <a:solidFill>
                  <a:schemeClr val="tx1"/>
                </a:solidFill>
              </a:rPr>
              <a:t>Regional view in Power BI in Teams, monthly forecast, call lists, email sorting</a:t>
            </a:r>
            <a:endParaRPr lang="en-US" sz="1400" dirty="0"/>
          </a:p>
        </p:txBody>
      </p:sp>
      <p:sp>
        <p:nvSpPr>
          <p:cNvPr id="8" name="anim1_2_150"/>
          <p:cNvSpPr/>
          <p:nvPr/>
        </p:nvSpPr>
        <p:spPr>
          <a:xfrm>
            <a:off x="548640" y="4343400"/>
            <a:ext cx="685800" cy="685800"/>
          </a:xfrm>
          <a:prstGeom prst="ellipse">
            <a:avLst/>
          </a:prstGeom>
          <a:solidFill>
            <a:srgbClr val="0C2F3B"/>
          </a:solid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9" name="anim1_2_150"/>
          <p:cNvSpPr txBox="1"/>
          <p:nvPr/>
        </p:nvSpPr>
        <p:spPr>
          <a:xfrm>
            <a:off x="1463040" y="4325112"/>
            <a:ext cx="5486400" cy="1280160"/>
          </a:xfrm>
          <a:prstGeom prst="rect">
            <a:avLst/>
          </a:prstGeom>
          <a:noFill/>
          <a:ln/>
        </p:spPr>
        <p:txBody>
          <a:bodyPr wrap="square" lIns="0" tIns="0" rIns="0" bIns="0" rtlCol="0" anchor="t"/>
          <a:lstStyle/>
          <a:p>
            <a:pPr indent="0" marL="0">
              <a:buNone/>
            </a:pPr>
            <a:r>
              <a:rPr lang="en-US" sz="1700" b="1" dirty="0">
                <a:solidFill>
                  <a:schemeClr val="tx2"/>
                </a:solidFill>
              </a:rPr>
              <a:t>Connect and scale</a:t>
            </a:r>
            <a:pPr indent="0" marL="0">
              <a:buNone/>
            </a:pPr>
            <a:r>
              <a:rPr lang="en-US" sz="1300" b="1" dirty="0">
                <a:solidFill>
                  <a:schemeClr val="accent1"/>
                </a:solidFill>
              </a:rPr>
              <a:t>   After month 6, only if targets are met</a:t>
            </a:r>
            <a:endParaRPr lang="en-US" sz="1400" dirty="0"/>
          </a:p>
          <a:p>
            <a:pPr indent="0" marL="0">
              <a:buNone/>
            </a:pPr>
            <a:r>
              <a:rPr lang="en-US" sz="1400" dirty="0">
                <a:solidFill>
                  <a:schemeClr val="tx1"/>
                </a:solidFill>
              </a:rPr>
              <a:t>Direct SAP B1 link; items and vendors clean-up</a:t>
            </a:r>
            <a:endParaRPr lang="en-US" sz="1400" dirty="0"/>
          </a:p>
        </p:txBody>
      </p:sp>
      <p:sp>
        <p:nvSpPr>
          <p:cNvPr id="10" name="Shape 8"/>
          <p:cNvSpPr/>
          <p:nvPr/>
        </p:nvSpPr>
        <p:spPr>
          <a:xfrm>
            <a:off x="7223760" y="1188720"/>
            <a:ext cx="4965192" cy="5669280"/>
          </a:xfrm>
          <a:prstGeom prst="rect">
            <a:avLst/>
          </a:prstGeom>
          <a:solidFill>
            <a:srgbClr val="0C2F3B"/>
          </a:solidFill>
          <a:ln/>
        </p:spPr>
      </p:sp>
      <p:sp>
        <p:nvSpPr>
          <p:cNvPr id="11" name="anim2_0_151"/>
          <p:cNvSpPr/>
          <p:nvPr/>
        </p:nvSpPr>
        <p:spPr>
          <a:xfrm>
            <a:off x="7543800" y="1417320"/>
            <a:ext cx="4206240" cy="4206240"/>
          </a:xfrm>
          <a:prstGeom prst="blockArc">
            <a:avLst>
              <a:gd name="adj1" fmla="val 16200000"/>
              <a:gd name="adj2" fmla="val 5400000"/>
              <a:gd name="adj3" fmla="val 3000"/>
            </a:avLst>
          </a:prstGeom>
          <a:solidFill>
            <a:srgbClr val="8ACFC4"/>
          </a:solidFill>
          <a:ln/>
        </p:spPr>
      </p:sp>
      <p:sp>
        <p:nvSpPr>
          <p:cNvPr id="12" name="anim2_0_152"/>
          <p:cNvSpPr/>
          <p:nvPr/>
        </p:nvSpPr>
        <p:spPr>
          <a:xfrm>
            <a:off x="7726680" y="1600200"/>
            <a:ext cx="3840480" cy="3840480"/>
          </a:xfrm>
          <a:prstGeom prst="ellipse">
            <a:avLst/>
          </a:prstGeom>
          <a:solidFill>
            <a:srgbClr val="FFFFFF"/>
          </a:solidFill>
          <a:ln/>
        </p:spPr>
        <p:txBody>
          <a:bodyPr wrap="square" lIns="5715" tIns="5715" rIns="5715" bIns="5715" rtlCol="0" anchor="ctr"/>
          <a:lstStyle/>
          <a:p>
            <a:pPr algn="ctr" indent="0" marL="0">
              <a:buNone/>
            </a:pPr>
            <a:r>
              <a:rPr lang="en-US" sz="1500" b="1" dirty="0">
                <a:solidFill>
                  <a:srgbClr val="8ACFC4"/>
                </a:solidFill>
              </a:rPr>
              <a:t>Our ask</a:t>
            </a:r>
            <a:endParaRPr lang="en-US" sz="1500" dirty="0"/>
          </a:p>
          <a:p>
            <a:pPr algn="ctr" indent="0" marL="0">
              <a:buNone/>
            </a:pPr>
            <a:r>
              <a:rPr lang="en-US" sz="2200" b="1" dirty="0">
                <a:solidFill>
                  <a:schemeClr val="tx2"/>
                </a:solidFill>
              </a:rPr>
              <a:t>A 4-week pilot with SPD</a:t>
            </a:r>
            <a:endParaRPr lang="en-US" sz="1500" dirty="0"/>
          </a:p>
          <a:p>
            <a:pPr algn="ctr" indent="0" marL="0">
              <a:buNone/>
            </a:pPr>
            <a:r>
              <a:rPr lang="en-US" sz="1300" dirty="0">
                <a:solidFill>
                  <a:schemeClr val="tx1"/>
                </a:solidFill>
              </a:rPr>
              <a:t>owned by Priya's MDM team</a:t>
            </a:r>
            <a:endParaRPr lang="en-US" sz="1500" dirty="0"/>
          </a:p>
          <a:p>
            <a:pPr algn="ctr" indent="0" marL="0">
              <a:buNone/>
            </a:pPr>
            <a:r>
              <a:rPr lang="en-US" sz="800" dirty="0">
                <a:solidFill>
                  <a:srgbClr val="000000"/>
                </a:solidFill>
              </a:rPr>
              <a:t> </a:t>
            </a:r>
            <a:endParaRPr lang="en-US" sz="1500" dirty="0"/>
          </a:p>
          <a:p>
            <a:pPr algn="ctr" indent="0" marL="0">
              <a:buNone/>
            </a:pPr>
            <a:r>
              <a:rPr lang="en-US" sz="1300" b="1" dirty="0">
                <a:solidFill>
                  <a:schemeClr val="accent1"/>
                </a:solidFill>
              </a:rPr>
              <a:t>Success = ≤5 days to SAP and ≥90% of setup requests through the form</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24" fill="hold">
                      <p:stCondLst>
                        <p:cond delay="indefinite"/>
                      </p:stCondLst>
                      <p:childTnLst>
                        <p:par>
                          <p:cTn id="9" fill="hold">
                            <p:stCondLst>
                              <p:cond delay="0"/>
                            </p:stCondLst>
                            <p:childTnLst>
                              <p:par>
                                <p:cTn id="3" presetID="10" presetClass="entr" presetSubtype="0" fill="hold" grpId="0" nodeType="clickEffect">
                                  <p:stCondLst>
                                    <p:cond delay="0"/>
                                  </p:stCondLst>
                                  <p:childTnLst>
                                    <p:set>
                                      <p:cBhvr>
                                        <p:cTn id="4" dur="1" fill="hold">
                                          <p:stCondLst>
                                            <p:cond delay="0"/>
                                          </p:stCondLst>
                                        </p:cTn>
                                        <p:tgtEl>
                                          <p:spTgt spid="4"/>
                                        </p:tgtEl>
                                        <p:attrNameLst>
                                          <p:attrName>style.visibility</p:attrName>
                                        </p:attrNameLst>
                                      </p:cBhvr>
                                      <p:to>
                                        <p:strVal val="visible"/>
                                      </p:to>
                                    </p:set>
                                    <p:animEffect transition="in" filter="fade">
                                      <p:cBhvr>
                                        <p:cTn id="5" dur="400"/>
                                        <p:tgtEl>
                                          <p:spTgt spid="4"/>
                                        </p:tgtEl>
                                      </p:cBhvr>
                                    </p:animEffect>
                                  </p:childTnLst>
                                </p:cTn>
                              </p:par>
                              <p:par>
                                <p:cTn id="6" presetID="10" presetClass="entr" presetSubtype="0" fill="hold" grpId="0" nodeType="withEffect">
                                  <p:stCondLst>
                                    <p:cond delay="0"/>
                                  </p:stCondLst>
                                  <p:childTnLst>
                                    <p:set>
                                      <p:cBhvr>
                                        <p:cTn id="7" dur="1" fill="hold">
                                          <p:stCondLst>
                                            <p:cond delay="0"/>
                                          </p:stCondLst>
                                        </p:cTn>
                                        <p:tgtEl>
                                          <p:spTgt spid="5"/>
                                        </p:tgtEl>
                                        <p:attrNameLst>
                                          <p:attrName>style.visibility</p:attrName>
                                        </p:attrNameLst>
                                      </p:cBhvr>
                                      <p:to>
                                        <p:strVal val="visible"/>
                                      </p:to>
                                    </p:set>
                                    <p:animEffect transition="in" filter="fade">
                                      <p:cBhvr>
                                        <p:cTn id="8" dur="400"/>
                                        <p:tgtEl>
                                          <p:spTgt spid="5"/>
                                        </p:tgtEl>
                                      </p:cBhvr>
                                    </p:animEffect>
                                  </p:childTnLst>
                                </p:cTn>
                              </p:par>
                            </p:childTnLst>
                          </p:cTn>
                        </p:par>
                        <p:par>
                          <p:cTn id="16" fill="hold">
                            <p:stCondLst>
                              <p:cond delay="400"/>
                            </p:stCondLst>
                            <p:childTnLst>
                              <p:par>
                                <p:cTn id="10" presetID="10" presetClass="entr" presetSubtype="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childTnLst>
                          </p:cTn>
                        </p:par>
                        <p:par>
                          <p:cTn id="23" fill="hold">
                            <p:stCondLst>
                              <p:cond delay="800"/>
                            </p:stCondLst>
                            <p:childTnLst>
                              <p:par>
                                <p:cTn id="17" presetID="10" presetClass="entr" presetSubtype="0" fill="hold" grpId="0" nodeType="after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400"/>
                                        <p:tgtEl>
                                          <p:spTgt spid="8"/>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400"/>
                                        <p:tgtEl>
                                          <p:spTgt spid="9"/>
                                        </p:tgtEl>
                                      </p:cBhvr>
                                    </p:animEffect>
                                  </p:childTnLst>
                                </p:cTn>
                              </p:par>
                            </p:childTnLst>
                          </p:cTn>
                        </p:par>
                      </p:childTnLst>
                    </p:cTn>
                  </p:par>
                  <p:par>
                    <p:cTn id="32" fill="hold">
                      <p:stCondLst>
                        <p:cond delay="indefinite"/>
                      </p:stCondLst>
                      <p:childTnLst>
                        <p:par>
                          <p:cTn id="31"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P spid="11" grpId="0" animBg="1"/>
      <p:bldP spid="12"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9966960" y="-1097280"/>
            <a:ext cx="3108960" cy="3108960"/>
          </a:xfrm>
          <a:prstGeom prst="ellipse">
            <a:avLst/>
          </a:prstGeom>
          <a:solidFill>
            <a:srgbClr val="0F766E"/>
          </a:solidFill>
          <a:ln/>
        </p:spPr>
      </p:sp>
      <p:sp>
        <p:nvSpPr>
          <p:cNvPr id="3" name="Shape 1"/>
          <p:cNvSpPr/>
          <p:nvPr/>
        </p:nvSpPr>
        <p:spPr>
          <a:xfrm>
            <a:off x="-1097280" y="5897880"/>
            <a:ext cx="2194560" cy="2194560"/>
          </a:xfrm>
          <a:prstGeom prst="blockArc">
            <a:avLst>
              <a:gd name="adj1" fmla="val 16200000"/>
              <a:gd name="adj2" fmla="val 5400000"/>
              <a:gd name="adj3" fmla="val 12500"/>
            </a:avLst>
          </a:prstGeom>
          <a:solidFill>
            <a:srgbClr val="8ACFC4"/>
          </a:solidFill>
          <a:ln/>
        </p:spPr>
      </p:sp>
      <p:sp>
        <p:nvSpPr>
          <p:cNvPr id="4" name="Text 2"/>
          <p:cNvSpPr txBox="1"/>
          <p:nvPr/>
        </p:nvSpPr>
        <p:spPr>
          <a:xfrm>
            <a:off x="822960" y="1463040"/>
            <a:ext cx="8229600" cy="1828800"/>
          </a:xfrm>
          <a:prstGeom prst="rect">
            <a:avLst/>
          </a:prstGeom>
          <a:noFill/>
          <a:ln/>
        </p:spPr>
        <p:txBody>
          <a:bodyPr wrap="square" lIns="0" tIns="0" rIns="0" bIns="0" rtlCol="0" anchor="t"/>
          <a:lstStyle/>
          <a:p>
            <a:pPr indent="0" marL="0">
              <a:buNone/>
            </a:pPr>
            <a:r>
              <a:rPr lang="en-US" sz="4400" b="1" dirty="0">
                <a:solidFill>
                  <a:srgbClr val="FFFFFF"/>
                </a:solidFill>
              </a:rPr>
              <a:t>Clean records in.</a:t>
            </a:r>
            <a:endParaRPr lang="en-US" sz="4400" dirty="0"/>
          </a:p>
          <a:p>
            <a:pPr indent="0" marL="0">
              <a:buNone/>
            </a:pPr>
            <a:r>
              <a:rPr lang="en-US" sz="4400" b="1" dirty="0">
                <a:solidFill>
                  <a:srgbClr val="FFFFFF"/>
                </a:solidFill>
              </a:rPr>
              <a:t>Better decisions out.</a:t>
            </a:r>
            <a:endParaRPr lang="en-US" sz="4400" dirty="0"/>
          </a:p>
        </p:txBody>
      </p:sp>
      <p:sp>
        <p:nvSpPr>
          <p:cNvPr id="5" name="Text 3"/>
          <p:cNvSpPr txBox="1"/>
          <p:nvPr/>
        </p:nvSpPr>
        <p:spPr>
          <a:xfrm>
            <a:off x="822960" y="3520440"/>
            <a:ext cx="8229600" cy="548640"/>
          </a:xfrm>
          <a:prstGeom prst="rect">
            <a:avLst/>
          </a:prstGeom>
          <a:noFill/>
          <a:ln/>
        </p:spPr>
        <p:txBody>
          <a:bodyPr wrap="square" lIns="0" tIns="0" rIns="0" bIns="0" rtlCol="0" anchor="t"/>
          <a:lstStyle/>
          <a:p>
            <a:pPr indent="0" marL="0">
              <a:buNone/>
            </a:pPr>
            <a:r>
              <a:rPr lang="en-US" sz="2200" dirty="0">
                <a:solidFill>
                  <a:srgbClr val="8ACFC4"/>
                </a:solidFill>
              </a:rPr>
              <a:t>Questions? Ask us to show any page live.</a:t>
            </a:r>
            <a:endParaRPr lang="en-US" sz="2200" dirty="0"/>
          </a:p>
        </p:txBody>
      </p:sp>
      <p:sp>
        <p:nvSpPr>
          <p:cNvPr id="6" name="Text 4"/>
          <p:cNvSpPr txBox="1"/>
          <p:nvPr/>
        </p:nvSpPr>
        <p:spPr>
          <a:xfrm>
            <a:off x="822960" y="4480560"/>
            <a:ext cx="8229600" cy="822960"/>
          </a:xfrm>
          <a:prstGeom prst="rect">
            <a:avLst/>
          </a:prstGeom>
          <a:noFill/>
          <a:ln/>
        </p:spPr>
        <p:txBody>
          <a:bodyPr wrap="square" lIns="0" tIns="0" rIns="0" bIns="0" rtlCol="0" anchor="t"/>
          <a:lstStyle/>
          <a:p>
            <a:pPr indent="0" marL="0">
              <a:buNone/>
            </a:pPr>
            <a:r>
              <a:rPr lang="en-US" sz="1500" b="1" dirty="0">
                <a:solidFill>
                  <a:srgbClr val="8ACFC4"/>
                </a:solidFill>
              </a:rPr>
              <a:t>App  </a:t>
            </a:r>
            <a:pPr indent="0" marL="0">
              <a:buNone/>
            </a:pPr>
            <a:r>
              <a:rPr lang="en-US" sz="1500" dirty="0">
                <a:solidFill>
                  <a:srgbClr val="FFFFFF"/>
                </a:solidFill>
              </a:rPr>
              <a:t>onerecord-livesgroup.streamlit.app</a:t>
            </a:r>
            <a:endParaRPr lang="en-US" sz="1500" dirty="0"/>
          </a:p>
          <a:p>
            <a:pPr indent="0" marL="0">
              <a:buNone/>
            </a:pPr>
            <a:r>
              <a:rPr lang="en-US" sz="1500" b="1" dirty="0">
                <a:solidFill>
                  <a:srgbClr val="8ACFC4"/>
                </a:solidFill>
              </a:rPr>
              <a:t>Code  </a:t>
            </a:r>
            <a:pPr indent="0" marL="0">
              <a:buNone/>
            </a:pPr>
            <a:r>
              <a:rPr lang="en-US" sz="1500" dirty="0">
                <a:solidFill>
                  <a:srgbClr val="FFFFFF"/>
                </a:solidFill>
              </a:rPr>
              <a:t>github.com/zacchaeus-tan/SMUDataCaseCompeittion</a:t>
            </a:r>
            <a:endParaRPr lang="en-US" sz="1500" dirty="0"/>
          </a:p>
        </p:txBody>
      </p:sp>
      <p:sp>
        <p:nvSpPr>
          <p:cNvPr id="7" name="Text 5"/>
          <p:cNvSpPr txBox="1"/>
          <p:nvPr/>
        </p:nvSpPr>
        <p:spPr>
          <a:xfrm>
            <a:off x="822960" y="5440680"/>
            <a:ext cx="8229600" cy="365760"/>
          </a:xfrm>
          <a:prstGeom prst="rect">
            <a:avLst/>
          </a:prstGeom>
          <a:noFill/>
          <a:ln/>
        </p:spPr>
        <p:txBody>
          <a:bodyPr wrap="square" lIns="0" tIns="0" rIns="0" bIns="0" rtlCol="0" anchor="t"/>
          <a:lstStyle/>
          <a:p>
            <a:pPr indent="0" marL="0">
              <a:buNone/>
            </a:pPr>
            <a:r>
              <a:rPr lang="en-US" sz="1300" dirty="0">
                <a:solidFill>
                  <a:srgbClr val="CBD5E1"/>
                </a:solidFill>
              </a:rPr>
              <a:t>Megan · Zacchaeus · Darryl · Chloe</a:t>
            </a:r>
            <a:endParaRPr lang="en-US" sz="1300" dirty="0"/>
          </a:p>
        </p:txBody>
      </p:sp>
    </p:spTree>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A · Duplicate check in detail</a:t>
            </a:r>
            <a:endParaRPr lang="en-US" sz="3000" dirty="0"/>
          </a:p>
        </p:txBody>
      </p:sp>
      <p:sp>
        <p:nvSpPr>
          <p:cNvPr id="3" name="Text 1"/>
          <p:cNvSpPr txBox="1"/>
          <p:nvPr/>
        </p:nvSpPr>
        <p:spPr>
          <a:xfrm>
            <a:off x="548640" y="1325880"/>
            <a:ext cx="5486400" cy="43891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Bulk matcher (records already in SAP)</a:t>
            </a:r>
            <a:endParaRPr lang="en-US" sz="1400" dirty="0"/>
          </a:p>
          <a:p>
            <a:pPr marL="342900" indent="-342900">
              <a:spcAft>
                <a:spcPts val="600"/>
              </a:spcAft>
              <a:buSzPct val="100000"/>
              <a:buChar char="•"/>
            </a:pPr>
            <a:r>
              <a:rPr lang="en-US" sz="1400" dirty="0">
                <a:solidFill>
                  <a:schemeClr val="tx1"/>
                </a:solidFill>
              </a:rPr>
              <a:t>Compare only within the same country</a:t>
            </a:r>
            <a:endParaRPr lang="en-US" sz="1400" dirty="0"/>
          </a:p>
          <a:p>
            <a:pPr marL="342900" indent="-342900">
              <a:spcAft>
                <a:spcPts val="600"/>
              </a:spcAft>
              <a:buSzPct val="100000"/>
              <a:buChar char="•"/>
            </a:pPr>
            <a:r>
              <a:rPr lang="en-US" sz="1400" dirty="0">
                <a:solidFill>
                  <a:schemeClr val="tx1"/>
                </a:solidFill>
              </a:rPr>
              <a:t>Same registration no. = match; different = never a match</a:t>
            </a:r>
            <a:endParaRPr lang="en-US" sz="1400" dirty="0"/>
          </a:p>
          <a:p>
            <a:pPr marL="342900" indent="-342900">
              <a:spcAft>
                <a:spcPts val="600"/>
              </a:spcAft>
              <a:buSzPct val="100000"/>
              <a:buChar char="•"/>
            </a:pPr>
            <a:r>
              <a:rPr lang="en-US" sz="1400" dirty="0">
                <a:solidFill>
                  <a:schemeClr val="tx1"/>
                </a:solidFill>
              </a:rPr>
              <a:t>Name similarity on cleaned names (typo- and word-order-safe), backed by city and address</a:t>
            </a:r>
            <a:endParaRPr lang="en-US" sz="1400" dirty="0"/>
          </a:p>
          <a:p>
            <a:pPr marL="342900" indent="-342900">
              <a:spcAft>
                <a:spcPts val="600"/>
              </a:spcAft>
              <a:buSzPct val="100000"/>
              <a:buChar char="•"/>
            </a:pPr>
            <a:r>
              <a:rPr lang="en-US" sz="1400" dirty="0">
                <a:solidFill>
                  <a:schemeClr val="tx1"/>
                </a:solidFill>
              </a:rPr>
              <a:t>Acronym check: 'NUH' = National University Hospital</a:t>
            </a:r>
            <a:endParaRPr lang="en-US" sz="1400" dirty="0"/>
          </a:p>
          <a:p>
            <a:pPr marL="342900" indent="-342900">
              <a:spcAft>
                <a:spcPts val="600"/>
              </a:spcAft>
              <a:buSzPct val="100000"/>
              <a:buChar char="•"/>
            </a:pPr>
            <a:r>
              <a:rPr lang="en-US" sz="1400" dirty="0">
                <a:solidFill>
                  <a:schemeClr val="tx1"/>
                </a:solidFill>
              </a:rPr>
              <a:t>≥90% same city: match · 80–90%: review queue for Priya</a:t>
            </a:r>
            <a:endParaRPr lang="en-US" sz="1400" dirty="0"/>
          </a:p>
          <a:p>
            <a:pPr marL="342900" indent="-342900">
              <a:spcAft>
                <a:spcPts val="600"/>
              </a:spcAft>
              <a:buSzPct val="100000"/>
              <a:buChar char="•"/>
            </a:pPr>
            <a:r>
              <a:rPr lang="en-US" sz="1400" dirty="0">
                <a:solidFill>
                  <a:schemeClr val="tx1"/>
                </a:solidFill>
              </a:rPr>
              <a:t>No auto-merge: the matcher proposes, a person confirms</a:t>
            </a:r>
            <a:endParaRPr lang="en-US" sz="1400" dirty="0"/>
          </a:p>
        </p:txBody>
      </p:sp>
      <p:sp>
        <p:nvSpPr>
          <p:cNvPr id="4" name="Text 2"/>
          <p:cNvSpPr txBox="1"/>
          <p:nvPr/>
        </p:nvSpPr>
        <p:spPr>
          <a:xfrm>
            <a:off x="6309360" y="1325880"/>
            <a:ext cx="5349240" cy="4389120"/>
          </a:xfrm>
          <a:prstGeom prst="rect">
            <a:avLst/>
          </a:prstGeom>
          <a:noFill/>
          <a:ln/>
        </p:spPr>
        <p:txBody>
          <a:bodyPr wrap="square" lIns="0" tIns="0" rIns="0" bIns="0" rtlCol="0" anchor="t"/>
          <a:lstStyle/>
          <a:p>
            <a:pPr indent="0" marL="0">
              <a:spcAft>
                <a:spcPts val="600"/>
              </a:spcAft>
              <a:buNone/>
            </a:pPr>
            <a:r>
              <a:rPr lang="en-US" sz="1600" b="1" dirty="0">
                <a:solidFill>
                  <a:schemeClr val="tx2"/>
                </a:solidFill>
              </a:rPr>
              <a:t>Form check (new setup requests)</a:t>
            </a:r>
            <a:endParaRPr lang="en-US" sz="1400" dirty="0"/>
          </a:p>
          <a:p>
            <a:pPr marL="342900" indent="-342900">
              <a:spcAft>
                <a:spcPts val="600"/>
              </a:spcAft>
              <a:buSzPct val="100000"/>
              <a:buChar char="•"/>
            </a:pPr>
            <a:r>
              <a:rPr lang="en-US" sz="1400" dirty="0">
                <a:solidFill>
                  <a:schemeClr val="tx1"/>
                </a:solidFill>
              </a:rPr>
              <a:t>Same registration no., part no. or tax ID: blocked, names the code to use</a:t>
            </a:r>
            <a:endParaRPr lang="en-US" sz="1400" dirty="0"/>
          </a:p>
          <a:p>
            <a:pPr marL="342900" indent="-342900">
              <a:spcAft>
                <a:spcPts val="600"/>
              </a:spcAft>
              <a:buSzPct val="100000"/>
              <a:buChar char="•"/>
            </a:pPr>
            <a:r>
              <a:rPr lang="en-US" sz="1400" dirty="0">
                <a:solidFill>
                  <a:schemeClr val="tx1"/>
                </a:solidFill>
              </a:rPr>
              <a:t>Similar name: 'Possible match'; going ahead needs a reason every approver sees</a:t>
            </a:r>
            <a:endParaRPr lang="en-US" sz="1400" dirty="0"/>
          </a:p>
          <a:p>
            <a:pPr marL="342900" indent="-342900">
              <a:spcAft>
                <a:spcPts val="600"/>
              </a:spcAft>
              <a:buSzPct val="100000"/>
              <a:buChar char="•"/>
            </a:pPr>
            <a:r>
              <a:rPr lang="en-US" sz="1400" dirty="0">
                <a:solidFill>
                  <a:schemeClr val="tx1"/>
                </a:solidFill>
              </a:rPr>
              <a:t>Checks SAP records and requests still waiting</a:t>
            </a:r>
            <a:endParaRPr lang="en-US" sz="1400" dirty="0"/>
          </a:p>
          <a:p>
            <a:pPr indent="0" marL="0">
              <a:spcAft>
                <a:spcPts val="600"/>
              </a:spcAft>
              <a:buNone/>
            </a:pPr>
            <a:r>
              <a:rPr lang="en-US" sz="1400" dirty="0">
                <a:solidFill>
                  <a:schemeClr val="tx1"/>
                </a:solidFill>
              </a:rPr>
              <a:t> </a:t>
            </a:r>
            <a:endParaRPr lang="en-US" sz="1400" dirty="0"/>
          </a:p>
          <a:p>
            <a:pPr indent="0" marL="0">
              <a:spcAft>
                <a:spcPts val="600"/>
              </a:spcAft>
              <a:buNone/>
            </a:pPr>
            <a:r>
              <a:rPr lang="en-US" sz="1600" b="1" dirty="0">
                <a:solidFill>
                  <a:schemeClr val="tx2"/>
                </a:solidFill>
              </a:rPr>
              <a:t>Results (synthetic data)</a:t>
            </a:r>
            <a:endParaRPr lang="en-US" sz="1400" dirty="0"/>
          </a:p>
          <a:p>
            <a:pPr marL="342900" indent="-342900">
              <a:spcAft>
                <a:spcPts val="600"/>
              </a:spcAft>
              <a:buSzPct val="100000"/>
              <a:buChar char="•"/>
            </a:pPr>
            <a:r>
              <a:rPr lang="en-US" sz="1400" dirty="0">
                <a:solidFill>
                  <a:schemeClr val="tx1"/>
                </a:solidFill>
              </a:rPr>
              <a:t>41 duplicates among 246 records (17%), 0 false matches</a:t>
            </a:r>
            <a:endParaRPr lang="en-US" sz="1400" dirty="0"/>
          </a:p>
          <a:p>
            <a:pPr marL="342900" indent="-342900">
              <a:spcAft>
                <a:spcPts val="600"/>
              </a:spcAft>
              <a:buSzPct val="100000"/>
              <a:buChar char="•"/>
            </a:pPr>
            <a:r>
              <a:rPr lang="en-US" sz="1400" dirty="0">
                <a:solidFill>
                  <a:schemeClr val="tx1"/>
                </a:solidFill>
              </a:rPr>
              <a:t>Form flags all 41 planted duplicates; 3% of new customers warned</a:t>
            </a:r>
            <a:endParaRPr lang="en-US" sz="1400" dirty="0"/>
          </a:p>
          <a:p>
            <a:pPr marL="342900" indent="-342900">
              <a:spcAft>
                <a:spcPts val="600"/>
              </a:spcAft>
              <a:buSzPct val="100000"/>
              <a:buChar char="•"/>
            </a:pPr>
            <a:r>
              <a:rPr lang="en-US" sz="1400" dirty="0">
                <a:solidFill>
                  <a:schemeClr val="tx1"/>
                </a:solidFill>
              </a:rPr>
              <a:t>Thresholds tuned on synthetic data: re-check in the pilot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B · Forecast method and test</a:t>
            </a:r>
            <a:endParaRPr lang="en-US" sz="3000" dirty="0"/>
          </a:p>
        </p:txBody>
      </p:sp>
      <p:sp>
        <p:nvSpPr>
          <p:cNvPr id="3" name="Text 1"/>
          <p:cNvSpPr txBox="1"/>
          <p:nvPr/>
        </p:nvSpPr>
        <p:spPr>
          <a:xfrm>
            <a:off x="548640" y="1325880"/>
            <a:ext cx="6035040" cy="4754880"/>
          </a:xfrm>
          <a:prstGeom prst="rect">
            <a:avLst/>
          </a:prstGeom>
          <a:noFill/>
          <a:ln/>
        </p:spPr>
        <p:txBody>
          <a:bodyPr wrap="square" lIns="0" tIns="0" rIns="0" bIns="0" rtlCol="0" anchor="t"/>
          <a:lstStyle/>
          <a:p>
            <a:pPr indent="0" marL="0">
              <a:spcAft>
                <a:spcPts val="600"/>
              </a:spcAft>
              <a:buNone/>
            </a:pPr>
            <a:r>
              <a:rPr lang="en-US" sz="1400" b="1" dirty="0">
                <a:solidFill>
                  <a:schemeClr val="tx2"/>
                </a:solidFill>
              </a:rPr>
              <a:t>Today: </a:t>
            </a:r>
            <a:pPr indent="0" marL="0">
              <a:spcAft>
                <a:spcPts val="600"/>
              </a:spcAft>
              <a:buNone/>
            </a:pPr>
            <a:r>
              <a:rPr lang="en-US" sz="1400" dirty="0">
                <a:solidFill>
                  <a:schemeClr val="tx1"/>
                </a:solidFill>
              </a:rPr>
              <a:t>6-month moving average of past purchase-order units</a:t>
            </a:r>
            <a:endParaRPr lang="en-US" sz="1400" dirty="0"/>
          </a:p>
          <a:p>
            <a:pPr indent="0" marL="0">
              <a:spcAft>
                <a:spcPts val="600"/>
              </a:spcAft>
              <a:buNone/>
            </a:pPr>
            <a:r>
              <a:rPr lang="en-US" sz="1400" b="1" dirty="0">
                <a:solidFill>
                  <a:schemeClr val="tx2"/>
                </a:solidFill>
              </a:rPr>
              <a:t>Ours: </a:t>
            </a:r>
            <a:pPr indent="0" marL="0">
              <a:spcAft>
                <a:spcPts val="600"/>
              </a:spcAft>
              <a:buNone/>
            </a:pPr>
            <a:r>
              <a:rPr lang="en-US" sz="1400" dirty="0">
                <a:solidFill>
                  <a:schemeClr val="tx1"/>
                </a:solidFill>
              </a:rPr>
              <a:t>a 'business-calendar' model for each of 15 country × product series: a level, a gently shrunk trend, plus known events</a:t>
            </a:r>
            <a:endParaRPr lang="en-US" sz="1400" dirty="0"/>
          </a:p>
          <a:p>
            <a:pPr marL="342900" indent="-342900">
              <a:spcAft>
                <a:spcPts val="600"/>
              </a:spcAft>
              <a:buSzPct val="100000"/>
              <a:buChar char="•"/>
            </a:pPr>
            <a:r>
              <a:rPr lang="en-US" sz="1400" dirty="0">
                <a:solidFill>
                  <a:schemeClr val="tx1"/>
                </a:solidFill>
              </a:rPr>
              <a:t>Events: dengue season (Product A, by country), the Nov/Dec hospital budget push, the January lull, public-holiday months (Lunar New Year, Tet, Songkran, Hari Raya)</a:t>
            </a:r>
            <a:endParaRPr lang="en-US" sz="1400" dirty="0"/>
          </a:p>
          <a:p>
            <a:pPr marL="342900" indent="-342900">
              <a:spcAft>
                <a:spcPts val="600"/>
              </a:spcAft>
              <a:buSzPct val="100000"/>
              <a:buChar char="•"/>
            </a:pPr>
            <a:r>
              <a:rPr lang="en-US" sz="1400" dirty="0">
                <a:solidFill>
                  <a:schemeClr val="tx1"/>
                </a:solidFill>
              </a:rPr>
              <a:t>Few parameters, so it learns from 12–18 months of history, where a full seasonal model can't</a:t>
            </a:r>
            <a:endParaRPr lang="en-US" sz="1400" dirty="0"/>
          </a:p>
          <a:p>
            <a:pPr marL="342900" indent="-342900">
              <a:spcAft>
                <a:spcPts val="600"/>
              </a:spcAft>
              <a:buSzPct val="100000"/>
              <a:buChar char="•"/>
            </a:pPr>
            <a:r>
              <a:rPr lang="en-US" sz="1400" dirty="0">
                <a:solidFill>
                  <a:schemeClr val="tx1"/>
                </a:solidFill>
              </a:rPr>
              <a:t>Test: rolling backtest, forecasting 1–3 months ahead from each month Apr–Sep 2026</a:t>
            </a:r>
            <a:endParaRPr lang="en-US" sz="1400" dirty="0"/>
          </a:p>
          <a:p>
            <a:pPr marL="342900" indent="-342900">
              <a:spcAft>
                <a:spcPts val="600"/>
              </a:spcAft>
              <a:buSzPct val="100000"/>
              <a:buChar char="•"/>
            </a:pPr>
            <a:r>
              <a:rPr lang="en-US" sz="1400" dirty="0">
                <a:solidFill>
                  <a:schemeClr val="tx1"/>
                </a:solidFill>
              </a:rPr>
              <a:t>Measure: WAPE = total absolute miss ÷ total actual units (lower is better)</a:t>
            </a:r>
            <a:endParaRPr lang="en-US" sz="1400" dirty="0"/>
          </a:p>
          <a:p>
            <a:pPr marL="342900" indent="-342900">
              <a:spcAft>
                <a:spcPts val="600"/>
              </a:spcAft>
              <a:buSzPct val="100000"/>
              <a:buChar char="•"/>
            </a:pPr>
            <a:r>
              <a:rPr lang="en-US" sz="1400" b="1" dirty="0">
                <a:solidFill>
                  <a:schemeClr val="tx1"/>
                </a:solidFill>
              </a:rPr>
              <a:t>Result: 11.1% vs 13.7% (Products A and B)</a:t>
            </a:r>
            <a:endParaRPr lang="en-US" sz="1400" dirty="0"/>
          </a:p>
        </p:txBody>
      </p:sp>
      <p:pic>
        <p:nvPicPr>
          <p:cNvPr id="4" name="fc_153" descr="Forecasting page">    </p:cNvPr>
          <p:cNvPicPr>
            <a:picLocks noChangeAspect="1"/>
          </p:cNvPicPr>
          <p:nvPr/>
        </p:nvPicPr>
        <p:blipFill>
          <a:blip r:embed="rId1"/>
          <a:stretch>
            <a:fillRect/>
          </a:stretch>
        </p:blipFill>
        <p:spPr>
          <a:xfrm>
            <a:off x="6903720" y="1325880"/>
            <a:ext cx="4736592" cy="473659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25</a:t>
            </a:fld>
            <a:endParaRPr lang="en-US"/>
          </a:p>
        </p:txBody>
      </p:sp>
    </p:spTree>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C · Business case breakdown (year 1, SGD)</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3931920"/>
                <a:gridCol w="1463040"/>
              </a:tblGrid>
              <a:tr h="457200">
                <a:tc>
                  <a:txBody>
                    <a:bodyPr/>
                    <a:lstStyle/>
                    <a:p>
                      <a:pPr indent="0" marL="0">
                        <a:buNone/>
                      </a:pPr>
                      <a:r>
                        <a:rPr lang="en-US" sz="1300" b="1" dirty="0">
                          <a:solidFill>
                            <a:srgbClr val="FFFFFF"/>
                          </a:solidFill>
                        </a:rPr>
                        <a:t>Benefit</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solidFill>
                      <a:srgbClr val="0C2F3B"/>
                    </a:solidFill>
                  </a:tcPr>
                </a:tc>
                <a:tc>
                  <a:txBody>
                    <a:bodyPr/>
                    <a:lstStyle/>
                    <a:p>
                      <a:pPr indent="0" marL="0">
                        <a:buNone/>
                      </a:pPr>
                      <a:r>
                        <a:rPr lang="en-US" sz="1300" b="1" dirty="0">
                          <a:solidFill>
                            <a:srgbClr val="FFFFFF"/>
                          </a:solidFill>
                        </a:rPr>
                        <a:t>SGD / year</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solidFill>
                      <a:srgbClr val="0C2F3B"/>
                    </a:solidFill>
                  </a:tcPr>
                </a:tc>
              </a:tr>
              <a:tr h="457200">
                <a:tc>
                  <a:txBody>
                    <a:bodyPr/>
                    <a:lstStyle/>
                    <a:p>
                      <a:pPr indent="0" marL="0">
                        <a:buNone/>
                      </a:pPr>
                      <a:r>
                        <a:rPr lang="en-US" sz="1300" dirty="0">
                          <a:solidFill>
                            <a:schemeClr val="tx1"/>
                          </a:solidFill>
                        </a:rPr>
                        <a:t>Staff time (requests × hours × rate)</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7,500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Gross profit pulled forward (accounts live sooner)</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11,620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Gross profit kept (drop-offs recovered)</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103,434</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Gross profit from cross-sell</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82,896</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b="1" dirty="0">
                          <a:solidFill>
                            <a:schemeClr val="tx1"/>
                          </a:solidFill>
                        </a:rPr>
                        <a:t>Total</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b="1" dirty="0">
                          <a:solidFill>
                            <a:schemeClr val="tx1"/>
                          </a:solidFill>
                        </a:rPr>
                        <a:t>≈205,450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bl>
          </a:graphicData>
        </a:graphic>
      </p:graphicFrame>
      <p:graphicFrame>
        <p:nvGraphicFramePr>
          <p:cNvPr id="53" name="Table 1"/>
          <p:cNvGraphicFramePr>
            <a:graphicFrameLocks noGrp="1"/>
          </p:cNvGraphicFramePr>
          <p:nvPr>
            <p:extLst>
              <p:ext uri="{D42A27DB-BD31-4B8C-83A1-F6EECF244321}">
                <p14:modId xmlns:p14="http://schemas.microsoft.com/office/powerpoint/2010/main" val="1579011935"/>
              </p:ext>
            </p:extLst>
          </p:nvPr>
        </p:nvGraphicFramePr>
        <p:xfrm>
          <a:off x="6245352" y="1371600"/>
          <a:ext cx="5394960" cy="914400"/>
        </p:xfrm>
        <a:graphic>
          <a:graphicData uri="http://schemas.openxmlformats.org/drawingml/2006/table">
            <a:tbl>
              <a:tblPr/>
              <a:tblGrid>
                <a:gridCol w="3931920"/>
                <a:gridCol w="1463040"/>
              </a:tblGrid>
              <a:tr h="457200">
                <a:tc>
                  <a:txBody>
                    <a:bodyPr/>
                    <a:lstStyle/>
                    <a:p>
                      <a:pPr indent="0" marL="0">
                        <a:buNone/>
                      </a:pPr>
                      <a:r>
                        <a:rPr lang="en-US" sz="1300" b="1" dirty="0">
                          <a:solidFill>
                            <a:srgbClr val="FFFFFF"/>
                          </a:solidFill>
                        </a:rPr>
                        <a:t>Cost</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solidFill>
                      <a:srgbClr val="0C2F3B"/>
                    </a:solidFill>
                  </a:tcPr>
                </a:tc>
                <a:tc>
                  <a:txBody>
                    <a:bodyPr/>
                    <a:lstStyle/>
                    <a:p>
                      <a:pPr indent="0" marL="0">
                        <a:buNone/>
                      </a:pPr>
                      <a:r>
                        <a:rPr lang="en-US" sz="1300" b="1" dirty="0">
                          <a:solidFill>
                            <a:srgbClr val="FFFFFF"/>
                          </a:solidFill>
                        </a:rPr>
                        <a:t>SGD, year 1</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solidFill>
                      <a:srgbClr val="0C2F3B"/>
                    </a:solidFill>
                  </a:tcPr>
                </a:tc>
              </a:tr>
              <a:tr h="457200">
                <a:tc>
                  <a:txBody>
                    <a:bodyPr/>
                    <a:lstStyle/>
                    <a:p>
                      <a:pPr indent="0" marL="0">
                        <a:buNone/>
                      </a:pPr>
                      <a:r>
                        <a:rPr lang="en-US" sz="1300" dirty="0">
                          <a:solidFill>
                            <a:schemeClr val="tx1"/>
                          </a:solidFill>
                        </a:rPr>
                        <a:t>Workflow build (contractor, 8 weeks)</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32,000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Analytics build</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15,000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Licences and AI credits</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3,000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dirty="0">
                          <a:solidFill>
                            <a:schemeClr val="tx1"/>
                          </a:solidFill>
                        </a:rPr>
                        <a:t>MDM team time (rules, training) ~4 weeks</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dirty="0">
                          <a:solidFill>
                            <a:schemeClr val="tx1"/>
                          </a:solidFill>
                        </a:rPr>
                        <a:t>8,000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r h="457200">
                <a:tc>
                  <a:txBody>
                    <a:bodyPr/>
                    <a:lstStyle/>
                    <a:p>
                      <a:pPr indent="0" marL="0">
                        <a:buNone/>
                      </a:pPr>
                      <a:r>
                        <a:rPr lang="en-US" sz="1300" b="1" dirty="0">
                          <a:solidFill>
                            <a:schemeClr val="tx1"/>
                          </a:solidFill>
                        </a:rPr>
                        <a:t>Total</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c>
                  <a:txBody>
                    <a:bodyPr/>
                    <a:lstStyle/>
                    <a:p>
                      <a:pPr algn="r" indent="0" marL="0">
                        <a:buNone/>
                      </a:pPr>
                      <a:r>
                        <a:rPr lang="en-US" sz="1300" b="1" dirty="0">
                          <a:solidFill>
                            <a:schemeClr val="tx1"/>
                          </a:solidFill>
                        </a:rPr>
                        <a:t>58,000</a:t>
                      </a:r>
                      <a:endParaRPr lang="en-US" sz="1300" dirty="0"/>
                    </a:p>
                  </a:txBody>
                  <a:tcPr marL="91440" marR="91440" marT="45720" marB="45720">
                    <a:lnL w="9525" cap="flat" cmpd="sng" algn="ctr">
                      <a:solidFill>
                        <a:srgbClr val="D5EEE9"/>
                      </a:solidFill>
                      <a:prstDash val="solid"/>
                      <a:round/>
                      <a:headEnd type="none" w="med" len="med"/>
                      <a:tailEnd type="none" w="med" len="med"/>
                    </a:lnL>
                    <a:lnR w="9525" cap="flat" cmpd="sng" algn="ctr">
                      <a:solidFill>
                        <a:srgbClr val="D5EEE9"/>
                      </a:solidFill>
                      <a:prstDash val="solid"/>
                      <a:round/>
                      <a:headEnd type="none" w="med" len="med"/>
                      <a:tailEnd type="none" w="med" len="med"/>
                    </a:lnR>
                    <a:lnT w="9525" cap="flat" cmpd="sng" algn="ctr">
                      <a:solidFill>
                        <a:srgbClr val="D5EEE9"/>
                      </a:solidFill>
                      <a:prstDash val="solid"/>
                      <a:round/>
                      <a:headEnd type="none" w="med" len="med"/>
                      <a:tailEnd type="none" w="med" len="med"/>
                    </a:lnT>
                    <a:lnB w="9525" cap="flat" cmpd="sng" algn="ctr">
                      <a:solidFill>
                        <a:srgbClr val="D5EEE9"/>
                      </a:solidFill>
                      <a:prstDash val="solid"/>
                      <a:round/>
                      <a:headEnd type="none" w="med" len="med"/>
                      <a:tailEnd type="none" w="med" len="med"/>
                    </a:lnB>
                  </a:tcPr>
                </a:tc>
              </a:tr>
            </a:tbl>
          </a:graphicData>
        </a:graphic>
      </p:graphicFrame>
      <p:sp>
        <p:nvSpPr>
          <p:cNvPr id="5" name="Text 1"/>
          <p:cNvSpPr txBox="1"/>
          <p:nvPr/>
        </p:nvSpPr>
        <p:spPr>
          <a:xfrm>
            <a:off x="548640" y="4572000"/>
            <a:ext cx="11091672" cy="731520"/>
          </a:xfrm>
          <a:prstGeom prst="rect">
            <a:avLst/>
          </a:prstGeom>
          <a:noFill/>
          <a:ln/>
        </p:spPr>
        <p:txBody>
          <a:bodyPr wrap="square" lIns="0" tIns="0" rIns="0" bIns="0" rtlCol="0" anchor="t"/>
          <a:lstStyle/>
          <a:p>
            <a:pPr indent="0" marL="0">
              <a:buNone/>
            </a:pPr>
            <a:r>
              <a:rPr lang="en-US" sz="1300" i="1" dirty="0">
                <a:solidFill>
                  <a:schemeClr val="accent5"/>
                </a:solidFill>
              </a:rPr>
              <a:t>Sales benefits are counted at gross margin (30%), not order value. Rates, hours, margin and conversion are placeholders to agree with Lives Group; all adjustable on the app's Business case page.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26</a:t>
            </a:fld>
            <a:endParaRPr lang="en-US"/>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D · End-to-end process</a:t>
            </a:r>
            <a:endParaRPr lang="en-US" sz="3000" dirty="0"/>
          </a:p>
        </p:txBody>
      </p:sp>
      <p:pic>
        <p:nvPicPr>
          <p:cNvPr id="3" name="flow_154" descr="Process flow from request to SAP B1 to regional insight">    </p:cNvPr>
          <p:cNvPicPr>
            <a:picLocks noChangeAspect="1"/>
          </p:cNvPicPr>
          <p:nvPr/>
        </p:nvPicPr>
        <p:blipFill>
          <a:blip r:embed="rId1"/>
          <a:stretch>
            <a:fillRect/>
          </a:stretch>
        </p:blipFill>
        <p:spPr>
          <a:xfrm>
            <a:off x="1280160" y="1234440"/>
            <a:ext cx="9601200" cy="5394960"/>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27</a:t>
            </a:fld>
            <a:endParaRPr lang="en-US"/>
          </a:p>
        </p:txBody>
      </p:sp>
    </p:spTree>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0241280" cy="777240"/>
          </a:xfrm>
          <a:prstGeom prst="rect">
            <a:avLst/>
          </a:prstGeom>
          <a:noFill/>
          <a:ln/>
        </p:spPr>
        <p:txBody>
          <a:bodyPr wrap="square" lIns="0" tIns="0" rIns="0" bIns="0" rtlCol="0" anchor="ctr"/>
          <a:lstStyle/>
          <a:p>
            <a:pPr algn="l" indent="0" marL="0">
              <a:buNone/>
            </a:pPr>
            <a:r>
              <a:rPr lang="en-US" sz="3000" b="1" dirty="0">
                <a:solidFill>
                  <a:schemeClr val="tx2"/>
                </a:solidFill>
              </a:rPr>
              <a:t>Appendix E · Security and audit</a:t>
            </a:r>
            <a:endParaRPr lang="en-US" sz="3000" dirty="0"/>
          </a:p>
        </p:txBody>
      </p:sp>
      <p:sp>
        <p:nvSpPr>
          <p:cNvPr id="3" name="Text 1"/>
          <p:cNvSpPr/>
          <p:nvPr/>
        </p:nvSpPr>
        <p:spPr>
          <a:xfrm>
            <a:off x="548640" y="1371600"/>
            <a:ext cx="5440680" cy="1737360"/>
          </a:xfrm>
          <a:prstGeom prst="roundRect">
            <a:avLst>
              <a:gd name="adj" fmla="val 6316"/>
            </a:avLst>
          </a:prstGeom>
          <a:solidFill>
            <a:srgbClr val="EEF6F4"/>
          </a:solidFill>
          <a:ln/>
        </p:spPr>
        <p:txBody>
          <a:bodyPr wrap="square" lIns="3810" tIns="3810" rIns="3810" bIns="3810" rtlCol="0" anchor="ctr"/>
          <a:lstStyle/>
          <a:p>
            <a:pPr indent="0" marL="0">
              <a:buNone/>
            </a:pPr>
            <a:r>
              <a:rPr lang="en-US" sz="1700" b="1" dirty="0">
                <a:solidFill>
                  <a:schemeClr val="tx2"/>
                </a:solidFill>
              </a:rPr>
              <a:t>Locked bank details</a:t>
            </a:r>
            <a:endParaRPr lang="en-US" sz="1700" dirty="0"/>
          </a:p>
          <a:p>
            <a:pPr indent="0" marL="0">
              <a:buNone/>
            </a:pPr>
            <a:r>
              <a:rPr lang="en-US" sz="1400" dirty="0">
                <a:solidFill>
                  <a:schemeClr val="tx1"/>
                </a:solidFill>
              </a:rPr>
              <a:t>Bank details and credit terms sit in a separate restricted list. Only Finance, MDM and the requestor can see them</a:t>
            </a:r>
            <a:endParaRPr lang="en-US" sz="1700" dirty="0"/>
          </a:p>
        </p:txBody>
      </p:sp>
      <p:sp>
        <p:nvSpPr>
          <p:cNvPr id="4" name="Text 2"/>
          <p:cNvSpPr/>
          <p:nvPr/>
        </p:nvSpPr>
        <p:spPr>
          <a:xfrm>
            <a:off x="6199632" y="1371600"/>
            <a:ext cx="5440680" cy="1737360"/>
          </a:xfrm>
          <a:prstGeom prst="roundRect">
            <a:avLst>
              <a:gd name="adj" fmla="val 6316"/>
            </a:avLst>
          </a:prstGeom>
          <a:solidFill>
            <a:srgbClr val="EEF6F4"/>
          </a:solidFill>
          <a:ln/>
        </p:spPr>
        <p:txBody>
          <a:bodyPr wrap="square" lIns="3810" tIns="3810" rIns="3810" bIns="3810" rtlCol="0" anchor="ctr"/>
          <a:lstStyle/>
          <a:p>
            <a:pPr indent="0" marL="0">
              <a:buNone/>
            </a:pPr>
            <a:r>
              <a:rPr lang="en-US" sz="1700" b="1" dirty="0">
                <a:solidFill>
                  <a:schemeClr val="tx2"/>
                </a:solidFill>
              </a:rPr>
              <a:t>Cards carry a link, not values</a:t>
            </a:r>
            <a:endParaRPr lang="en-US" sz="1700" dirty="0"/>
          </a:p>
          <a:p>
            <a:pPr indent="0" marL="0">
              <a:buNone/>
            </a:pPr>
            <a:r>
              <a:rPr lang="en-US" sz="1400" dirty="0">
                <a:solidFill>
                  <a:schemeClr val="tx1"/>
                </a:solidFill>
              </a:rPr>
              <a:t>Teams approval cards never show bank details, so nothing sensitive sits in a chat or inbox</a:t>
            </a:r>
            <a:endParaRPr lang="en-US" sz="1700" dirty="0"/>
          </a:p>
        </p:txBody>
      </p:sp>
      <p:sp>
        <p:nvSpPr>
          <p:cNvPr id="5" name="Text 3"/>
          <p:cNvSpPr/>
          <p:nvPr/>
        </p:nvSpPr>
        <p:spPr>
          <a:xfrm>
            <a:off x="548640" y="3703320"/>
            <a:ext cx="5440680" cy="1737360"/>
          </a:xfrm>
          <a:prstGeom prst="roundRect">
            <a:avLst>
              <a:gd name="adj" fmla="val 6316"/>
            </a:avLst>
          </a:prstGeom>
          <a:solidFill>
            <a:srgbClr val="EEF6F4"/>
          </a:solidFill>
          <a:ln/>
        </p:spPr>
        <p:txBody>
          <a:bodyPr wrap="square" lIns="3810" tIns="3810" rIns="3810" bIns="3810" rtlCol="0" anchor="ctr"/>
          <a:lstStyle/>
          <a:p>
            <a:pPr indent="0" marL="0">
              <a:buNone/>
            </a:pPr>
            <a:r>
              <a:rPr lang="en-US" sz="1700" b="1" dirty="0">
                <a:solidFill>
                  <a:schemeClr val="tx2"/>
                </a:solidFill>
              </a:rPr>
              <a:t>Every step logged</a:t>
            </a:r>
            <a:endParaRPr lang="en-US" sz="1700" dirty="0"/>
          </a:p>
          <a:p>
            <a:pPr indent="0" marL="0">
              <a:buNone/>
            </a:pPr>
            <a:r>
              <a:rPr lang="en-US" sz="1400" dirty="0">
                <a:solidFill>
                  <a:schemeClr val="tx1"/>
                </a:solidFill>
              </a:rPr>
              <a:t>ApprovalLog records who approved what and when, from submission to SAP. Rows are only ever added</a:t>
            </a:r>
            <a:endParaRPr lang="en-US" sz="1700" dirty="0"/>
          </a:p>
        </p:txBody>
      </p:sp>
      <p:sp>
        <p:nvSpPr>
          <p:cNvPr id="6" name="Text 4"/>
          <p:cNvSpPr/>
          <p:nvPr/>
        </p:nvSpPr>
        <p:spPr>
          <a:xfrm>
            <a:off x="6199632" y="3703320"/>
            <a:ext cx="5440680" cy="1737360"/>
          </a:xfrm>
          <a:prstGeom prst="roundRect">
            <a:avLst>
              <a:gd name="adj" fmla="val 6316"/>
            </a:avLst>
          </a:prstGeom>
          <a:solidFill>
            <a:srgbClr val="EEF6F4"/>
          </a:solidFill>
          <a:ln/>
        </p:spPr>
        <p:txBody>
          <a:bodyPr wrap="square" lIns="3810" tIns="3810" rIns="3810" bIns="3810" rtlCol="0" anchor="ctr"/>
          <a:lstStyle/>
          <a:p>
            <a:pPr indent="0" marL="0">
              <a:buNone/>
            </a:pPr>
            <a:r>
              <a:rPr lang="en-US" sz="1700" b="1" dirty="0">
                <a:solidFill>
                  <a:schemeClr val="tx2"/>
                </a:solidFill>
              </a:rPr>
              <a:t>Restricted SAP files</a:t>
            </a:r>
            <a:endParaRPr lang="en-US" sz="1700" dirty="0"/>
          </a:p>
          <a:p>
            <a:pPr indent="0" marL="0">
              <a:buNone/>
            </a:pPr>
            <a:r>
              <a:rPr lang="en-US" sz="1400" dirty="0">
                <a:solidFill>
                  <a:schemeClr val="tx1"/>
                </a:solidFill>
              </a:rPr>
              <a:t>Import files are written to a restricted folder that only MDM can open</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28</a:t>
            </a:fld>
            <a:endParaRPr lang="en-US"/>
          </a:p>
        </p:txBody>
      </p:sp>
    </p:spTree>
  </p:cSld>
  <p:clrMapOvr>
    <a:masterClrMapping/>
  </p:clrMapOvr>
  <p:transition spd="med">
    <p:fade/>
  </p:transition>
</p:sld>
</file>

<file path=ppt/theme/theme1.xml><?xml version="1.0" encoding="utf-8"?>
<a:theme xmlns:a="http://schemas.openxmlformats.org/drawingml/2006/main" name="OneRecord">
  <a:themeElements>
    <a:clrScheme name="OneRecord">
      <a:dk1>
        <a:srgbClr val="1E293B"/>
      </a:dk1>
      <a:lt1>
        <a:srgbClr val="FFFFFF"/>
      </a:lt1>
      <a:dk2>
        <a:srgbClr val="0C2F3B"/>
      </a:dk2>
      <a:lt2>
        <a:srgbClr val="EEF6F4"/>
      </a:lt2>
      <a:accent1>
        <a:srgbClr val="0F766E"/>
      </a:accent1>
      <a:accent2>
        <a:srgbClr val="8ACFC4"/>
      </a:accent2>
      <a:accent3>
        <a:srgbClr val="E4572E"/>
      </a:accent3>
      <a:accent4>
        <a:srgbClr val="F2A93B"/>
      </a:accent4>
      <a:accent5>
        <a:srgbClr val="64748B"/>
      </a:accent5>
      <a:accent6>
        <a:srgbClr val="D5EEE9"/>
      </a:accent6>
      <a:hlink>
        <a:srgbClr val="0F766E"/>
      </a:hlink>
      <a:folHlink>
        <a:srgbClr val="0C2F3B"/>
      </a:folHlink>
    </a:clrScheme>
    <a:fontScheme name="OneRecord">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28</Slides>
  <Notes>28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28</vt:i4>
      </vt:variant>
    </vt:vector>
  </HeadingPairs>
  <TitlesOfParts>
    <vt:vector size="3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OneRecord: Modernising MDM at Lives Group</dc:title>
  <dc:subject>PptxGenJS Presentation</dc:subject>
  <dc:creator>Megan, Zacchaeus, Darryl, Chloe</dc:creator>
  <cp:lastModifiedBy>Megan, Zacchaeus, Darryl, Chloe</cp:lastModifiedBy>
  <cp:revision>1</cp:revision>
  <dcterms:created xsi:type="dcterms:W3CDTF">2026-10-29T07:52:16Z</dcterms:created>
  <dcterms:modified xsi:type="dcterms:W3CDTF">2026-10-29T07:52:16Z</dcterms:modified>
</cp:coreProperties>
</file>